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Times New Roman Bold" charset="1" panose="02020803070505020304"/>
      <p:regular r:id="rId12"/>
    </p:embeddedFont>
    <p:embeddedFont>
      <p:font typeface="Garamond Bold" charset="1" panose="02020804030307010803"/>
      <p:regular r:id="rId13"/>
    </p:embeddedFont>
    <p:embeddedFont>
      <p:font typeface="Arial Bold" charset="1" panose="020B0704020202020204"/>
      <p:regular r:id="rId14"/>
    </p:embeddedFont>
    <p:embeddedFont>
      <p:font typeface="Aptos Bold" charset="1" panose="020B0004020202020204"/>
      <p:regular r:id="rId15"/>
    </p:embeddedFont>
    <p:embeddedFont>
      <p:font typeface="Aptos" charset="1" panose="020B0004020202020204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485222" y="1277283"/>
            <a:ext cx="6953021" cy="7734300"/>
            <a:chOff x="0" y="0"/>
            <a:chExt cx="6953021" cy="77343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-63" y="0"/>
              <a:ext cx="6952961" cy="7734301"/>
            </a:xfrm>
            <a:custGeom>
              <a:avLst/>
              <a:gdLst/>
              <a:ahLst/>
              <a:cxnLst/>
              <a:rect r="r" b="b" t="t" l="l"/>
              <a:pathLst>
                <a:path h="7734301" w="6952961">
                  <a:moveTo>
                    <a:pt x="408368" y="4688967"/>
                  </a:moveTo>
                  <a:cubicBezTo>
                    <a:pt x="408368" y="4688967"/>
                    <a:pt x="408368" y="4688967"/>
                    <a:pt x="1009967" y="4688967"/>
                  </a:cubicBezTo>
                  <a:cubicBezTo>
                    <a:pt x="1047685" y="4688967"/>
                    <a:pt x="1084007" y="4716653"/>
                    <a:pt x="1102169" y="4761611"/>
                  </a:cubicBezTo>
                  <a:cubicBezTo>
                    <a:pt x="1102169" y="4761611"/>
                    <a:pt x="1102169" y="4761611"/>
                    <a:pt x="1403666" y="5454396"/>
                  </a:cubicBezTo>
                  <a:cubicBezTo>
                    <a:pt x="1423224" y="5497576"/>
                    <a:pt x="1423224" y="5552948"/>
                    <a:pt x="1403666" y="5596128"/>
                  </a:cubicBezTo>
                  <a:cubicBezTo>
                    <a:pt x="1403666" y="5596128"/>
                    <a:pt x="1403666" y="5596128"/>
                    <a:pt x="1102169" y="6288913"/>
                  </a:cubicBezTo>
                  <a:cubicBezTo>
                    <a:pt x="1084007" y="6333744"/>
                    <a:pt x="1047685" y="6361557"/>
                    <a:pt x="1009967" y="6361557"/>
                  </a:cubicBezTo>
                  <a:cubicBezTo>
                    <a:pt x="1009967" y="6361557"/>
                    <a:pt x="1009967" y="6361557"/>
                    <a:pt x="408368" y="6361557"/>
                  </a:cubicBezTo>
                  <a:cubicBezTo>
                    <a:pt x="369379" y="6361557"/>
                    <a:pt x="334327" y="6333871"/>
                    <a:pt x="314769" y="6288913"/>
                  </a:cubicBezTo>
                  <a:cubicBezTo>
                    <a:pt x="314769" y="6288913"/>
                    <a:pt x="314769" y="6288913"/>
                    <a:pt x="14668" y="5596128"/>
                  </a:cubicBezTo>
                  <a:cubicBezTo>
                    <a:pt x="-4890" y="5552948"/>
                    <a:pt x="-4890" y="5497576"/>
                    <a:pt x="14668" y="5454396"/>
                  </a:cubicBezTo>
                  <a:cubicBezTo>
                    <a:pt x="14668" y="5454396"/>
                    <a:pt x="14668" y="5454396"/>
                    <a:pt x="314769" y="4761611"/>
                  </a:cubicBezTo>
                  <a:cubicBezTo>
                    <a:pt x="334327" y="4716780"/>
                    <a:pt x="369252" y="4688967"/>
                    <a:pt x="408368" y="4688967"/>
                  </a:cubicBezTo>
                  <a:close/>
                  <a:moveTo>
                    <a:pt x="2799015" y="855218"/>
                  </a:moveTo>
                  <a:cubicBezTo>
                    <a:pt x="2799015" y="855218"/>
                    <a:pt x="2799015" y="855218"/>
                    <a:pt x="3108387" y="855218"/>
                  </a:cubicBezTo>
                  <a:lnTo>
                    <a:pt x="3144455" y="855218"/>
                  </a:lnTo>
                  <a:lnTo>
                    <a:pt x="3178872" y="934339"/>
                  </a:lnTo>
                  <a:cubicBezTo>
                    <a:pt x="3226878" y="1044575"/>
                    <a:pt x="3282630" y="1172718"/>
                    <a:pt x="3347527" y="1321943"/>
                  </a:cubicBezTo>
                  <a:cubicBezTo>
                    <a:pt x="3377372" y="1388110"/>
                    <a:pt x="3377372" y="1472819"/>
                    <a:pt x="3347527" y="1538859"/>
                  </a:cubicBezTo>
                  <a:cubicBezTo>
                    <a:pt x="3347527" y="1538859"/>
                    <a:pt x="3347527" y="1538859"/>
                    <a:pt x="2885883" y="2599817"/>
                  </a:cubicBezTo>
                  <a:cubicBezTo>
                    <a:pt x="2857943" y="2668651"/>
                    <a:pt x="2802317" y="2710942"/>
                    <a:pt x="2744659" y="2710942"/>
                  </a:cubicBezTo>
                  <a:cubicBezTo>
                    <a:pt x="2744659" y="2710942"/>
                    <a:pt x="2744659" y="2710942"/>
                    <a:pt x="1823401" y="2710942"/>
                  </a:cubicBezTo>
                  <a:cubicBezTo>
                    <a:pt x="1808415" y="2710942"/>
                    <a:pt x="1793937" y="2708275"/>
                    <a:pt x="1779967" y="2703195"/>
                  </a:cubicBezTo>
                  <a:lnTo>
                    <a:pt x="1750122" y="2686558"/>
                  </a:lnTo>
                  <a:lnTo>
                    <a:pt x="1768410" y="2644394"/>
                  </a:lnTo>
                  <a:cubicBezTo>
                    <a:pt x="1933256" y="2263902"/>
                    <a:pt x="2144203" y="1776984"/>
                    <a:pt x="2414332" y="1153541"/>
                  </a:cubicBezTo>
                  <a:cubicBezTo>
                    <a:pt x="2494469" y="968756"/>
                    <a:pt x="2638741" y="855091"/>
                    <a:pt x="2799142" y="855091"/>
                  </a:cubicBezTo>
                  <a:lnTo>
                    <a:pt x="2799015" y="855091"/>
                  </a:lnTo>
                  <a:close/>
                  <a:moveTo>
                    <a:pt x="1768791" y="0"/>
                  </a:moveTo>
                  <a:cubicBezTo>
                    <a:pt x="1768791" y="0"/>
                    <a:pt x="1768791" y="0"/>
                    <a:pt x="2808032" y="0"/>
                  </a:cubicBezTo>
                  <a:cubicBezTo>
                    <a:pt x="2873183" y="0"/>
                    <a:pt x="2935921" y="47752"/>
                    <a:pt x="2967417" y="125349"/>
                  </a:cubicBezTo>
                  <a:cubicBezTo>
                    <a:pt x="2967417" y="125349"/>
                    <a:pt x="2967417" y="125349"/>
                    <a:pt x="3246690" y="767334"/>
                  </a:cubicBezTo>
                  <a:lnTo>
                    <a:pt x="3278185" y="839851"/>
                  </a:lnTo>
                  <a:lnTo>
                    <a:pt x="3253293" y="839851"/>
                  </a:lnTo>
                  <a:lnTo>
                    <a:pt x="3135946" y="839851"/>
                  </a:lnTo>
                  <a:lnTo>
                    <a:pt x="3084892" y="722630"/>
                  </a:lnTo>
                  <a:cubicBezTo>
                    <a:pt x="2890201" y="275082"/>
                    <a:pt x="2890201" y="275082"/>
                    <a:pt x="2890201" y="275082"/>
                  </a:cubicBezTo>
                  <a:cubicBezTo>
                    <a:pt x="2862261" y="206248"/>
                    <a:pt x="2806635" y="163957"/>
                    <a:pt x="2748977" y="163957"/>
                  </a:cubicBezTo>
                  <a:cubicBezTo>
                    <a:pt x="1827719" y="163957"/>
                    <a:pt x="1827719" y="163957"/>
                    <a:pt x="1827719" y="163957"/>
                  </a:cubicBezTo>
                  <a:cubicBezTo>
                    <a:pt x="1768029" y="163957"/>
                    <a:pt x="1714308" y="206248"/>
                    <a:pt x="1684463" y="275082"/>
                  </a:cubicBezTo>
                  <a:cubicBezTo>
                    <a:pt x="1224723" y="1336040"/>
                    <a:pt x="1224723" y="1336040"/>
                    <a:pt x="1224723" y="1336040"/>
                  </a:cubicBezTo>
                  <a:cubicBezTo>
                    <a:pt x="1194879" y="1402207"/>
                    <a:pt x="1194879" y="1486916"/>
                    <a:pt x="1224723" y="1552956"/>
                  </a:cubicBezTo>
                  <a:cubicBezTo>
                    <a:pt x="1684336" y="2613914"/>
                    <a:pt x="1684336" y="2613914"/>
                    <a:pt x="1684336" y="2613914"/>
                  </a:cubicBezTo>
                  <a:cubicBezTo>
                    <a:pt x="1699322" y="2648331"/>
                    <a:pt x="1720150" y="2676144"/>
                    <a:pt x="1744788" y="2695321"/>
                  </a:cubicBezTo>
                  <a:lnTo>
                    <a:pt x="1751773" y="2699258"/>
                  </a:lnTo>
                  <a:lnTo>
                    <a:pt x="1714308" y="2785745"/>
                  </a:lnTo>
                  <a:lnTo>
                    <a:pt x="1686368" y="2850134"/>
                  </a:lnTo>
                  <a:lnTo>
                    <a:pt x="1715324" y="2866390"/>
                  </a:lnTo>
                  <a:cubicBezTo>
                    <a:pt x="1731072" y="2872105"/>
                    <a:pt x="1747455" y="2875026"/>
                    <a:pt x="1764219" y="2875026"/>
                  </a:cubicBezTo>
                  <a:cubicBezTo>
                    <a:pt x="2803460" y="2875026"/>
                    <a:pt x="2803460" y="2875026"/>
                    <a:pt x="2803460" y="2875026"/>
                  </a:cubicBezTo>
                  <a:cubicBezTo>
                    <a:pt x="2868611" y="2875026"/>
                    <a:pt x="2931349" y="2827274"/>
                    <a:pt x="2962845" y="2749677"/>
                  </a:cubicBezTo>
                  <a:cubicBezTo>
                    <a:pt x="3483545" y="1552956"/>
                    <a:pt x="3483545" y="1552956"/>
                    <a:pt x="3483545" y="1552956"/>
                  </a:cubicBezTo>
                  <a:cubicBezTo>
                    <a:pt x="3517199" y="1478407"/>
                    <a:pt x="3517199" y="1382776"/>
                    <a:pt x="3483545" y="1308227"/>
                  </a:cubicBezTo>
                  <a:cubicBezTo>
                    <a:pt x="3418393" y="1158621"/>
                    <a:pt x="3361497" y="1027684"/>
                    <a:pt x="3311586" y="913257"/>
                  </a:cubicBezTo>
                  <a:lnTo>
                    <a:pt x="3286440" y="855472"/>
                  </a:lnTo>
                  <a:lnTo>
                    <a:pt x="3403027" y="855472"/>
                  </a:lnTo>
                  <a:cubicBezTo>
                    <a:pt x="3765484" y="855472"/>
                    <a:pt x="4345493" y="855472"/>
                    <a:pt x="5273355" y="855472"/>
                  </a:cubicBezTo>
                  <a:cubicBezTo>
                    <a:pt x="5428295" y="855472"/>
                    <a:pt x="5578028" y="969137"/>
                    <a:pt x="5652831" y="1153922"/>
                  </a:cubicBezTo>
                  <a:cubicBezTo>
                    <a:pt x="5652831" y="1153922"/>
                    <a:pt x="5652831" y="1153922"/>
                    <a:pt x="6892858" y="4003548"/>
                  </a:cubicBezTo>
                  <a:cubicBezTo>
                    <a:pt x="6972995" y="4181222"/>
                    <a:pt x="6972995" y="4408678"/>
                    <a:pt x="6892858" y="4586224"/>
                  </a:cubicBezTo>
                  <a:cubicBezTo>
                    <a:pt x="6892858" y="4586224"/>
                    <a:pt x="6892858" y="4586224"/>
                    <a:pt x="5652831" y="7435851"/>
                  </a:cubicBezTo>
                  <a:cubicBezTo>
                    <a:pt x="5578028" y="7620636"/>
                    <a:pt x="5428422" y="7734301"/>
                    <a:pt x="5273355" y="7734301"/>
                  </a:cubicBezTo>
                  <a:cubicBezTo>
                    <a:pt x="5273355" y="7734301"/>
                    <a:pt x="5273355" y="7734301"/>
                    <a:pt x="2798761" y="7734301"/>
                  </a:cubicBezTo>
                  <a:cubicBezTo>
                    <a:pt x="2638360" y="7734301"/>
                    <a:pt x="2494088" y="7620636"/>
                    <a:pt x="2413951" y="7435851"/>
                  </a:cubicBezTo>
                  <a:cubicBezTo>
                    <a:pt x="2413951" y="7435851"/>
                    <a:pt x="2413951" y="7435851"/>
                    <a:pt x="1179257" y="4586224"/>
                  </a:cubicBezTo>
                  <a:cubicBezTo>
                    <a:pt x="1099121" y="4408551"/>
                    <a:pt x="1099121" y="4181094"/>
                    <a:pt x="1179257" y="4003548"/>
                  </a:cubicBezTo>
                  <a:cubicBezTo>
                    <a:pt x="1179257" y="4003548"/>
                    <a:pt x="1179257" y="4003548"/>
                    <a:pt x="1637727" y="2945511"/>
                  </a:cubicBezTo>
                  <a:lnTo>
                    <a:pt x="1676462" y="2856230"/>
                  </a:lnTo>
                  <a:lnTo>
                    <a:pt x="1675192" y="2855468"/>
                  </a:lnTo>
                  <a:cubicBezTo>
                    <a:pt x="1647379" y="2833878"/>
                    <a:pt x="1623884" y="2802509"/>
                    <a:pt x="1606993" y="2763774"/>
                  </a:cubicBezTo>
                  <a:cubicBezTo>
                    <a:pt x="1606993" y="2763774"/>
                    <a:pt x="1606993" y="2763774"/>
                    <a:pt x="1088580" y="1567053"/>
                  </a:cubicBezTo>
                  <a:cubicBezTo>
                    <a:pt x="1054924" y="1492504"/>
                    <a:pt x="1054924" y="1396873"/>
                    <a:pt x="1088580" y="1322324"/>
                  </a:cubicBezTo>
                  <a:cubicBezTo>
                    <a:pt x="1088580" y="1322324"/>
                    <a:pt x="1088580" y="1322324"/>
                    <a:pt x="1606993" y="125603"/>
                  </a:cubicBezTo>
                  <a:cubicBezTo>
                    <a:pt x="1640902" y="47752"/>
                    <a:pt x="1701354" y="0"/>
                    <a:pt x="1768791" y="0"/>
                  </a:cubicBezTo>
                  <a:close/>
                </a:path>
              </a:pathLst>
            </a:custGeom>
            <a:solidFill>
              <a:srgbClr val="808080">
                <a:alpha val="1961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82333" y="2573817"/>
            <a:ext cx="4805267" cy="5138309"/>
            <a:chOff x="0" y="0"/>
            <a:chExt cx="6407023" cy="685107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407023" cy="6851015"/>
            </a:xfrm>
            <a:custGeom>
              <a:avLst/>
              <a:gdLst/>
              <a:ahLst/>
              <a:cxnLst/>
              <a:rect r="r" b="b" t="t" l="l"/>
              <a:pathLst>
                <a:path h="6851015" w="6407023">
                  <a:moveTo>
                    <a:pt x="0" y="0"/>
                  </a:moveTo>
                  <a:lnTo>
                    <a:pt x="6407023" y="0"/>
                  </a:lnTo>
                  <a:lnTo>
                    <a:pt x="6407023" y="6851015"/>
                  </a:lnTo>
                  <a:lnTo>
                    <a:pt x="0" y="68510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149505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314325" y="2731980"/>
            <a:ext cx="133350" cy="133350"/>
            <a:chOff x="0" y="0"/>
            <a:chExt cx="133350" cy="1333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3350" cy="133350"/>
            </a:xfrm>
            <a:custGeom>
              <a:avLst/>
              <a:gdLst/>
              <a:ahLst/>
              <a:cxnLst/>
              <a:rect r="r" b="b" t="t" l="l"/>
              <a:pathLst>
                <a:path h="133350" w="133350">
                  <a:moveTo>
                    <a:pt x="133350" y="66675"/>
                  </a:moveTo>
                  <a:cubicBezTo>
                    <a:pt x="133350" y="70993"/>
                    <a:pt x="132969" y="75438"/>
                    <a:pt x="132080" y="79629"/>
                  </a:cubicBezTo>
                  <a:cubicBezTo>
                    <a:pt x="131191" y="83820"/>
                    <a:pt x="129921" y="88138"/>
                    <a:pt x="128270" y="92075"/>
                  </a:cubicBezTo>
                  <a:cubicBezTo>
                    <a:pt x="126619" y="96012"/>
                    <a:pt x="124587" y="99949"/>
                    <a:pt x="122047" y="103632"/>
                  </a:cubicBezTo>
                  <a:cubicBezTo>
                    <a:pt x="119507" y="107315"/>
                    <a:pt x="116840" y="110617"/>
                    <a:pt x="113792" y="113792"/>
                  </a:cubicBezTo>
                  <a:cubicBezTo>
                    <a:pt x="110744" y="116967"/>
                    <a:pt x="107315" y="119634"/>
                    <a:pt x="103632" y="122047"/>
                  </a:cubicBezTo>
                  <a:cubicBezTo>
                    <a:pt x="99949" y="124460"/>
                    <a:pt x="96139" y="126492"/>
                    <a:pt x="92075" y="128270"/>
                  </a:cubicBezTo>
                  <a:cubicBezTo>
                    <a:pt x="88011" y="130048"/>
                    <a:pt x="83820" y="131191"/>
                    <a:pt x="79629" y="132080"/>
                  </a:cubicBezTo>
                  <a:cubicBezTo>
                    <a:pt x="75438" y="132969"/>
                    <a:pt x="70993" y="133350"/>
                    <a:pt x="66675" y="133350"/>
                  </a:cubicBezTo>
                  <a:cubicBezTo>
                    <a:pt x="62357" y="133350"/>
                    <a:pt x="57912" y="132969"/>
                    <a:pt x="53721" y="132080"/>
                  </a:cubicBezTo>
                  <a:cubicBezTo>
                    <a:pt x="49530" y="131191"/>
                    <a:pt x="45212" y="129921"/>
                    <a:pt x="41275" y="128270"/>
                  </a:cubicBezTo>
                  <a:cubicBezTo>
                    <a:pt x="37338" y="126619"/>
                    <a:pt x="33401" y="124587"/>
                    <a:pt x="29718" y="122047"/>
                  </a:cubicBezTo>
                  <a:cubicBezTo>
                    <a:pt x="26035" y="119507"/>
                    <a:pt x="22733" y="116840"/>
                    <a:pt x="19558" y="113792"/>
                  </a:cubicBezTo>
                  <a:cubicBezTo>
                    <a:pt x="16383" y="110744"/>
                    <a:pt x="13716" y="107315"/>
                    <a:pt x="11303" y="103632"/>
                  </a:cubicBezTo>
                  <a:cubicBezTo>
                    <a:pt x="8890" y="99949"/>
                    <a:pt x="6731" y="96266"/>
                    <a:pt x="5080" y="92202"/>
                  </a:cubicBezTo>
                  <a:cubicBezTo>
                    <a:pt x="3429" y="88138"/>
                    <a:pt x="2159" y="83947"/>
                    <a:pt x="1270" y="79629"/>
                  </a:cubicBezTo>
                  <a:cubicBezTo>
                    <a:pt x="381" y="75311"/>
                    <a:pt x="0" y="70993"/>
                    <a:pt x="0" y="66675"/>
                  </a:cubicBezTo>
                  <a:cubicBezTo>
                    <a:pt x="0" y="62357"/>
                    <a:pt x="381" y="57912"/>
                    <a:pt x="1270" y="53721"/>
                  </a:cubicBezTo>
                  <a:cubicBezTo>
                    <a:pt x="2159" y="49530"/>
                    <a:pt x="3429" y="45212"/>
                    <a:pt x="5080" y="41275"/>
                  </a:cubicBezTo>
                  <a:cubicBezTo>
                    <a:pt x="6731" y="37338"/>
                    <a:pt x="8763" y="33401"/>
                    <a:pt x="11303" y="29718"/>
                  </a:cubicBezTo>
                  <a:cubicBezTo>
                    <a:pt x="13843" y="26035"/>
                    <a:pt x="16510" y="22733"/>
                    <a:pt x="19558" y="19558"/>
                  </a:cubicBezTo>
                  <a:cubicBezTo>
                    <a:pt x="22606" y="16383"/>
                    <a:pt x="26035" y="13716"/>
                    <a:pt x="29718" y="11303"/>
                  </a:cubicBezTo>
                  <a:cubicBezTo>
                    <a:pt x="33401" y="8890"/>
                    <a:pt x="37211" y="6858"/>
                    <a:pt x="41275" y="5080"/>
                  </a:cubicBezTo>
                  <a:cubicBezTo>
                    <a:pt x="45339" y="3302"/>
                    <a:pt x="49530" y="2159"/>
                    <a:pt x="53721" y="1270"/>
                  </a:cubicBezTo>
                  <a:cubicBezTo>
                    <a:pt x="57912" y="381"/>
                    <a:pt x="62357" y="0"/>
                    <a:pt x="66675" y="0"/>
                  </a:cubicBezTo>
                  <a:cubicBezTo>
                    <a:pt x="70993" y="0"/>
                    <a:pt x="75438" y="381"/>
                    <a:pt x="79629" y="1270"/>
                  </a:cubicBezTo>
                  <a:cubicBezTo>
                    <a:pt x="83820" y="2159"/>
                    <a:pt x="88138" y="3429"/>
                    <a:pt x="92075" y="5080"/>
                  </a:cubicBezTo>
                  <a:cubicBezTo>
                    <a:pt x="96012" y="6731"/>
                    <a:pt x="99949" y="8763"/>
                    <a:pt x="103632" y="11303"/>
                  </a:cubicBezTo>
                  <a:cubicBezTo>
                    <a:pt x="107315" y="13843"/>
                    <a:pt x="110617" y="16510"/>
                    <a:pt x="113792" y="19558"/>
                  </a:cubicBezTo>
                  <a:cubicBezTo>
                    <a:pt x="116967" y="22606"/>
                    <a:pt x="119634" y="26035"/>
                    <a:pt x="122047" y="29718"/>
                  </a:cubicBezTo>
                  <a:cubicBezTo>
                    <a:pt x="124460" y="33401"/>
                    <a:pt x="126492" y="37211"/>
                    <a:pt x="128270" y="41275"/>
                  </a:cubicBezTo>
                  <a:cubicBezTo>
                    <a:pt x="130048" y="45339"/>
                    <a:pt x="131191" y="49530"/>
                    <a:pt x="132080" y="53721"/>
                  </a:cubicBezTo>
                  <a:cubicBezTo>
                    <a:pt x="132969" y="57912"/>
                    <a:pt x="133350" y="62357"/>
                    <a:pt x="133350" y="6667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314325" y="3827355"/>
            <a:ext cx="133350" cy="133350"/>
            <a:chOff x="0" y="0"/>
            <a:chExt cx="133350" cy="1333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3350" cy="133350"/>
            </a:xfrm>
            <a:custGeom>
              <a:avLst/>
              <a:gdLst/>
              <a:ahLst/>
              <a:cxnLst/>
              <a:rect r="r" b="b" t="t" l="l"/>
              <a:pathLst>
                <a:path h="133350" w="133350">
                  <a:moveTo>
                    <a:pt x="133350" y="66675"/>
                  </a:moveTo>
                  <a:cubicBezTo>
                    <a:pt x="133350" y="70993"/>
                    <a:pt x="132969" y="75438"/>
                    <a:pt x="132080" y="79629"/>
                  </a:cubicBezTo>
                  <a:cubicBezTo>
                    <a:pt x="131191" y="83820"/>
                    <a:pt x="129921" y="88138"/>
                    <a:pt x="128270" y="92075"/>
                  </a:cubicBezTo>
                  <a:cubicBezTo>
                    <a:pt x="126619" y="96012"/>
                    <a:pt x="124587" y="99949"/>
                    <a:pt x="122047" y="103632"/>
                  </a:cubicBezTo>
                  <a:cubicBezTo>
                    <a:pt x="119507" y="107315"/>
                    <a:pt x="116840" y="110617"/>
                    <a:pt x="113792" y="113792"/>
                  </a:cubicBezTo>
                  <a:cubicBezTo>
                    <a:pt x="110744" y="116967"/>
                    <a:pt x="107315" y="119634"/>
                    <a:pt x="103632" y="122047"/>
                  </a:cubicBezTo>
                  <a:cubicBezTo>
                    <a:pt x="99949" y="124460"/>
                    <a:pt x="96139" y="126492"/>
                    <a:pt x="92075" y="128270"/>
                  </a:cubicBezTo>
                  <a:cubicBezTo>
                    <a:pt x="88011" y="130048"/>
                    <a:pt x="83820" y="131191"/>
                    <a:pt x="79629" y="132080"/>
                  </a:cubicBezTo>
                  <a:cubicBezTo>
                    <a:pt x="75438" y="132969"/>
                    <a:pt x="70993" y="133350"/>
                    <a:pt x="66675" y="133350"/>
                  </a:cubicBezTo>
                  <a:cubicBezTo>
                    <a:pt x="62357" y="133350"/>
                    <a:pt x="57912" y="132969"/>
                    <a:pt x="53721" y="132080"/>
                  </a:cubicBezTo>
                  <a:cubicBezTo>
                    <a:pt x="49530" y="131191"/>
                    <a:pt x="45212" y="129921"/>
                    <a:pt x="41275" y="128270"/>
                  </a:cubicBezTo>
                  <a:cubicBezTo>
                    <a:pt x="37338" y="126619"/>
                    <a:pt x="33401" y="124587"/>
                    <a:pt x="29718" y="122047"/>
                  </a:cubicBezTo>
                  <a:cubicBezTo>
                    <a:pt x="26035" y="119507"/>
                    <a:pt x="22733" y="116840"/>
                    <a:pt x="19558" y="113792"/>
                  </a:cubicBezTo>
                  <a:cubicBezTo>
                    <a:pt x="16383" y="110744"/>
                    <a:pt x="13716" y="107315"/>
                    <a:pt x="11303" y="103632"/>
                  </a:cubicBezTo>
                  <a:cubicBezTo>
                    <a:pt x="8890" y="99949"/>
                    <a:pt x="6731" y="96266"/>
                    <a:pt x="5080" y="92202"/>
                  </a:cubicBezTo>
                  <a:cubicBezTo>
                    <a:pt x="3429" y="88138"/>
                    <a:pt x="2159" y="83947"/>
                    <a:pt x="1270" y="79629"/>
                  </a:cubicBezTo>
                  <a:cubicBezTo>
                    <a:pt x="381" y="75311"/>
                    <a:pt x="0" y="70993"/>
                    <a:pt x="0" y="66675"/>
                  </a:cubicBezTo>
                  <a:cubicBezTo>
                    <a:pt x="0" y="62357"/>
                    <a:pt x="381" y="57912"/>
                    <a:pt x="1270" y="53721"/>
                  </a:cubicBezTo>
                  <a:cubicBezTo>
                    <a:pt x="2159" y="49530"/>
                    <a:pt x="3429" y="45212"/>
                    <a:pt x="5080" y="41275"/>
                  </a:cubicBezTo>
                  <a:cubicBezTo>
                    <a:pt x="6731" y="37338"/>
                    <a:pt x="8763" y="33401"/>
                    <a:pt x="11303" y="29718"/>
                  </a:cubicBezTo>
                  <a:cubicBezTo>
                    <a:pt x="13843" y="26035"/>
                    <a:pt x="16510" y="22733"/>
                    <a:pt x="19558" y="19558"/>
                  </a:cubicBezTo>
                  <a:cubicBezTo>
                    <a:pt x="22606" y="16383"/>
                    <a:pt x="26035" y="13716"/>
                    <a:pt x="29718" y="11303"/>
                  </a:cubicBezTo>
                  <a:cubicBezTo>
                    <a:pt x="33401" y="8890"/>
                    <a:pt x="37211" y="6858"/>
                    <a:pt x="41275" y="5080"/>
                  </a:cubicBezTo>
                  <a:cubicBezTo>
                    <a:pt x="45339" y="3302"/>
                    <a:pt x="49530" y="2159"/>
                    <a:pt x="53721" y="1270"/>
                  </a:cubicBezTo>
                  <a:cubicBezTo>
                    <a:pt x="57912" y="381"/>
                    <a:pt x="62357" y="0"/>
                    <a:pt x="66675" y="0"/>
                  </a:cubicBezTo>
                  <a:cubicBezTo>
                    <a:pt x="70993" y="0"/>
                    <a:pt x="75438" y="381"/>
                    <a:pt x="79629" y="1270"/>
                  </a:cubicBezTo>
                  <a:cubicBezTo>
                    <a:pt x="83820" y="2159"/>
                    <a:pt x="88138" y="3429"/>
                    <a:pt x="92075" y="5080"/>
                  </a:cubicBezTo>
                  <a:cubicBezTo>
                    <a:pt x="96012" y="6731"/>
                    <a:pt x="99949" y="8763"/>
                    <a:pt x="103632" y="11303"/>
                  </a:cubicBezTo>
                  <a:cubicBezTo>
                    <a:pt x="107315" y="13843"/>
                    <a:pt x="110617" y="16510"/>
                    <a:pt x="113792" y="19558"/>
                  </a:cubicBezTo>
                  <a:cubicBezTo>
                    <a:pt x="116967" y="22606"/>
                    <a:pt x="119634" y="26035"/>
                    <a:pt x="122047" y="29718"/>
                  </a:cubicBezTo>
                  <a:cubicBezTo>
                    <a:pt x="124460" y="33401"/>
                    <a:pt x="126492" y="37211"/>
                    <a:pt x="128270" y="41275"/>
                  </a:cubicBezTo>
                  <a:cubicBezTo>
                    <a:pt x="130048" y="45339"/>
                    <a:pt x="131191" y="49530"/>
                    <a:pt x="132080" y="53721"/>
                  </a:cubicBezTo>
                  <a:cubicBezTo>
                    <a:pt x="132969" y="57912"/>
                    <a:pt x="133350" y="62357"/>
                    <a:pt x="133350" y="6667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14325" y="6018105"/>
            <a:ext cx="133350" cy="133350"/>
            <a:chOff x="0" y="0"/>
            <a:chExt cx="133350" cy="1333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3350" cy="133350"/>
            </a:xfrm>
            <a:custGeom>
              <a:avLst/>
              <a:gdLst/>
              <a:ahLst/>
              <a:cxnLst/>
              <a:rect r="r" b="b" t="t" l="l"/>
              <a:pathLst>
                <a:path h="133350" w="133350">
                  <a:moveTo>
                    <a:pt x="133350" y="66675"/>
                  </a:moveTo>
                  <a:cubicBezTo>
                    <a:pt x="133350" y="70993"/>
                    <a:pt x="132969" y="75438"/>
                    <a:pt x="132080" y="79629"/>
                  </a:cubicBezTo>
                  <a:cubicBezTo>
                    <a:pt x="131191" y="83820"/>
                    <a:pt x="129921" y="88138"/>
                    <a:pt x="128270" y="92075"/>
                  </a:cubicBezTo>
                  <a:cubicBezTo>
                    <a:pt x="126619" y="96012"/>
                    <a:pt x="124587" y="99949"/>
                    <a:pt x="122047" y="103632"/>
                  </a:cubicBezTo>
                  <a:cubicBezTo>
                    <a:pt x="119507" y="107315"/>
                    <a:pt x="116840" y="110617"/>
                    <a:pt x="113792" y="113792"/>
                  </a:cubicBezTo>
                  <a:cubicBezTo>
                    <a:pt x="110744" y="116967"/>
                    <a:pt x="107315" y="119634"/>
                    <a:pt x="103632" y="122047"/>
                  </a:cubicBezTo>
                  <a:cubicBezTo>
                    <a:pt x="99949" y="124460"/>
                    <a:pt x="96139" y="126492"/>
                    <a:pt x="92075" y="128270"/>
                  </a:cubicBezTo>
                  <a:cubicBezTo>
                    <a:pt x="88011" y="130048"/>
                    <a:pt x="83820" y="131191"/>
                    <a:pt x="79629" y="132080"/>
                  </a:cubicBezTo>
                  <a:cubicBezTo>
                    <a:pt x="75438" y="132969"/>
                    <a:pt x="70993" y="133350"/>
                    <a:pt x="66675" y="133350"/>
                  </a:cubicBezTo>
                  <a:cubicBezTo>
                    <a:pt x="62357" y="133350"/>
                    <a:pt x="57912" y="132969"/>
                    <a:pt x="53721" y="132080"/>
                  </a:cubicBezTo>
                  <a:cubicBezTo>
                    <a:pt x="49530" y="131191"/>
                    <a:pt x="45212" y="129921"/>
                    <a:pt x="41275" y="128270"/>
                  </a:cubicBezTo>
                  <a:cubicBezTo>
                    <a:pt x="37338" y="126619"/>
                    <a:pt x="33401" y="124587"/>
                    <a:pt x="29718" y="122047"/>
                  </a:cubicBezTo>
                  <a:cubicBezTo>
                    <a:pt x="26035" y="119507"/>
                    <a:pt x="22733" y="116840"/>
                    <a:pt x="19558" y="113792"/>
                  </a:cubicBezTo>
                  <a:cubicBezTo>
                    <a:pt x="16383" y="110744"/>
                    <a:pt x="13716" y="107315"/>
                    <a:pt x="11303" y="103632"/>
                  </a:cubicBezTo>
                  <a:cubicBezTo>
                    <a:pt x="8890" y="99949"/>
                    <a:pt x="6731" y="96266"/>
                    <a:pt x="5080" y="92202"/>
                  </a:cubicBezTo>
                  <a:cubicBezTo>
                    <a:pt x="3429" y="88138"/>
                    <a:pt x="2159" y="83947"/>
                    <a:pt x="1270" y="79629"/>
                  </a:cubicBezTo>
                  <a:cubicBezTo>
                    <a:pt x="381" y="75311"/>
                    <a:pt x="0" y="70993"/>
                    <a:pt x="0" y="66675"/>
                  </a:cubicBezTo>
                  <a:cubicBezTo>
                    <a:pt x="0" y="62357"/>
                    <a:pt x="381" y="57912"/>
                    <a:pt x="1270" y="53721"/>
                  </a:cubicBezTo>
                  <a:cubicBezTo>
                    <a:pt x="2159" y="49530"/>
                    <a:pt x="3429" y="45212"/>
                    <a:pt x="5080" y="41275"/>
                  </a:cubicBezTo>
                  <a:cubicBezTo>
                    <a:pt x="6731" y="37338"/>
                    <a:pt x="8763" y="33401"/>
                    <a:pt x="11303" y="29718"/>
                  </a:cubicBezTo>
                  <a:cubicBezTo>
                    <a:pt x="13843" y="26035"/>
                    <a:pt x="16510" y="22733"/>
                    <a:pt x="19558" y="19558"/>
                  </a:cubicBezTo>
                  <a:cubicBezTo>
                    <a:pt x="22606" y="16383"/>
                    <a:pt x="26035" y="13716"/>
                    <a:pt x="29718" y="11303"/>
                  </a:cubicBezTo>
                  <a:cubicBezTo>
                    <a:pt x="33401" y="8890"/>
                    <a:pt x="37211" y="6858"/>
                    <a:pt x="41275" y="5080"/>
                  </a:cubicBezTo>
                  <a:cubicBezTo>
                    <a:pt x="45339" y="3302"/>
                    <a:pt x="49530" y="2159"/>
                    <a:pt x="53721" y="1270"/>
                  </a:cubicBezTo>
                  <a:cubicBezTo>
                    <a:pt x="57912" y="381"/>
                    <a:pt x="62357" y="0"/>
                    <a:pt x="66675" y="0"/>
                  </a:cubicBezTo>
                  <a:cubicBezTo>
                    <a:pt x="70993" y="0"/>
                    <a:pt x="75438" y="381"/>
                    <a:pt x="79629" y="1270"/>
                  </a:cubicBezTo>
                  <a:cubicBezTo>
                    <a:pt x="83820" y="2159"/>
                    <a:pt x="88138" y="3429"/>
                    <a:pt x="92075" y="5080"/>
                  </a:cubicBezTo>
                  <a:cubicBezTo>
                    <a:pt x="96012" y="6731"/>
                    <a:pt x="99949" y="8763"/>
                    <a:pt x="103632" y="11303"/>
                  </a:cubicBezTo>
                  <a:cubicBezTo>
                    <a:pt x="107315" y="13843"/>
                    <a:pt x="110617" y="16510"/>
                    <a:pt x="113792" y="19558"/>
                  </a:cubicBezTo>
                  <a:cubicBezTo>
                    <a:pt x="116967" y="22606"/>
                    <a:pt x="119634" y="26035"/>
                    <a:pt x="122047" y="29718"/>
                  </a:cubicBezTo>
                  <a:cubicBezTo>
                    <a:pt x="124460" y="33401"/>
                    <a:pt x="126492" y="37211"/>
                    <a:pt x="128270" y="41275"/>
                  </a:cubicBezTo>
                  <a:cubicBezTo>
                    <a:pt x="130048" y="45339"/>
                    <a:pt x="131191" y="49530"/>
                    <a:pt x="132080" y="53721"/>
                  </a:cubicBezTo>
                  <a:cubicBezTo>
                    <a:pt x="132969" y="57912"/>
                    <a:pt x="133350" y="62357"/>
                    <a:pt x="133350" y="6667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314325" y="7113480"/>
            <a:ext cx="133350" cy="133350"/>
            <a:chOff x="0" y="0"/>
            <a:chExt cx="133350" cy="1333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3350" cy="133350"/>
            </a:xfrm>
            <a:custGeom>
              <a:avLst/>
              <a:gdLst/>
              <a:ahLst/>
              <a:cxnLst/>
              <a:rect r="r" b="b" t="t" l="l"/>
              <a:pathLst>
                <a:path h="133350" w="133350">
                  <a:moveTo>
                    <a:pt x="133350" y="66675"/>
                  </a:moveTo>
                  <a:cubicBezTo>
                    <a:pt x="133350" y="70993"/>
                    <a:pt x="132969" y="75438"/>
                    <a:pt x="132080" y="79629"/>
                  </a:cubicBezTo>
                  <a:cubicBezTo>
                    <a:pt x="131191" y="83820"/>
                    <a:pt x="129921" y="88138"/>
                    <a:pt x="128270" y="92075"/>
                  </a:cubicBezTo>
                  <a:cubicBezTo>
                    <a:pt x="126619" y="96012"/>
                    <a:pt x="124587" y="99949"/>
                    <a:pt x="122047" y="103632"/>
                  </a:cubicBezTo>
                  <a:cubicBezTo>
                    <a:pt x="119507" y="107315"/>
                    <a:pt x="116840" y="110617"/>
                    <a:pt x="113792" y="113792"/>
                  </a:cubicBezTo>
                  <a:cubicBezTo>
                    <a:pt x="110744" y="116967"/>
                    <a:pt x="107315" y="119634"/>
                    <a:pt x="103632" y="122047"/>
                  </a:cubicBezTo>
                  <a:cubicBezTo>
                    <a:pt x="99949" y="124460"/>
                    <a:pt x="96139" y="126492"/>
                    <a:pt x="92075" y="128270"/>
                  </a:cubicBezTo>
                  <a:cubicBezTo>
                    <a:pt x="88011" y="130048"/>
                    <a:pt x="83820" y="131191"/>
                    <a:pt x="79629" y="132080"/>
                  </a:cubicBezTo>
                  <a:cubicBezTo>
                    <a:pt x="75438" y="132969"/>
                    <a:pt x="70993" y="133350"/>
                    <a:pt x="66675" y="133350"/>
                  </a:cubicBezTo>
                  <a:cubicBezTo>
                    <a:pt x="62357" y="133350"/>
                    <a:pt x="57912" y="132969"/>
                    <a:pt x="53721" y="132080"/>
                  </a:cubicBezTo>
                  <a:cubicBezTo>
                    <a:pt x="49530" y="131191"/>
                    <a:pt x="45212" y="129921"/>
                    <a:pt x="41275" y="128270"/>
                  </a:cubicBezTo>
                  <a:cubicBezTo>
                    <a:pt x="37338" y="126619"/>
                    <a:pt x="33401" y="124587"/>
                    <a:pt x="29718" y="122047"/>
                  </a:cubicBezTo>
                  <a:cubicBezTo>
                    <a:pt x="26035" y="119507"/>
                    <a:pt x="22733" y="116840"/>
                    <a:pt x="19558" y="113792"/>
                  </a:cubicBezTo>
                  <a:cubicBezTo>
                    <a:pt x="16383" y="110744"/>
                    <a:pt x="13716" y="107315"/>
                    <a:pt x="11303" y="103632"/>
                  </a:cubicBezTo>
                  <a:cubicBezTo>
                    <a:pt x="8890" y="99949"/>
                    <a:pt x="6731" y="96266"/>
                    <a:pt x="5080" y="92202"/>
                  </a:cubicBezTo>
                  <a:cubicBezTo>
                    <a:pt x="3429" y="88138"/>
                    <a:pt x="2159" y="83947"/>
                    <a:pt x="1270" y="79629"/>
                  </a:cubicBezTo>
                  <a:cubicBezTo>
                    <a:pt x="381" y="75311"/>
                    <a:pt x="0" y="70993"/>
                    <a:pt x="0" y="66675"/>
                  </a:cubicBezTo>
                  <a:cubicBezTo>
                    <a:pt x="0" y="62357"/>
                    <a:pt x="381" y="57912"/>
                    <a:pt x="1270" y="53721"/>
                  </a:cubicBezTo>
                  <a:cubicBezTo>
                    <a:pt x="2159" y="49530"/>
                    <a:pt x="3429" y="45212"/>
                    <a:pt x="5080" y="41275"/>
                  </a:cubicBezTo>
                  <a:cubicBezTo>
                    <a:pt x="6731" y="37338"/>
                    <a:pt x="8763" y="33401"/>
                    <a:pt x="11303" y="29718"/>
                  </a:cubicBezTo>
                  <a:cubicBezTo>
                    <a:pt x="13843" y="26035"/>
                    <a:pt x="16510" y="22733"/>
                    <a:pt x="19558" y="19558"/>
                  </a:cubicBezTo>
                  <a:cubicBezTo>
                    <a:pt x="22606" y="16383"/>
                    <a:pt x="26035" y="13716"/>
                    <a:pt x="29718" y="11303"/>
                  </a:cubicBezTo>
                  <a:cubicBezTo>
                    <a:pt x="33401" y="8890"/>
                    <a:pt x="37211" y="6858"/>
                    <a:pt x="41275" y="5080"/>
                  </a:cubicBezTo>
                  <a:cubicBezTo>
                    <a:pt x="45339" y="3302"/>
                    <a:pt x="49530" y="2159"/>
                    <a:pt x="53721" y="1270"/>
                  </a:cubicBezTo>
                  <a:cubicBezTo>
                    <a:pt x="57912" y="381"/>
                    <a:pt x="62357" y="0"/>
                    <a:pt x="66675" y="0"/>
                  </a:cubicBezTo>
                  <a:cubicBezTo>
                    <a:pt x="70993" y="0"/>
                    <a:pt x="75438" y="381"/>
                    <a:pt x="79629" y="1270"/>
                  </a:cubicBezTo>
                  <a:cubicBezTo>
                    <a:pt x="83820" y="2159"/>
                    <a:pt x="88138" y="3429"/>
                    <a:pt x="92075" y="5080"/>
                  </a:cubicBezTo>
                  <a:cubicBezTo>
                    <a:pt x="96012" y="6731"/>
                    <a:pt x="99949" y="8763"/>
                    <a:pt x="103632" y="11303"/>
                  </a:cubicBezTo>
                  <a:cubicBezTo>
                    <a:pt x="107315" y="13843"/>
                    <a:pt x="110617" y="16510"/>
                    <a:pt x="113792" y="19558"/>
                  </a:cubicBezTo>
                  <a:cubicBezTo>
                    <a:pt x="116967" y="22606"/>
                    <a:pt x="119634" y="26035"/>
                    <a:pt x="122047" y="29718"/>
                  </a:cubicBezTo>
                  <a:cubicBezTo>
                    <a:pt x="124460" y="33401"/>
                    <a:pt x="126492" y="37211"/>
                    <a:pt x="128270" y="41275"/>
                  </a:cubicBezTo>
                  <a:cubicBezTo>
                    <a:pt x="130048" y="45339"/>
                    <a:pt x="131191" y="49530"/>
                    <a:pt x="132080" y="53721"/>
                  </a:cubicBezTo>
                  <a:cubicBezTo>
                    <a:pt x="132969" y="57912"/>
                    <a:pt x="133350" y="62357"/>
                    <a:pt x="133350" y="6667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314325" y="8208855"/>
            <a:ext cx="133350" cy="133350"/>
            <a:chOff x="0" y="0"/>
            <a:chExt cx="133350" cy="1333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3350" cy="133350"/>
            </a:xfrm>
            <a:custGeom>
              <a:avLst/>
              <a:gdLst/>
              <a:ahLst/>
              <a:cxnLst/>
              <a:rect r="r" b="b" t="t" l="l"/>
              <a:pathLst>
                <a:path h="133350" w="133350">
                  <a:moveTo>
                    <a:pt x="133350" y="66675"/>
                  </a:moveTo>
                  <a:cubicBezTo>
                    <a:pt x="133350" y="70993"/>
                    <a:pt x="132969" y="75438"/>
                    <a:pt x="132080" y="79629"/>
                  </a:cubicBezTo>
                  <a:cubicBezTo>
                    <a:pt x="131191" y="83820"/>
                    <a:pt x="129921" y="88138"/>
                    <a:pt x="128270" y="92075"/>
                  </a:cubicBezTo>
                  <a:cubicBezTo>
                    <a:pt x="126619" y="96012"/>
                    <a:pt x="124587" y="99949"/>
                    <a:pt x="122047" y="103632"/>
                  </a:cubicBezTo>
                  <a:cubicBezTo>
                    <a:pt x="119507" y="107315"/>
                    <a:pt x="116840" y="110617"/>
                    <a:pt x="113792" y="113792"/>
                  </a:cubicBezTo>
                  <a:cubicBezTo>
                    <a:pt x="110744" y="116967"/>
                    <a:pt x="107315" y="119634"/>
                    <a:pt x="103632" y="122047"/>
                  </a:cubicBezTo>
                  <a:cubicBezTo>
                    <a:pt x="99949" y="124460"/>
                    <a:pt x="96139" y="126492"/>
                    <a:pt x="92075" y="128270"/>
                  </a:cubicBezTo>
                  <a:cubicBezTo>
                    <a:pt x="88011" y="130048"/>
                    <a:pt x="83820" y="131191"/>
                    <a:pt x="79629" y="132080"/>
                  </a:cubicBezTo>
                  <a:cubicBezTo>
                    <a:pt x="75438" y="132969"/>
                    <a:pt x="70993" y="133350"/>
                    <a:pt x="66675" y="133350"/>
                  </a:cubicBezTo>
                  <a:cubicBezTo>
                    <a:pt x="62357" y="133350"/>
                    <a:pt x="57912" y="132969"/>
                    <a:pt x="53721" y="132080"/>
                  </a:cubicBezTo>
                  <a:cubicBezTo>
                    <a:pt x="49530" y="131191"/>
                    <a:pt x="45212" y="129921"/>
                    <a:pt x="41275" y="128270"/>
                  </a:cubicBezTo>
                  <a:cubicBezTo>
                    <a:pt x="37338" y="126619"/>
                    <a:pt x="33401" y="124587"/>
                    <a:pt x="29718" y="122047"/>
                  </a:cubicBezTo>
                  <a:cubicBezTo>
                    <a:pt x="26035" y="119507"/>
                    <a:pt x="22733" y="116840"/>
                    <a:pt x="19558" y="113792"/>
                  </a:cubicBezTo>
                  <a:cubicBezTo>
                    <a:pt x="16383" y="110744"/>
                    <a:pt x="13716" y="107315"/>
                    <a:pt x="11303" y="103632"/>
                  </a:cubicBezTo>
                  <a:cubicBezTo>
                    <a:pt x="8890" y="99949"/>
                    <a:pt x="6731" y="96266"/>
                    <a:pt x="5080" y="92202"/>
                  </a:cubicBezTo>
                  <a:cubicBezTo>
                    <a:pt x="3429" y="88138"/>
                    <a:pt x="2159" y="83947"/>
                    <a:pt x="1270" y="79629"/>
                  </a:cubicBezTo>
                  <a:cubicBezTo>
                    <a:pt x="381" y="75311"/>
                    <a:pt x="0" y="70993"/>
                    <a:pt x="0" y="66675"/>
                  </a:cubicBezTo>
                  <a:cubicBezTo>
                    <a:pt x="0" y="62357"/>
                    <a:pt x="381" y="57912"/>
                    <a:pt x="1270" y="53721"/>
                  </a:cubicBezTo>
                  <a:cubicBezTo>
                    <a:pt x="2159" y="49530"/>
                    <a:pt x="3429" y="45212"/>
                    <a:pt x="5080" y="41275"/>
                  </a:cubicBezTo>
                  <a:cubicBezTo>
                    <a:pt x="6731" y="37338"/>
                    <a:pt x="8763" y="33401"/>
                    <a:pt x="11303" y="29718"/>
                  </a:cubicBezTo>
                  <a:cubicBezTo>
                    <a:pt x="13843" y="26035"/>
                    <a:pt x="16510" y="22733"/>
                    <a:pt x="19558" y="19558"/>
                  </a:cubicBezTo>
                  <a:cubicBezTo>
                    <a:pt x="22606" y="16383"/>
                    <a:pt x="26035" y="13716"/>
                    <a:pt x="29718" y="11303"/>
                  </a:cubicBezTo>
                  <a:cubicBezTo>
                    <a:pt x="33401" y="8890"/>
                    <a:pt x="37211" y="6858"/>
                    <a:pt x="41275" y="5080"/>
                  </a:cubicBezTo>
                  <a:cubicBezTo>
                    <a:pt x="45339" y="3302"/>
                    <a:pt x="49530" y="2159"/>
                    <a:pt x="53721" y="1270"/>
                  </a:cubicBezTo>
                  <a:cubicBezTo>
                    <a:pt x="57912" y="381"/>
                    <a:pt x="62357" y="0"/>
                    <a:pt x="66675" y="0"/>
                  </a:cubicBezTo>
                  <a:cubicBezTo>
                    <a:pt x="70993" y="0"/>
                    <a:pt x="75438" y="381"/>
                    <a:pt x="79629" y="1270"/>
                  </a:cubicBezTo>
                  <a:cubicBezTo>
                    <a:pt x="83820" y="2159"/>
                    <a:pt x="88138" y="3429"/>
                    <a:pt x="92075" y="5080"/>
                  </a:cubicBezTo>
                  <a:cubicBezTo>
                    <a:pt x="96012" y="6731"/>
                    <a:pt x="99949" y="8763"/>
                    <a:pt x="103632" y="11303"/>
                  </a:cubicBezTo>
                  <a:cubicBezTo>
                    <a:pt x="107315" y="13843"/>
                    <a:pt x="110617" y="16510"/>
                    <a:pt x="113792" y="19558"/>
                  </a:cubicBezTo>
                  <a:cubicBezTo>
                    <a:pt x="116967" y="22606"/>
                    <a:pt x="119634" y="26035"/>
                    <a:pt x="122047" y="29718"/>
                  </a:cubicBezTo>
                  <a:cubicBezTo>
                    <a:pt x="124460" y="33401"/>
                    <a:pt x="126492" y="37211"/>
                    <a:pt x="128270" y="41275"/>
                  </a:cubicBezTo>
                  <a:cubicBezTo>
                    <a:pt x="130048" y="45339"/>
                    <a:pt x="131191" y="49530"/>
                    <a:pt x="132080" y="53721"/>
                  </a:cubicBezTo>
                  <a:cubicBezTo>
                    <a:pt x="132969" y="57912"/>
                    <a:pt x="133350" y="62357"/>
                    <a:pt x="133350" y="6667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314325" y="9304230"/>
            <a:ext cx="133350" cy="133350"/>
            <a:chOff x="0" y="0"/>
            <a:chExt cx="133350" cy="1333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3350" cy="133350"/>
            </a:xfrm>
            <a:custGeom>
              <a:avLst/>
              <a:gdLst/>
              <a:ahLst/>
              <a:cxnLst/>
              <a:rect r="r" b="b" t="t" l="l"/>
              <a:pathLst>
                <a:path h="133350" w="133350">
                  <a:moveTo>
                    <a:pt x="133350" y="66675"/>
                  </a:moveTo>
                  <a:cubicBezTo>
                    <a:pt x="133350" y="70993"/>
                    <a:pt x="132969" y="75438"/>
                    <a:pt x="132080" y="79629"/>
                  </a:cubicBezTo>
                  <a:cubicBezTo>
                    <a:pt x="131191" y="83820"/>
                    <a:pt x="129921" y="88138"/>
                    <a:pt x="128270" y="92075"/>
                  </a:cubicBezTo>
                  <a:cubicBezTo>
                    <a:pt x="126619" y="96012"/>
                    <a:pt x="124587" y="99949"/>
                    <a:pt x="122047" y="103632"/>
                  </a:cubicBezTo>
                  <a:cubicBezTo>
                    <a:pt x="119507" y="107315"/>
                    <a:pt x="116840" y="110617"/>
                    <a:pt x="113792" y="113792"/>
                  </a:cubicBezTo>
                  <a:cubicBezTo>
                    <a:pt x="110744" y="116967"/>
                    <a:pt x="107315" y="119634"/>
                    <a:pt x="103632" y="122047"/>
                  </a:cubicBezTo>
                  <a:cubicBezTo>
                    <a:pt x="99949" y="124460"/>
                    <a:pt x="96139" y="126492"/>
                    <a:pt x="92075" y="128270"/>
                  </a:cubicBezTo>
                  <a:cubicBezTo>
                    <a:pt x="88011" y="130048"/>
                    <a:pt x="83820" y="131191"/>
                    <a:pt x="79629" y="132080"/>
                  </a:cubicBezTo>
                  <a:cubicBezTo>
                    <a:pt x="75438" y="132969"/>
                    <a:pt x="70993" y="133350"/>
                    <a:pt x="66675" y="133350"/>
                  </a:cubicBezTo>
                  <a:cubicBezTo>
                    <a:pt x="62357" y="133350"/>
                    <a:pt x="57912" y="132969"/>
                    <a:pt x="53721" y="132080"/>
                  </a:cubicBezTo>
                  <a:cubicBezTo>
                    <a:pt x="49530" y="131191"/>
                    <a:pt x="45212" y="129921"/>
                    <a:pt x="41275" y="128270"/>
                  </a:cubicBezTo>
                  <a:cubicBezTo>
                    <a:pt x="37338" y="126619"/>
                    <a:pt x="33401" y="124587"/>
                    <a:pt x="29718" y="122047"/>
                  </a:cubicBezTo>
                  <a:cubicBezTo>
                    <a:pt x="26035" y="119507"/>
                    <a:pt x="22733" y="116840"/>
                    <a:pt x="19558" y="113792"/>
                  </a:cubicBezTo>
                  <a:cubicBezTo>
                    <a:pt x="16383" y="110744"/>
                    <a:pt x="13716" y="107315"/>
                    <a:pt x="11303" y="103632"/>
                  </a:cubicBezTo>
                  <a:cubicBezTo>
                    <a:pt x="8890" y="99949"/>
                    <a:pt x="6731" y="96266"/>
                    <a:pt x="5080" y="92202"/>
                  </a:cubicBezTo>
                  <a:cubicBezTo>
                    <a:pt x="3429" y="88138"/>
                    <a:pt x="2159" y="83947"/>
                    <a:pt x="1270" y="79629"/>
                  </a:cubicBezTo>
                  <a:cubicBezTo>
                    <a:pt x="381" y="75311"/>
                    <a:pt x="0" y="70993"/>
                    <a:pt x="0" y="66675"/>
                  </a:cubicBezTo>
                  <a:cubicBezTo>
                    <a:pt x="0" y="62357"/>
                    <a:pt x="381" y="57912"/>
                    <a:pt x="1270" y="53721"/>
                  </a:cubicBezTo>
                  <a:cubicBezTo>
                    <a:pt x="2159" y="49530"/>
                    <a:pt x="3429" y="45212"/>
                    <a:pt x="5080" y="41275"/>
                  </a:cubicBezTo>
                  <a:cubicBezTo>
                    <a:pt x="6731" y="37338"/>
                    <a:pt x="8763" y="33401"/>
                    <a:pt x="11303" y="29718"/>
                  </a:cubicBezTo>
                  <a:cubicBezTo>
                    <a:pt x="13843" y="26035"/>
                    <a:pt x="16510" y="22733"/>
                    <a:pt x="19558" y="19558"/>
                  </a:cubicBezTo>
                  <a:cubicBezTo>
                    <a:pt x="22606" y="16383"/>
                    <a:pt x="26035" y="13716"/>
                    <a:pt x="29718" y="11303"/>
                  </a:cubicBezTo>
                  <a:cubicBezTo>
                    <a:pt x="33401" y="8890"/>
                    <a:pt x="37211" y="6858"/>
                    <a:pt x="41275" y="5080"/>
                  </a:cubicBezTo>
                  <a:cubicBezTo>
                    <a:pt x="45339" y="3302"/>
                    <a:pt x="49530" y="2159"/>
                    <a:pt x="53721" y="1270"/>
                  </a:cubicBezTo>
                  <a:cubicBezTo>
                    <a:pt x="57912" y="381"/>
                    <a:pt x="62357" y="0"/>
                    <a:pt x="66675" y="0"/>
                  </a:cubicBezTo>
                  <a:cubicBezTo>
                    <a:pt x="70993" y="0"/>
                    <a:pt x="75438" y="381"/>
                    <a:pt x="79629" y="1270"/>
                  </a:cubicBezTo>
                  <a:cubicBezTo>
                    <a:pt x="83820" y="2159"/>
                    <a:pt x="88138" y="3429"/>
                    <a:pt x="92075" y="5080"/>
                  </a:cubicBezTo>
                  <a:cubicBezTo>
                    <a:pt x="96012" y="6731"/>
                    <a:pt x="99949" y="8763"/>
                    <a:pt x="103632" y="11303"/>
                  </a:cubicBezTo>
                  <a:cubicBezTo>
                    <a:pt x="107315" y="13843"/>
                    <a:pt x="110617" y="16510"/>
                    <a:pt x="113792" y="19558"/>
                  </a:cubicBezTo>
                  <a:cubicBezTo>
                    <a:pt x="116967" y="22606"/>
                    <a:pt x="119634" y="26035"/>
                    <a:pt x="122047" y="29718"/>
                  </a:cubicBezTo>
                  <a:cubicBezTo>
                    <a:pt x="124460" y="33401"/>
                    <a:pt x="126492" y="37211"/>
                    <a:pt x="128270" y="41275"/>
                  </a:cubicBezTo>
                  <a:cubicBezTo>
                    <a:pt x="130048" y="45339"/>
                    <a:pt x="131191" y="49530"/>
                    <a:pt x="132080" y="53721"/>
                  </a:cubicBezTo>
                  <a:cubicBezTo>
                    <a:pt x="132969" y="57912"/>
                    <a:pt x="133350" y="62357"/>
                    <a:pt x="133350" y="6667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4613363" y="-331251"/>
            <a:ext cx="3313652" cy="1684306"/>
            <a:chOff x="0" y="0"/>
            <a:chExt cx="4418203" cy="224574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418203" cy="2245741"/>
            </a:xfrm>
            <a:custGeom>
              <a:avLst/>
              <a:gdLst/>
              <a:ahLst/>
              <a:cxnLst/>
              <a:rect r="r" b="b" t="t" l="l"/>
              <a:pathLst>
                <a:path h="2245741" w="4418203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9512" r="0" b="-9512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8485165" y="1277283"/>
            <a:ext cx="6957908" cy="7732452"/>
            <a:chOff x="0" y="0"/>
            <a:chExt cx="6957911" cy="773244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957952" cy="7732388"/>
            </a:xfrm>
            <a:custGeom>
              <a:avLst/>
              <a:gdLst/>
              <a:ahLst/>
              <a:cxnLst/>
              <a:rect r="r" b="b" t="t" l="l"/>
              <a:pathLst>
                <a:path h="7732388" w="6957952">
                  <a:moveTo>
                    <a:pt x="0" y="7732388"/>
                  </a:moveTo>
                  <a:lnTo>
                    <a:pt x="6957952" y="7732388"/>
                  </a:lnTo>
                  <a:lnTo>
                    <a:pt x="695795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6414545" y="1090555"/>
            <a:ext cx="3783578" cy="841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b="true" sz="48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TITLE PAGE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719863" y="-79648"/>
            <a:ext cx="12104936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b="true" sz="6000">
                <a:solidFill>
                  <a:srgbClr val="1F497D"/>
                </a:solidFill>
                <a:latin typeface="Garamond Bold"/>
                <a:ea typeface="Garamond Bold"/>
                <a:cs typeface="Garamond Bold"/>
                <a:sym typeface="Garamond Bold"/>
              </a:rPr>
              <a:t>SMART INDIA HACKATHON 2026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51424" y="2141001"/>
            <a:ext cx="8213541" cy="7558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25"/>
              </a:lnSpc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ID – SIH25047 Problem Statement Title - Disaster Response Drone For Remote Areas Theme - Disaster Management </a:t>
            </a:r>
          </a:p>
          <a:p>
            <a:pPr algn="l">
              <a:lnSpc>
                <a:spcPts val="8625"/>
              </a:lnSpc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PS Category - Hardware </a:t>
            </a:r>
          </a:p>
          <a:p>
            <a:pPr algn="l">
              <a:lnSpc>
                <a:spcPts val="8625"/>
              </a:lnSpc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ID - 126583</a:t>
            </a:r>
          </a:p>
          <a:p>
            <a:pPr algn="l">
              <a:lnSpc>
                <a:spcPts val="8625"/>
              </a:lnSpc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TeamName- (SkyRescue Innovators)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630" y="-7630"/>
            <a:ext cx="18317089" cy="10310298"/>
            <a:chOff x="0" y="0"/>
            <a:chExt cx="24422786" cy="137470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22736" cy="13747114"/>
            </a:xfrm>
            <a:custGeom>
              <a:avLst/>
              <a:gdLst/>
              <a:ahLst/>
              <a:cxnLst/>
              <a:rect r="r" b="b" t="t" l="l"/>
              <a:pathLst>
                <a:path h="13747114" w="24422736">
                  <a:moveTo>
                    <a:pt x="0" y="0"/>
                  </a:moveTo>
                  <a:lnTo>
                    <a:pt x="24422736" y="0"/>
                  </a:lnTo>
                  <a:lnTo>
                    <a:pt x="24422736" y="13747114"/>
                  </a:lnTo>
                  <a:lnTo>
                    <a:pt x="0" y="13747114"/>
                  </a:lnTo>
                  <a:close/>
                </a:path>
              </a:pathLst>
            </a:custGeom>
            <a:solidFill>
              <a:srgbClr val="F8FAFD"/>
            </a:solidFill>
            <a:ln w="15252" cap="sq">
              <a:solidFill>
                <a:srgbClr val="F8FAFD"/>
              </a:solidFill>
              <a:prstDash val="solid"/>
              <a:miter/>
            </a:ln>
          </p:spPr>
        </p:sp>
      </p:grpSp>
      <p:sp>
        <p:nvSpPr>
          <p:cNvPr name="TextBox 4" id="4"/>
          <p:cNvSpPr txBox="true"/>
          <p:nvPr/>
        </p:nvSpPr>
        <p:spPr>
          <a:xfrm rot="0">
            <a:off x="979141" y="461743"/>
            <a:ext cx="5673785" cy="316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 b="true">
                <a:solidFill>
                  <a:srgbClr val="007AB4"/>
                </a:solidFill>
                <a:latin typeface="Aptos Bold"/>
                <a:ea typeface="Aptos Bold"/>
                <a:cs typeface="Aptos Bold"/>
                <a:sym typeface="Aptos Bold"/>
              </a:rPr>
              <a:t>01 • NEED &amp; RESPONSE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79141" y="896798"/>
            <a:ext cx="14733422" cy="649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3"/>
              </a:lnSpc>
            </a:pPr>
            <a:r>
              <a:rPr lang="en-US" sz="3602" b="true">
                <a:solidFill>
                  <a:srgbClr val="0B192D"/>
                </a:solidFill>
                <a:latin typeface="Aptos Bold"/>
                <a:ea typeface="Aptos Bold"/>
                <a:cs typeface="Aptos Bold"/>
                <a:sym typeface="Aptos Bold"/>
              </a:rPr>
              <a:t>Problem statement → solution</a:t>
            </a:r>
          </a:p>
        </p:txBody>
      </p:sp>
      <p:sp>
        <p:nvSpPr>
          <p:cNvPr name="AutoShape 6" id="6"/>
          <p:cNvSpPr/>
          <p:nvPr/>
        </p:nvSpPr>
        <p:spPr>
          <a:xfrm rot="3960">
            <a:off x="923877" y="1711081"/>
            <a:ext cx="16449961" cy="0"/>
          </a:xfrm>
          <a:prstGeom prst="line">
            <a:avLst/>
          </a:prstGeom>
          <a:ln cap="rnd" w="9525">
            <a:solidFill>
              <a:srgbClr val="D7E0E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006592" y="2118474"/>
            <a:ext cx="4026579" cy="306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0B192D"/>
                </a:solidFill>
                <a:latin typeface="Aptos Bold"/>
                <a:ea typeface="Aptos Bold"/>
                <a:cs typeface="Aptos Bold"/>
                <a:sym typeface="Aptos Bold"/>
              </a:rPr>
              <a:t>THE CHALLENGE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53243" y="2600449"/>
            <a:ext cx="4750975" cy="1140847"/>
            <a:chOff x="0" y="0"/>
            <a:chExt cx="6334633" cy="152113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34633" cy="1521079"/>
            </a:xfrm>
            <a:custGeom>
              <a:avLst/>
              <a:gdLst/>
              <a:ahLst/>
              <a:cxnLst/>
              <a:rect r="r" b="b" t="t" l="l"/>
              <a:pathLst>
                <a:path h="1521079" w="6334633">
                  <a:moveTo>
                    <a:pt x="0" y="121666"/>
                  </a:moveTo>
                  <a:cubicBezTo>
                    <a:pt x="0" y="54483"/>
                    <a:pt x="54483" y="0"/>
                    <a:pt x="121666" y="0"/>
                  </a:cubicBezTo>
                  <a:lnTo>
                    <a:pt x="6212967" y="0"/>
                  </a:lnTo>
                  <a:cubicBezTo>
                    <a:pt x="6280150" y="0"/>
                    <a:pt x="6334633" y="54483"/>
                    <a:pt x="6334633" y="121666"/>
                  </a:cubicBezTo>
                  <a:lnTo>
                    <a:pt x="6334633" y="1399413"/>
                  </a:lnTo>
                  <a:cubicBezTo>
                    <a:pt x="6334633" y="1466596"/>
                    <a:pt x="6280150" y="1521079"/>
                    <a:pt x="6212967" y="1521079"/>
                  </a:cubicBezTo>
                  <a:lnTo>
                    <a:pt x="121666" y="1521079"/>
                  </a:lnTo>
                  <a:cubicBezTo>
                    <a:pt x="54483" y="1521079"/>
                    <a:pt x="0" y="1466596"/>
                    <a:pt x="0" y="1399413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7E0E9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953243" y="2600449"/>
            <a:ext cx="90745" cy="1140847"/>
            <a:chOff x="0" y="0"/>
            <a:chExt cx="120993" cy="152113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1031" cy="1521079"/>
            </a:xfrm>
            <a:custGeom>
              <a:avLst/>
              <a:gdLst/>
              <a:ahLst/>
              <a:cxnLst/>
              <a:rect r="r" b="b" t="t" l="l"/>
              <a:pathLst>
                <a:path h="1521079" w="121031">
                  <a:moveTo>
                    <a:pt x="0" y="0"/>
                  </a:moveTo>
                  <a:lnTo>
                    <a:pt x="121031" y="0"/>
                  </a:lnTo>
                  <a:lnTo>
                    <a:pt x="121031" y="1521079"/>
                  </a:lnTo>
                  <a:lnTo>
                    <a:pt x="0" y="1521079"/>
                  </a:lnTo>
                  <a:close/>
                </a:path>
              </a:pathLst>
            </a:custGeom>
            <a:solidFill>
              <a:srgbClr val="CD4448"/>
            </a:solidFill>
            <a:ln w="15252" cap="sq">
              <a:solidFill>
                <a:srgbClr val="CD4448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228258" y="2848013"/>
            <a:ext cx="590817" cy="590817"/>
            <a:chOff x="0" y="0"/>
            <a:chExt cx="787756" cy="78775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87781" cy="787781"/>
            </a:xfrm>
            <a:custGeom>
              <a:avLst/>
              <a:gdLst/>
              <a:ahLst/>
              <a:cxnLst/>
              <a:rect r="r" b="b" t="t" l="l"/>
              <a:pathLst>
                <a:path h="787781" w="787781">
                  <a:moveTo>
                    <a:pt x="0" y="393827"/>
                  </a:moveTo>
                  <a:cubicBezTo>
                    <a:pt x="0" y="176403"/>
                    <a:pt x="176403" y="0"/>
                    <a:pt x="393827" y="0"/>
                  </a:cubicBezTo>
                  <a:cubicBezTo>
                    <a:pt x="611251" y="0"/>
                    <a:pt x="787781" y="176403"/>
                    <a:pt x="787781" y="393827"/>
                  </a:cubicBezTo>
                  <a:cubicBezTo>
                    <a:pt x="787781" y="611251"/>
                    <a:pt x="611378" y="787781"/>
                    <a:pt x="393827" y="787781"/>
                  </a:cubicBezTo>
                  <a:cubicBezTo>
                    <a:pt x="176276" y="787781"/>
                    <a:pt x="0" y="611378"/>
                    <a:pt x="0" y="393827"/>
                  </a:cubicBezTo>
                  <a:close/>
                </a:path>
              </a:pathLst>
            </a:custGeom>
            <a:solidFill>
              <a:srgbClr val="CD4448"/>
            </a:solidFill>
            <a:ln w="14299" cap="sq">
              <a:solidFill>
                <a:srgbClr val="CD4448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235402" y="2868882"/>
            <a:ext cx="576520" cy="521618"/>
            <a:chOff x="0" y="0"/>
            <a:chExt cx="768693" cy="69549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68697" cy="695487"/>
            </a:xfrm>
            <a:custGeom>
              <a:avLst/>
              <a:gdLst/>
              <a:ahLst/>
              <a:cxnLst/>
              <a:rect r="r" b="b" t="t" l="l"/>
              <a:pathLst>
                <a:path h="695487" w="768697">
                  <a:moveTo>
                    <a:pt x="0" y="0"/>
                  </a:moveTo>
                  <a:lnTo>
                    <a:pt x="768697" y="0"/>
                  </a:lnTo>
                  <a:lnTo>
                    <a:pt x="768697" y="695487"/>
                  </a:lnTo>
                  <a:lnTo>
                    <a:pt x="0" y="69548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6084" t="0" r="-66084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768693" cy="695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75"/>
                </a:lnSpc>
              </a:pPr>
              <a:r>
                <a:rPr lang="en-US" sz="1229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01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994916" y="2836469"/>
            <a:ext cx="3408874" cy="357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7"/>
              </a:lnSpc>
            </a:pPr>
            <a:r>
              <a:rPr lang="en-US" sz="1681" b="true">
                <a:solidFill>
                  <a:srgbClr val="0B192D"/>
                </a:solidFill>
                <a:latin typeface="Aptos Bold"/>
                <a:ea typeface="Aptos Bold"/>
                <a:cs typeface="Aptos Bold"/>
                <a:sym typeface="Aptos Bold"/>
              </a:rPr>
              <a:t>INACCESSIBLE ZONES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009575" y="3121647"/>
            <a:ext cx="3408874" cy="265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5"/>
              </a:lnSpc>
            </a:pPr>
            <a:r>
              <a:rPr lang="en-US" sz="1321">
                <a:solidFill>
                  <a:srgbClr val="465465"/>
                </a:solidFill>
                <a:latin typeface="Aptos"/>
                <a:ea typeface="Aptos"/>
                <a:cs typeface="Aptos"/>
                <a:sym typeface="Aptos"/>
              </a:rPr>
              <a:t>Blocked roads and collapsed structures prevent physical entry.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53243" y="3863311"/>
            <a:ext cx="4750975" cy="1140847"/>
            <a:chOff x="0" y="0"/>
            <a:chExt cx="6334633" cy="152113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334633" cy="1521079"/>
            </a:xfrm>
            <a:custGeom>
              <a:avLst/>
              <a:gdLst/>
              <a:ahLst/>
              <a:cxnLst/>
              <a:rect r="r" b="b" t="t" l="l"/>
              <a:pathLst>
                <a:path h="1521079" w="6334633">
                  <a:moveTo>
                    <a:pt x="0" y="121666"/>
                  </a:moveTo>
                  <a:cubicBezTo>
                    <a:pt x="0" y="54483"/>
                    <a:pt x="54483" y="0"/>
                    <a:pt x="121666" y="0"/>
                  </a:cubicBezTo>
                  <a:lnTo>
                    <a:pt x="6212967" y="0"/>
                  </a:lnTo>
                  <a:cubicBezTo>
                    <a:pt x="6280150" y="0"/>
                    <a:pt x="6334633" y="54483"/>
                    <a:pt x="6334633" y="121666"/>
                  </a:cubicBezTo>
                  <a:lnTo>
                    <a:pt x="6334633" y="1399413"/>
                  </a:lnTo>
                  <a:cubicBezTo>
                    <a:pt x="6334633" y="1466596"/>
                    <a:pt x="6280150" y="1521079"/>
                    <a:pt x="6212967" y="1521079"/>
                  </a:cubicBezTo>
                  <a:lnTo>
                    <a:pt x="121666" y="1521079"/>
                  </a:lnTo>
                  <a:cubicBezTo>
                    <a:pt x="54483" y="1521079"/>
                    <a:pt x="0" y="1466596"/>
                    <a:pt x="0" y="1399413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7E0E9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953243" y="3863311"/>
            <a:ext cx="90745" cy="1140847"/>
            <a:chOff x="0" y="0"/>
            <a:chExt cx="120993" cy="152113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1031" cy="1521079"/>
            </a:xfrm>
            <a:custGeom>
              <a:avLst/>
              <a:gdLst/>
              <a:ahLst/>
              <a:cxnLst/>
              <a:rect r="r" b="b" t="t" l="l"/>
              <a:pathLst>
                <a:path h="1521079" w="121031">
                  <a:moveTo>
                    <a:pt x="0" y="0"/>
                  </a:moveTo>
                  <a:lnTo>
                    <a:pt x="121031" y="0"/>
                  </a:lnTo>
                  <a:lnTo>
                    <a:pt x="121031" y="1521079"/>
                  </a:lnTo>
                  <a:lnTo>
                    <a:pt x="0" y="1521079"/>
                  </a:lnTo>
                  <a:close/>
                </a:path>
              </a:pathLst>
            </a:custGeom>
            <a:solidFill>
              <a:srgbClr val="E8772D"/>
            </a:solidFill>
            <a:ln w="15252" cap="sq">
              <a:solidFill>
                <a:srgbClr val="E8772D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228258" y="4110866"/>
            <a:ext cx="590817" cy="590817"/>
            <a:chOff x="0" y="0"/>
            <a:chExt cx="787756" cy="78775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87781" cy="787781"/>
            </a:xfrm>
            <a:custGeom>
              <a:avLst/>
              <a:gdLst/>
              <a:ahLst/>
              <a:cxnLst/>
              <a:rect r="r" b="b" t="t" l="l"/>
              <a:pathLst>
                <a:path h="787781" w="787781">
                  <a:moveTo>
                    <a:pt x="0" y="393827"/>
                  </a:moveTo>
                  <a:cubicBezTo>
                    <a:pt x="0" y="176403"/>
                    <a:pt x="176403" y="0"/>
                    <a:pt x="393827" y="0"/>
                  </a:cubicBezTo>
                  <a:cubicBezTo>
                    <a:pt x="611251" y="0"/>
                    <a:pt x="787781" y="176403"/>
                    <a:pt x="787781" y="393827"/>
                  </a:cubicBezTo>
                  <a:cubicBezTo>
                    <a:pt x="787781" y="611251"/>
                    <a:pt x="611378" y="787781"/>
                    <a:pt x="393827" y="787781"/>
                  </a:cubicBezTo>
                  <a:cubicBezTo>
                    <a:pt x="176276" y="787781"/>
                    <a:pt x="0" y="611378"/>
                    <a:pt x="0" y="393827"/>
                  </a:cubicBezTo>
                  <a:close/>
                </a:path>
              </a:pathLst>
            </a:custGeom>
            <a:solidFill>
              <a:srgbClr val="E8772D"/>
            </a:solidFill>
            <a:ln w="14299" cap="sq">
              <a:solidFill>
                <a:srgbClr val="E8772D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235402" y="4131745"/>
            <a:ext cx="576520" cy="521618"/>
            <a:chOff x="0" y="0"/>
            <a:chExt cx="768693" cy="69549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68697" cy="695487"/>
            </a:xfrm>
            <a:custGeom>
              <a:avLst/>
              <a:gdLst/>
              <a:ahLst/>
              <a:cxnLst/>
              <a:rect r="r" b="b" t="t" l="l"/>
              <a:pathLst>
                <a:path h="695487" w="768697">
                  <a:moveTo>
                    <a:pt x="0" y="0"/>
                  </a:moveTo>
                  <a:lnTo>
                    <a:pt x="768697" y="0"/>
                  </a:lnTo>
                  <a:lnTo>
                    <a:pt x="768697" y="695487"/>
                  </a:lnTo>
                  <a:lnTo>
                    <a:pt x="0" y="69548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6084" t="0" r="-66084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768693" cy="695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75"/>
                </a:lnSpc>
              </a:pPr>
              <a:r>
                <a:rPr lang="en-US" sz="1229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02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994916" y="4099331"/>
            <a:ext cx="3408874" cy="357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7"/>
              </a:lnSpc>
            </a:pPr>
            <a:r>
              <a:rPr lang="en-US" sz="1681" b="true">
                <a:solidFill>
                  <a:srgbClr val="0B192D"/>
                </a:solidFill>
                <a:latin typeface="Aptos Bold"/>
                <a:ea typeface="Aptos Bold"/>
                <a:cs typeface="Aptos Bold"/>
                <a:sym typeface="Aptos Bold"/>
              </a:rPr>
              <a:t>DELAYED OPERATIONS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994916" y="4456633"/>
            <a:ext cx="3408874" cy="265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5"/>
              </a:lnSpc>
            </a:pPr>
            <a:r>
              <a:rPr lang="en-US" sz="1321">
                <a:solidFill>
                  <a:srgbClr val="465465"/>
                </a:solidFill>
                <a:latin typeface="Aptos"/>
                <a:ea typeface="Aptos"/>
                <a:cs typeface="Aptos"/>
                <a:sym typeface="Aptos"/>
              </a:rPr>
              <a:t>Slow search and rescue timelines cost lives.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953243" y="5126164"/>
            <a:ext cx="4750975" cy="1140847"/>
            <a:chOff x="0" y="0"/>
            <a:chExt cx="6334633" cy="152113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334633" cy="1521079"/>
            </a:xfrm>
            <a:custGeom>
              <a:avLst/>
              <a:gdLst/>
              <a:ahLst/>
              <a:cxnLst/>
              <a:rect r="r" b="b" t="t" l="l"/>
              <a:pathLst>
                <a:path h="1521079" w="6334633">
                  <a:moveTo>
                    <a:pt x="0" y="121666"/>
                  </a:moveTo>
                  <a:cubicBezTo>
                    <a:pt x="0" y="54483"/>
                    <a:pt x="54483" y="0"/>
                    <a:pt x="121666" y="0"/>
                  </a:cubicBezTo>
                  <a:lnTo>
                    <a:pt x="6212967" y="0"/>
                  </a:lnTo>
                  <a:cubicBezTo>
                    <a:pt x="6280150" y="0"/>
                    <a:pt x="6334633" y="54483"/>
                    <a:pt x="6334633" y="121666"/>
                  </a:cubicBezTo>
                  <a:lnTo>
                    <a:pt x="6334633" y="1399413"/>
                  </a:lnTo>
                  <a:cubicBezTo>
                    <a:pt x="6334633" y="1466596"/>
                    <a:pt x="6280150" y="1521079"/>
                    <a:pt x="6212967" y="1521079"/>
                  </a:cubicBezTo>
                  <a:lnTo>
                    <a:pt x="121666" y="1521079"/>
                  </a:lnTo>
                  <a:cubicBezTo>
                    <a:pt x="54483" y="1521079"/>
                    <a:pt x="0" y="1466596"/>
                    <a:pt x="0" y="1399413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7E0E9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953243" y="5126164"/>
            <a:ext cx="90745" cy="1140847"/>
            <a:chOff x="0" y="0"/>
            <a:chExt cx="120993" cy="152113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21031" cy="1521079"/>
            </a:xfrm>
            <a:custGeom>
              <a:avLst/>
              <a:gdLst/>
              <a:ahLst/>
              <a:cxnLst/>
              <a:rect r="r" b="b" t="t" l="l"/>
              <a:pathLst>
                <a:path h="1521079" w="121031">
                  <a:moveTo>
                    <a:pt x="0" y="0"/>
                  </a:moveTo>
                  <a:lnTo>
                    <a:pt x="121031" y="0"/>
                  </a:lnTo>
                  <a:lnTo>
                    <a:pt x="121031" y="1521079"/>
                  </a:lnTo>
                  <a:lnTo>
                    <a:pt x="0" y="1521079"/>
                  </a:lnTo>
                  <a:close/>
                </a:path>
              </a:pathLst>
            </a:custGeom>
            <a:solidFill>
              <a:srgbClr val="007AB4"/>
            </a:solidFill>
            <a:ln w="15252" cap="sq">
              <a:solidFill>
                <a:srgbClr val="007AB4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228258" y="5373729"/>
            <a:ext cx="590817" cy="590817"/>
            <a:chOff x="0" y="0"/>
            <a:chExt cx="787756" cy="78775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87781" cy="787781"/>
            </a:xfrm>
            <a:custGeom>
              <a:avLst/>
              <a:gdLst/>
              <a:ahLst/>
              <a:cxnLst/>
              <a:rect r="r" b="b" t="t" l="l"/>
              <a:pathLst>
                <a:path h="787781" w="787781">
                  <a:moveTo>
                    <a:pt x="0" y="393827"/>
                  </a:moveTo>
                  <a:cubicBezTo>
                    <a:pt x="0" y="176403"/>
                    <a:pt x="176403" y="0"/>
                    <a:pt x="393827" y="0"/>
                  </a:cubicBezTo>
                  <a:cubicBezTo>
                    <a:pt x="611251" y="0"/>
                    <a:pt x="787781" y="176403"/>
                    <a:pt x="787781" y="393827"/>
                  </a:cubicBezTo>
                  <a:cubicBezTo>
                    <a:pt x="787781" y="611251"/>
                    <a:pt x="611378" y="787781"/>
                    <a:pt x="393827" y="787781"/>
                  </a:cubicBezTo>
                  <a:cubicBezTo>
                    <a:pt x="176276" y="787781"/>
                    <a:pt x="0" y="611378"/>
                    <a:pt x="0" y="393827"/>
                  </a:cubicBezTo>
                  <a:close/>
                </a:path>
              </a:pathLst>
            </a:custGeom>
            <a:solidFill>
              <a:srgbClr val="007AB4"/>
            </a:solidFill>
            <a:ln w="14299" cap="sq">
              <a:solidFill>
                <a:srgbClr val="007AB4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235402" y="5394598"/>
            <a:ext cx="576520" cy="521618"/>
            <a:chOff x="0" y="0"/>
            <a:chExt cx="768693" cy="69549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68697" cy="695487"/>
            </a:xfrm>
            <a:custGeom>
              <a:avLst/>
              <a:gdLst/>
              <a:ahLst/>
              <a:cxnLst/>
              <a:rect r="r" b="b" t="t" l="l"/>
              <a:pathLst>
                <a:path h="695487" w="768697">
                  <a:moveTo>
                    <a:pt x="0" y="0"/>
                  </a:moveTo>
                  <a:lnTo>
                    <a:pt x="768697" y="0"/>
                  </a:lnTo>
                  <a:lnTo>
                    <a:pt x="768697" y="695487"/>
                  </a:lnTo>
                  <a:lnTo>
                    <a:pt x="0" y="69548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6084" t="0" r="-66084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768693" cy="695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75"/>
                </a:lnSpc>
              </a:pPr>
              <a:r>
                <a:rPr lang="en-US" sz="1229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03</a:t>
              </a: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1994916" y="5362184"/>
            <a:ext cx="3408874" cy="357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7"/>
              </a:lnSpc>
            </a:pPr>
            <a:r>
              <a:rPr lang="en-US" sz="1681" b="true">
                <a:solidFill>
                  <a:srgbClr val="0B192D"/>
                </a:solidFill>
                <a:latin typeface="Aptos Bold"/>
                <a:ea typeface="Aptos Bold"/>
                <a:cs typeface="Aptos Bold"/>
                <a:sym typeface="Aptos Bold"/>
              </a:rPr>
              <a:t>COMMUNICATION FAILURES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2009575" y="5686658"/>
            <a:ext cx="3408874" cy="265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5"/>
              </a:lnSpc>
            </a:pPr>
            <a:r>
              <a:rPr lang="en-US" sz="1321">
                <a:solidFill>
                  <a:srgbClr val="465465"/>
                </a:solidFill>
                <a:latin typeface="Aptos"/>
                <a:ea typeface="Aptos"/>
                <a:cs typeface="Aptos"/>
                <a:sym typeface="Aptos"/>
              </a:rPr>
              <a:t>Network outages sever coordination between teams.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953243" y="6389027"/>
            <a:ext cx="4750975" cy="1140847"/>
            <a:chOff x="0" y="0"/>
            <a:chExt cx="6334633" cy="152113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334633" cy="1521079"/>
            </a:xfrm>
            <a:custGeom>
              <a:avLst/>
              <a:gdLst/>
              <a:ahLst/>
              <a:cxnLst/>
              <a:rect r="r" b="b" t="t" l="l"/>
              <a:pathLst>
                <a:path h="1521079" w="6334633">
                  <a:moveTo>
                    <a:pt x="0" y="121666"/>
                  </a:moveTo>
                  <a:cubicBezTo>
                    <a:pt x="0" y="54483"/>
                    <a:pt x="54483" y="0"/>
                    <a:pt x="121666" y="0"/>
                  </a:cubicBezTo>
                  <a:lnTo>
                    <a:pt x="6212967" y="0"/>
                  </a:lnTo>
                  <a:cubicBezTo>
                    <a:pt x="6280150" y="0"/>
                    <a:pt x="6334633" y="54483"/>
                    <a:pt x="6334633" y="121666"/>
                  </a:cubicBezTo>
                  <a:lnTo>
                    <a:pt x="6334633" y="1399413"/>
                  </a:lnTo>
                  <a:cubicBezTo>
                    <a:pt x="6334633" y="1466596"/>
                    <a:pt x="6280150" y="1521079"/>
                    <a:pt x="6212967" y="1521079"/>
                  </a:cubicBezTo>
                  <a:lnTo>
                    <a:pt x="121666" y="1521079"/>
                  </a:lnTo>
                  <a:cubicBezTo>
                    <a:pt x="54483" y="1521079"/>
                    <a:pt x="0" y="1466596"/>
                    <a:pt x="0" y="1399413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7E0E9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953243" y="6389027"/>
            <a:ext cx="90745" cy="1140847"/>
            <a:chOff x="0" y="0"/>
            <a:chExt cx="120993" cy="152113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21031" cy="1521079"/>
            </a:xfrm>
            <a:custGeom>
              <a:avLst/>
              <a:gdLst/>
              <a:ahLst/>
              <a:cxnLst/>
              <a:rect r="r" b="b" t="t" l="l"/>
              <a:pathLst>
                <a:path h="1521079" w="121031">
                  <a:moveTo>
                    <a:pt x="0" y="0"/>
                  </a:moveTo>
                  <a:lnTo>
                    <a:pt x="121031" y="0"/>
                  </a:lnTo>
                  <a:lnTo>
                    <a:pt x="121031" y="1521079"/>
                  </a:lnTo>
                  <a:lnTo>
                    <a:pt x="0" y="1521079"/>
                  </a:lnTo>
                  <a:close/>
                </a:path>
              </a:pathLst>
            </a:custGeom>
            <a:solidFill>
              <a:srgbClr val="259766"/>
            </a:solidFill>
            <a:ln w="15252" cap="sq">
              <a:solidFill>
                <a:srgbClr val="259766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1228258" y="6636582"/>
            <a:ext cx="590817" cy="590817"/>
            <a:chOff x="0" y="0"/>
            <a:chExt cx="787756" cy="78775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87781" cy="787781"/>
            </a:xfrm>
            <a:custGeom>
              <a:avLst/>
              <a:gdLst/>
              <a:ahLst/>
              <a:cxnLst/>
              <a:rect r="r" b="b" t="t" l="l"/>
              <a:pathLst>
                <a:path h="787781" w="787781">
                  <a:moveTo>
                    <a:pt x="0" y="393827"/>
                  </a:moveTo>
                  <a:cubicBezTo>
                    <a:pt x="0" y="176403"/>
                    <a:pt x="176403" y="0"/>
                    <a:pt x="393827" y="0"/>
                  </a:cubicBezTo>
                  <a:cubicBezTo>
                    <a:pt x="611251" y="0"/>
                    <a:pt x="787781" y="176403"/>
                    <a:pt x="787781" y="393827"/>
                  </a:cubicBezTo>
                  <a:cubicBezTo>
                    <a:pt x="787781" y="611251"/>
                    <a:pt x="611378" y="787781"/>
                    <a:pt x="393827" y="787781"/>
                  </a:cubicBezTo>
                  <a:cubicBezTo>
                    <a:pt x="176276" y="787781"/>
                    <a:pt x="0" y="611378"/>
                    <a:pt x="0" y="393827"/>
                  </a:cubicBezTo>
                  <a:close/>
                </a:path>
              </a:pathLst>
            </a:custGeom>
            <a:solidFill>
              <a:srgbClr val="259766"/>
            </a:solidFill>
            <a:ln w="14299" cap="sq">
              <a:solidFill>
                <a:srgbClr val="259766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1235402" y="6657461"/>
            <a:ext cx="576520" cy="521618"/>
            <a:chOff x="0" y="0"/>
            <a:chExt cx="768693" cy="69549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768697" cy="695487"/>
            </a:xfrm>
            <a:custGeom>
              <a:avLst/>
              <a:gdLst/>
              <a:ahLst/>
              <a:cxnLst/>
              <a:rect r="r" b="b" t="t" l="l"/>
              <a:pathLst>
                <a:path h="695487" w="768697">
                  <a:moveTo>
                    <a:pt x="0" y="0"/>
                  </a:moveTo>
                  <a:lnTo>
                    <a:pt x="768697" y="0"/>
                  </a:lnTo>
                  <a:lnTo>
                    <a:pt x="768697" y="695487"/>
                  </a:lnTo>
                  <a:lnTo>
                    <a:pt x="0" y="69548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6084" t="0" r="-66084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0"/>
              <a:ext cx="768693" cy="695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75"/>
                </a:lnSpc>
              </a:pPr>
              <a:r>
                <a:rPr lang="en-US" sz="1229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04</a:t>
              </a: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1994916" y="6625047"/>
            <a:ext cx="3408874" cy="357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7"/>
              </a:lnSpc>
            </a:pPr>
            <a:r>
              <a:rPr lang="en-US" sz="1681" b="true">
                <a:solidFill>
                  <a:srgbClr val="0B192D"/>
                </a:solidFill>
                <a:latin typeface="Aptos Bold"/>
                <a:ea typeface="Aptos Bold"/>
                <a:cs typeface="Aptos Bold"/>
                <a:sym typeface="Aptos Bold"/>
              </a:rPr>
              <a:t>SURVIVOR LOCALIZATION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2009575" y="6952812"/>
            <a:ext cx="3408874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5"/>
              </a:lnSpc>
            </a:pPr>
            <a:r>
              <a:rPr lang="en-US" sz="1321">
                <a:solidFill>
                  <a:srgbClr val="465465"/>
                </a:solidFill>
                <a:latin typeface="Aptos"/>
                <a:ea typeface="Aptos"/>
                <a:cs typeface="Aptos"/>
                <a:sym typeface="Aptos"/>
              </a:rPr>
              <a:t>Difficulty pinpointing survivors in rubble or floodwater.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953243" y="7651890"/>
            <a:ext cx="4750975" cy="1140847"/>
            <a:chOff x="0" y="0"/>
            <a:chExt cx="6334633" cy="152113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6334633" cy="1521079"/>
            </a:xfrm>
            <a:custGeom>
              <a:avLst/>
              <a:gdLst/>
              <a:ahLst/>
              <a:cxnLst/>
              <a:rect r="r" b="b" t="t" l="l"/>
              <a:pathLst>
                <a:path h="1521079" w="6334633">
                  <a:moveTo>
                    <a:pt x="0" y="121666"/>
                  </a:moveTo>
                  <a:cubicBezTo>
                    <a:pt x="0" y="54483"/>
                    <a:pt x="54483" y="0"/>
                    <a:pt x="121666" y="0"/>
                  </a:cubicBezTo>
                  <a:lnTo>
                    <a:pt x="6212967" y="0"/>
                  </a:lnTo>
                  <a:cubicBezTo>
                    <a:pt x="6280150" y="0"/>
                    <a:pt x="6334633" y="54483"/>
                    <a:pt x="6334633" y="121666"/>
                  </a:cubicBezTo>
                  <a:lnTo>
                    <a:pt x="6334633" y="1399413"/>
                  </a:lnTo>
                  <a:cubicBezTo>
                    <a:pt x="6334633" y="1466596"/>
                    <a:pt x="6280150" y="1521079"/>
                    <a:pt x="6212967" y="1521079"/>
                  </a:cubicBezTo>
                  <a:lnTo>
                    <a:pt x="121666" y="1521079"/>
                  </a:lnTo>
                  <a:cubicBezTo>
                    <a:pt x="54483" y="1521079"/>
                    <a:pt x="0" y="1466596"/>
                    <a:pt x="0" y="1399413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7E0E9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953243" y="7651890"/>
            <a:ext cx="90745" cy="1140847"/>
            <a:chOff x="0" y="0"/>
            <a:chExt cx="120993" cy="152113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21031" cy="1521079"/>
            </a:xfrm>
            <a:custGeom>
              <a:avLst/>
              <a:gdLst/>
              <a:ahLst/>
              <a:cxnLst/>
              <a:rect r="r" b="b" t="t" l="l"/>
              <a:pathLst>
                <a:path h="1521079" w="121031">
                  <a:moveTo>
                    <a:pt x="0" y="0"/>
                  </a:moveTo>
                  <a:lnTo>
                    <a:pt x="121031" y="0"/>
                  </a:lnTo>
                  <a:lnTo>
                    <a:pt x="121031" y="1521079"/>
                  </a:lnTo>
                  <a:lnTo>
                    <a:pt x="0" y="1521079"/>
                  </a:lnTo>
                  <a:close/>
                </a:path>
              </a:pathLst>
            </a:custGeom>
            <a:solidFill>
              <a:srgbClr val="CD4448"/>
            </a:solidFill>
            <a:ln w="15252" cap="sq">
              <a:solidFill>
                <a:srgbClr val="CD4448"/>
              </a:solidFill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1228258" y="7899444"/>
            <a:ext cx="590817" cy="590817"/>
            <a:chOff x="0" y="0"/>
            <a:chExt cx="787756" cy="78775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787781" cy="787781"/>
            </a:xfrm>
            <a:custGeom>
              <a:avLst/>
              <a:gdLst/>
              <a:ahLst/>
              <a:cxnLst/>
              <a:rect r="r" b="b" t="t" l="l"/>
              <a:pathLst>
                <a:path h="787781" w="787781">
                  <a:moveTo>
                    <a:pt x="0" y="393827"/>
                  </a:moveTo>
                  <a:cubicBezTo>
                    <a:pt x="0" y="176403"/>
                    <a:pt x="176403" y="0"/>
                    <a:pt x="393827" y="0"/>
                  </a:cubicBezTo>
                  <a:cubicBezTo>
                    <a:pt x="611251" y="0"/>
                    <a:pt x="787781" y="176403"/>
                    <a:pt x="787781" y="393827"/>
                  </a:cubicBezTo>
                  <a:cubicBezTo>
                    <a:pt x="787781" y="611251"/>
                    <a:pt x="611378" y="787781"/>
                    <a:pt x="393827" y="787781"/>
                  </a:cubicBezTo>
                  <a:cubicBezTo>
                    <a:pt x="176276" y="787781"/>
                    <a:pt x="0" y="611378"/>
                    <a:pt x="0" y="393827"/>
                  </a:cubicBezTo>
                  <a:close/>
                </a:path>
              </a:pathLst>
            </a:custGeom>
            <a:solidFill>
              <a:srgbClr val="CD4448"/>
            </a:solidFill>
            <a:ln w="14299" cap="sq">
              <a:solidFill>
                <a:srgbClr val="CD4448"/>
              </a:solidFill>
              <a:prstDash val="solid"/>
              <a:miter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1235402" y="7920323"/>
            <a:ext cx="576520" cy="521618"/>
            <a:chOff x="0" y="0"/>
            <a:chExt cx="768693" cy="69549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768697" cy="695487"/>
            </a:xfrm>
            <a:custGeom>
              <a:avLst/>
              <a:gdLst/>
              <a:ahLst/>
              <a:cxnLst/>
              <a:rect r="r" b="b" t="t" l="l"/>
              <a:pathLst>
                <a:path h="695487" w="768697">
                  <a:moveTo>
                    <a:pt x="0" y="0"/>
                  </a:moveTo>
                  <a:lnTo>
                    <a:pt x="768697" y="0"/>
                  </a:lnTo>
                  <a:lnTo>
                    <a:pt x="768697" y="695487"/>
                  </a:lnTo>
                  <a:lnTo>
                    <a:pt x="0" y="69548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6084" t="0" r="-66084" b="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0"/>
              <a:ext cx="768693" cy="695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75"/>
                </a:lnSpc>
              </a:pPr>
              <a:r>
                <a:rPr lang="en-US" sz="1229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05</a:t>
              </a:r>
            </a:p>
          </p:txBody>
        </p:sp>
      </p:grpSp>
      <p:sp>
        <p:nvSpPr>
          <p:cNvPr name="TextBox 61" id="61"/>
          <p:cNvSpPr txBox="true"/>
          <p:nvPr/>
        </p:nvSpPr>
        <p:spPr>
          <a:xfrm rot="0">
            <a:off x="1994916" y="7887900"/>
            <a:ext cx="3408874" cy="357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7"/>
              </a:lnSpc>
            </a:pPr>
            <a:r>
              <a:rPr lang="en-US" sz="1681" b="true">
                <a:solidFill>
                  <a:srgbClr val="0B192D"/>
                </a:solidFill>
                <a:latin typeface="Aptos Bold"/>
                <a:ea typeface="Aptos Bold"/>
                <a:cs typeface="Aptos Bold"/>
                <a:sym typeface="Aptos Bold"/>
              </a:rPr>
              <a:t>PERSONNEL RISK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2009575" y="8225199"/>
            <a:ext cx="3408874" cy="265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5"/>
              </a:lnSpc>
            </a:pPr>
            <a:r>
              <a:rPr lang="en-US" sz="1321">
                <a:solidFill>
                  <a:srgbClr val="465465"/>
                </a:solidFill>
                <a:latin typeface="Aptos"/>
                <a:ea typeface="Aptos"/>
                <a:cs typeface="Aptos"/>
                <a:sym typeface="Aptos"/>
              </a:rPr>
              <a:t>Unstable terrain puts human rescue responders in danger.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6332563" y="2118474"/>
            <a:ext cx="4301109" cy="306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0B192D"/>
                </a:solidFill>
                <a:latin typeface="Aptos Bold"/>
                <a:ea typeface="Aptos Bold"/>
                <a:cs typeface="Aptos Bold"/>
                <a:sym typeface="Aptos Bold"/>
              </a:rPr>
              <a:t>AERORESCUE NEXUS</a:t>
            </a:r>
          </a:p>
        </p:txBody>
      </p:sp>
      <p:grpSp>
        <p:nvGrpSpPr>
          <p:cNvPr name="Group 64" id="64"/>
          <p:cNvGrpSpPr/>
          <p:nvPr/>
        </p:nvGrpSpPr>
        <p:grpSpPr>
          <a:xfrm rot="0">
            <a:off x="6279213" y="2627909"/>
            <a:ext cx="4476436" cy="5478485"/>
            <a:chOff x="0" y="0"/>
            <a:chExt cx="5968581" cy="7304646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5968619" cy="7304659"/>
            </a:xfrm>
            <a:custGeom>
              <a:avLst/>
              <a:gdLst/>
              <a:ahLst/>
              <a:cxnLst/>
              <a:rect r="r" b="b" t="t" l="l"/>
              <a:pathLst>
                <a:path h="7304659" w="5968619">
                  <a:moveTo>
                    <a:pt x="0" y="477520"/>
                  </a:moveTo>
                  <a:cubicBezTo>
                    <a:pt x="0" y="213741"/>
                    <a:pt x="213741" y="0"/>
                    <a:pt x="477520" y="0"/>
                  </a:cubicBezTo>
                  <a:lnTo>
                    <a:pt x="5491099" y="0"/>
                  </a:lnTo>
                  <a:cubicBezTo>
                    <a:pt x="5754751" y="0"/>
                    <a:pt x="5968619" y="213741"/>
                    <a:pt x="5968619" y="477520"/>
                  </a:cubicBezTo>
                  <a:lnTo>
                    <a:pt x="5968619" y="6827139"/>
                  </a:lnTo>
                  <a:cubicBezTo>
                    <a:pt x="5968619" y="7090791"/>
                    <a:pt x="5754878" y="7304659"/>
                    <a:pt x="5491099" y="7304659"/>
                  </a:cubicBezTo>
                  <a:lnTo>
                    <a:pt x="477520" y="7304659"/>
                  </a:lnTo>
                  <a:cubicBezTo>
                    <a:pt x="213868" y="7304659"/>
                    <a:pt x="0" y="7090918"/>
                    <a:pt x="0" y="6827139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7E0E9"/>
              </a:solidFill>
              <a:prstDash val="solid"/>
              <a:miter/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7512920" y="3945674"/>
            <a:ext cx="2038036" cy="2038036"/>
            <a:chOff x="0" y="0"/>
            <a:chExt cx="2717381" cy="2717381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717419" cy="2717292"/>
            </a:xfrm>
            <a:custGeom>
              <a:avLst/>
              <a:gdLst/>
              <a:ahLst/>
              <a:cxnLst/>
              <a:rect r="r" b="b" t="t" l="l"/>
              <a:pathLst>
                <a:path h="2717292" w="2717419">
                  <a:moveTo>
                    <a:pt x="0" y="1358646"/>
                  </a:moveTo>
                  <a:cubicBezTo>
                    <a:pt x="0" y="608330"/>
                    <a:pt x="608330" y="0"/>
                    <a:pt x="1358646" y="0"/>
                  </a:cubicBezTo>
                  <a:cubicBezTo>
                    <a:pt x="2108962" y="0"/>
                    <a:pt x="2717419" y="608330"/>
                    <a:pt x="2717419" y="1358646"/>
                  </a:cubicBezTo>
                  <a:cubicBezTo>
                    <a:pt x="2717419" y="2108962"/>
                    <a:pt x="2109089" y="2717292"/>
                    <a:pt x="1358773" y="2717292"/>
                  </a:cubicBezTo>
                  <a:cubicBezTo>
                    <a:pt x="608457" y="2717292"/>
                    <a:pt x="0" y="2109089"/>
                    <a:pt x="0" y="1358646"/>
                  </a:cubicBezTo>
                  <a:close/>
                </a:path>
              </a:pathLst>
            </a:custGeom>
            <a:solidFill>
              <a:srgbClr val="0B192D"/>
            </a:solidFill>
            <a:ln w="47662" cap="sq">
              <a:solidFill>
                <a:srgbClr val="00A6D2"/>
              </a:solidFill>
              <a:prstDash val="solid"/>
              <a:miter/>
            </a:ln>
          </p:spPr>
        </p:sp>
      </p:grpSp>
      <p:grpSp>
        <p:nvGrpSpPr>
          <p:cNvPr name="Group 68" id="68"/>
          <p:cNvGrpSpPr/>
          <p:nvPr/>
        </p:nvGrpSpPr>
        <p:grpSpPr>
          <a:xfrm rot="0">
            <a:off x="7817363" y="4406275"/>
            <a:ext cx="1496216" cy="1029500"/>
            <a:chOff x="0" y="0"/>
            <a:chExt cx="1994954" cy="1372667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994951" cy="1372672"/>
            </a:xfrm>
            <a:custGeom>
              <a:avLst/>
              <a:gdLst/>
              <a:ahLst/>
              <a:cxnLst/>
              <a:rect r="r" b="b" t="t" l="l"/>
              <a:pathLst>
                <a:path h="1372672" w="1994951">
                  <a:moveTo>
                    <a:pt x="0" y="0"/>
                  </a:moveTo>
                  <a:lnTo>
                    <a:pt x="1994951" y="0"/>
                  </a:lnTo>
                  <a:lnTo>
                    <a:pt x="1994951" y="1372672"/>
                  </a:lnTo>
                  <a:lnTo>
                    <a:pt x="0" y="1372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8281" t="0" r="-38282" b="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0"/>
              <a:ext cx="1994954" cy="13726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1"/>
                </a:lnSpc>
              </a:pPr>
              <a:r>
                <a:rPr lang="en-US" sz="18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AI</a:t>
              </a:r>
            </a:p>
            <a:p>
              <a:pPr algn="ctr">
                <a:lnSpc>
                  <a:spcPts val="2161"/>
                </a:lnSpc>
              </a:pPr>
              <a:r>
                <a:rPr lang="en-US" sz="18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DECISION</a:t>
              </a:r>
            </a:p>
            <a:p>
              <a:pPr algn="ctr">
                <a:lnSpc>
                  <a:spcPts val="2161"/>
                </a:lnSpc>
              </a:pPr>
              <a:r>
                <a:rPr lang="en-US" sz="18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ENGINE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6883194" y="3122066"/>
            <a:ext cx="3282210" cy="481965"/>
            <a:chOff x="0" y="0"/>
            <a:chExt cx="4376280" cy="64262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376293" cy="642620"/>
            </a:xfrm>
            <a:custGeom>
              <a:avLst/>
              <a:gdLst/>
              <a:ahLst/>
              <a:cxnLst/>
              <a:rect r="r" b="b" t="t" l="l"/>
              <a:pathLst>
                <a:path h="642620" w="4376293">
                  <a:moveTo>
                    <a:pt x="0" y="51435"/>
                  </a:moveTo>
                  <a:cubicBezTo>
                    <a:pt x="0" y="22987"/>
                    <a:pt x="22987" y="0"/>
                    <a:pt x="51435" y="0"/>
                  </a:cubicBezTo>
                  <a:lnTo>
                    <a:pt x="4324858" y="0"/>
                  </a:lnTo>
                  <a:cubicBezTo>
                    <a:pt x="4353306" y="0"/>
                    <a:pt x="4376293" y="22987"/>
                    <a:pt x="4376293" y="51435"/>
                  </a:cubicBezTo>
                  <a:lnTo>
                    <a:pt x="4376293" y="591185"/>
                  </a:lnTo>
                  <a:cubicBezTo>
                    <a:pt x="4376293" y="619633"/>
                    <a:pt x="4353306" y="642620"/>
                    <a:pt x="4324858" y="642620"/>
                  </a:cubicBezTo>
                  <a:lnTo>
                    <a:pt x="51435" y="642620"/>
                  </a:lnTo>
                  <a:cubicBezTo>
                    <a:pt x="22987" y="642620"/>
                    <a:pt x="0" y="619633"/>
                    <a:pt x="0" y="591185"/>
                  </a:cubicBezTo>
                  <a:close/>
                </a:path>
              </a:pathLst>
            </a:custGeom>
            <a:solidFill>
              <a:srgbClr val="E8F6FB"/>
            </a:solidFill>
            <a:ln w="15252" cap="sq">
              <a:solidFill>
                <a:srgbClr val="E8F6FB"/>
              </a:solidFill>
              <a:prstDash val="solid"/>
              <a:miter/>
            </a:ln>
          </p:spPr>
        </p:sp>
      </p:grpSp>
      <p:grpSp>
        <p:nvGrpSpPr>
          <p:cNvPr name="Group 73" id="73"/>
          <p:cNvGrpSpPr/>
          <p:nvPr/>
        </p:nvGrpSpPr>
        <p:grpSpPr>
          <a:xfrm rot="0">
            <a:off x="6890814" y="3136554"/>
            <a:ext cx="3266961" cy="439255"/>
            <a:chOff x="0" y="0"/>
            <a:chExt cx="4355948" cy="585673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4355947" cy="585674"/>
            </a:xfrm>
            <a:custGeom>
              <a:avLst/>
              <a:gdLst/>
              <a:ahLst/>
              <a:cxnLst/>
              <a:rect r="r" b="b" t="t" l="l"/>
              <a:pathLst>
                <a:path h="585674" w="4355947">
                  <a:moveTo>
                    <a:pt x="0" y="0"/>
                  </a:moveTo>
                  <a:lnTo>
                    <a:pt x="4355947" y="0"/>
                  </a:lnTo>
                  <a:lnTo>
                    <a:pt x="4355947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4920" r="0" b="-94919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9525"/>
              <a:ext cx="4355948" cy="5951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13"/>
                </a:lnSpc>
              </a:pPr>
              <a:r>
                <a:rPr lang="en-US" sz="1260" b="true">
                  <a:solidFill>
                    <a:srgbClr val="007AB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SEARCH UAVs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6890833" y="6273108"/>
            <a:ext cx="3282210" cy="481965"/>
            <a:chOff x="0" y="0"/>
            <a:chExt cx="4376280" cy="64262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4376293" cy="642620"/>
            </a:xfrm>
            <a:custGeom>
              <a:avLst/>
              <a:gdLst/>
              <a:ahLst/>
              <a:cxnLst/>
              <a:rect r="r" b="b" t="t" l="l"/>
              <a:pathLst>
                <a:path h="642620" w="4376293">
                  <a:moveTo>
                    <a:pt x="0" y="51435"/>
                  </a:moveTo>
                  <a:cubicBezTo>
                    <a:pt x="0" y="22987"/>
                    <a:pt x="22987" y="0"/>
                    <a:pt x="51435" y="0"/>
                  </a:cubicBezTo>
                  <a:lnTo>
                    <a:pt x="4324858" y="0"/>
                  </a:lnTo>
                  <a:cubicBezTo>
                    <a:pt x="4353306" y="0"/>
                    <a:pt x="4376293" y="22987"/>
                    <a:pt x="4376293" y="51435"/>
                  </a:cubicBezTo>
                  <a:lnTo>
                    <a:pt x="4376293" y="591185"/>
                  </a:lnTo>
                  <a:cubicBezTo>
                    <a:pt x="4376293" y="619633"/>
                    <a:pt x="4353306" y="642620"/>
                    <a:pt x="4324858" y="642620"/>
                  </a:cubicBezTo>
                  <a:lnTo>
                    <a:pt x="51435" y="642620"/>
                  </a:lnTo>
                  <a:cubicBezTo>
                    <a:pt x="22987" y="642620"/>
                    <a:pt x="0" y="619633"/>
                    <a:pt x="0" y="591185"/>
                  </a:cubicBezTo>
                  <a:close/>
                </a:path>
              </a:pathLst>
            </a:custGeom>
            <a:solidFill>
              <a:srgbClr val="FDF0E5"/>
            </a:solidFill>
            <a:ln w="15252" cap="sq">
              <a:solidFill>
                <a:srgbClr val="FDF0E5"/>
              </a:solidFill>
              <a:prstDash val="solid"/>
              <a:miter/>
            </a:ln>
          </p:spPr>
        </p:sp>
      </p:grpSp>
      <p:grpSp>
        <p:nvGrpSpPr>
          <p:cNvPr name="Group 78" id="78"/>
          <p:cNvGrpSpPr/>
          <p:nvPr/>
        </p:nvGrpSpPr>
        <p:grpSpPr>
          <a:xfrm rot="0">
            <a:off x="6854171" y="6294463"/>
            <a:ext cx="3266961" cy="439255"/>
            <a:chOff x="0" y="0"/>
            <a:chExt cx="4355948" cy="585673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4355947" cy="585674"/>
            </a:xfrm>
            <a:custGeom>
              <a:avLst/>
              <a:gdLst/>
              <a:ahLst/>
              <a:cxnLst/>
              <a:rect r="r" b="b" t="t" l="l"/>
              <a:pathLst>
                <a:path h="585674" w="4355947">
                  <a:moveTo>
                    <a:pt x="0" y="0"/>
                  </a:moveTo>
                  <a:lnTo>
                    <a:pt x="4355947" y="0"/>
                  </a:lnTo>
                  <a:lnTo>
                    <a:pt x="4355947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4920" r="0" b="-94919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9525"/>
              <a:ext cx="4355948" cy="5951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13"/>
                </a:lnSpc>
              </a:pPr>
              <a:r>
                <a:rPr lang="en-US" sz="1260" b="true">
                  <a:solidFill>
                    <a:srgbClr val="E8772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VERIFY ROVERS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6883194" y="6965547"/>
            <a:ext cx="3282210" cy="481965"/>
            <a:chOff x="0" y="0"/>
            <a:chExt cx="4376280" cy="64262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4376293" cy="642620"/>
            </a:xfrm>
            <a:custGeom>
              <a:avLst/>
              <a:gdLst/>
              <a:ahLst/>
              <a:cxnLst/>
              <a:rect r="r" b="b" t="t" l="l"/>
              <a:pathLst>
                <a:path h="642620" w="4376293">
                  <a:moveTo>
                    <a:pt x="0" y="51435"/>
                  </a:moveTo>
                  <a:cubicBezTo>
                    <a:pt x="0" y="22987"/>
                    <a:pt x="22987" y="0"/>
                    <a:pt x="51435" y="0"/>
                  </a:cubicBezTo>
                  <a:lnTo>
                    <a:pt x="4324858" y="0"/>
                  </a:lnTo>
                  <a:cubicBezTo>
                    <a:pt x="4353306" y="0"/>
                    <a:pt x="4376293" y="22987"/>
                    <a:pt x="4376293" y="51435"/>
                  </a:cubicBezTo>
                  <a:lnTo>
                    <a:pt x="4376293" y="591185"/>
                  </a:lnTo>
                  <a:cubicBezTo>
                    <a:pt x="4376293" y="619633"/>
                    <a:pt x="4353306" y="642620"/>
                    <a:pt x="4324858" y="642620"/>
                  </a:cubicBezTo>
                  <a:lnTo>
                    <a:pt x="51435" y="642620"/>
                  </a:lnTo>
                  <a:cubicBezTo>
                    <a:pt x="22987" y="642620"/>
                    <a:pt x="0" y="619633"/>
                    <a:pt x="0" y="591185"/>
                  </a:cubicBezTo>
                  <a:close/>
                </a:path>
              </a:pathLst>
            </a:custGeom>
            <a:solidFill>
              <a:srgbClr val="E8F7EF"/>
            </a:solidFill>
            <a:ln w="15252" cap="sq">
              <a:solidFill>
                <a:srgbClr val="E8F7EF"/>
              </a:solidFill>
              <a:prstDash val="solid"/>
              <a:miter/>
            </a:ln>
          </p:spPr>
        </p:sp>
      </p:grpSp>
      <p:grpSp>
        <p:nvGrpSpPr>
          <p:cNvPr name="Group 83" id="83"/>
          <p:cNvGrpSpPr/>
          <p:nvPr/>
        </p:nvGrpSpPr>
        <p:grpSpPr>
          <a:xfrm rot="0">
            <a:off x="6890814" y="6980044"/>
            <a:ext cx="3266961" cy="439255"/>
            <a:chOff x="0" y="0"/>
            <a:chExt cx="4355948" cy="585673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4355947" cy="585674"/>
            </a:xfrm>
            <a:custGeom>
              <a:avLst/>
              <a:gdLst/>
              <a:ahLst/>
              <a:cxnLst/>
              <a:rect r="r" b="b" t="t" l="l"/>
              <a:pathLst>
                <a:path h="585674" w="4355947">
                  <a:moveTo>
                    <a:pt x="0" y="0"/>
                  </a:moveTo>
                  <a:lnTo>
                    <a:pt x="4355947" y="0"/>
                  </a:lnTo>
                  <a:lnTo>
                    <a:pt x="4355947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4920" r="0" b="-94919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9525"/>
              <a:ext cx="4355948" cy="5951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13"/>
                </a:lnSpc>
              </a:pPr>
              <a:r>
                <a:rPr lang="en-US" sz="1260" b="true">
                  <a:solidFill>
                    <a:srgbClr val="25976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DELIVERY UAVs</a:t>
              </a:r>
            </a:p>
          </p:txBody>
        </p:sp>
      </p:grpSp>
      <p:sp>
        <p:nvSpPr>
          <p:cNvPr name="TextBox 86" id="86"/>
          <p:cNvSpPr txBox="true"/>
          <p:nvPr/>
        </p:nvSpPr>
        <p:spPr>
          <a:xfrm rot="0">
            <a:off x="11713435" y="2118474"/>
            <a:ext cx="4026579" cy="306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0B192D"/>
                </a:solidFill>
                <a:latin typeface="Aptos Bold"/>
                <a:ea typeface="Aptos Bold"/>
                <a:cs typeface="Aptos Bold"/>
                <a:sym typeface="Aptos Bold"/>
              </a:rPr>
              <a:t>THE SOLUTION</a:t>
            </a:r>
          </a:p>
        </p:txBody>
      </p:sp>
      <p:grpSp>
        <p:nvGrpSpPr>
          <p:cNvPr name="Group 87" id="87"/>
          <p:cNvGrpSpPr/>
          <p:nvPr/>
        </p:nvGrpSpPr>
        <p:grpSpPr>
          <a:xfrm rot="0">
            <a:off x="11660086" y="2600449"/>
            <a:ext cx="5533396" cy="1223200"/>
            <a:chOff x="0" y="0"/>
            <a:chExt cx="7377862" cy="1630934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7377811" cy="1630934"/>
            </a:xfrm>
            <a:custGeom>
              <a:avLst/>
              <a:gdLst/>
              <a:ahLst/>
              <a:cxnLst/>
              <a:rect r="r" b="b" t="t" l="l"/>
              <a:pathLst>
                <a:path h="1630934" w="7377811">
                  <a:moveTo>
                    <a:pt x="0" y="130429"/>
                  </a:moveTo>
                  <a:cubicBezTo>
                    <a:pt x="0" y="58420"/>
                    <a:pt x="58420" y="0"/>
                    <a:pt x="130429" y="0"/>
                  </a:cubicBezTo>
                  <a:lnTo>
                    <a:pt x="7247382" y="0"/>
                  </a:lnTo>
                  <a:cubicBezTo>
                    <a:pt x="7319390" y="0"/>
                    <a:pt x="7377811" y="58420"/>
                    <a:pt x="7377811" y="130429"/>
                  </a:cubicBezTo>
                  <a:lnTo>
                    <a:pt x="7377811" y="1500505"/>
                  </a:lnTo>
                  <a:cubicBezTo>
                    <a:pt x="7377811" y="1572514"/>
                    <a:pt x="7319390" y="1630934"/>
                    <a:pt x="7247382" y="1630934"/>
                  </a:cubicBezTo>
                  <a:lnTo>
                    <a:pt x="130429" y="1630934"/>
                  </a:lnTo>
                  <a:cubicBezTo>
                    <a:pt x="58420" y="1630934"/>
                    <a:pt x="0" y="1572514"/>
                    <a:pt x="0" y="1500505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7E0E9"/>
              </a:solidFill>
              <a:prstDash val="solid"/>
              <a:miter/>
            </a:ln>
          </p:spPr>
        </p:sp>
      </p:grpSp>
      <p:grpSp>
        <p:nvGrpSpPr>
          <p:cNvPr name="Group 89" id="89"/>
          <p:cNvGrpSpPr/>
          <p:nvPr/>
        </p:nvGrpSpPr>
        <p:grpSpPr>
          <a:xfrm rot="0">
            <a:off x="11962076" y="2943616"/>
            <a:ext cx="1140847" cy="481965"/>
            <a:chOff x="0" y="0"/>
            <a:chExt cx="1521130" cy="64262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521206" cy="642620"/>
            </a:xfrm>
            <a:custGeom>
              <a:avLst/>
              <a:gdLst/>
              <a:ahLst/>
              <a:cxnLst/>
              <a:rect r="r" b="b" t="t" l="l"/>
              <a:pathLst>
                <a:path h="642620" w="1521206">
                  <a:moveTo>
                    <a:pt x="0" y="51435"/>
                  </a:moveTo>
                  <a:cubicBezTo>
                    <a:pt x="0" y="22987"/>
                    <a:pt x="22987" y="0"/>
                    <a:pt x="51435" y="0"/>
                  </a:cubicBezTo>
                  <a:lnTo>
                    <a:pt x="1469771" y="0"/>
                  </a:lnTo>
                  <a:cubicBezTo>
                    <a:pt x="1498219" y="0"/>
                    <a:pt x="1521206" y="22987"/>
                    <a:pt x="1521206" y="51435"/>
                  </a:cubicBezTo>
                  <a:lnTo>
                    <a:pt x="1521206" y="591185"/>
                  </a:lnTo>
                  <a:cubicBezTo>
                    <a:pt x="1521206" y="619633"/>
                    <a:pt x="1498219" y="642620"/>
                    <a:pt x="1469771" y="642620"/>
                  </a:cubicBezTo>
                  <a:lnTo>
                    <a:pt x="51435" y="642620"/>
                  </a:lnTo>
                  <a:cubicBezTo>
                    <a:pt x="22987" y="642620"/>
                    <a:pt x="0" y="619633"/>
                    <a:pt x="0" y="591185"/>
                  </a:cubicBezTo>
                  <a:close/>
                </a:path>
              </a:pathLst>
            </a:custGeom>
            <a:solidFill>
              <a:srgbClr val="E8F6FB"/>
            </a:solidFill>
            <a:ln w="15252" cap="sq">
              <a:solidFill>
                <a:srgbClr val="E8F6FB"/>
              </a:solidFill>
              <a:prstDash val="solid"/>
              <a:miter/>
            </a:ln>
          </p:spPr>
        </p:sp>
      </p:grpSp>
      <p:grpSp>
        <p:nvGrpSpPr>
          <p:cNvPr name="Group 91" id="91"/>
          <p:cNvGrpSpPr/>
          <p:nvPr/>
        </p:nvGrpSpPr>
        <p:grpSpPr>
          <a:xfrm rot="0">
            <a:off x="11969706" y="2958103"/>
            <a:ext cx="1125588" cy="439255"/>
            <a:chOff x="0" y="0"/>
            <a:chExt cx="1500784" cy="585673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1500789" cy="585674"/>
            </a:xfrm>
            <a:custGeom>
              <a:avLst/>
              <a:gdLst/>
              <a:ahLst/>
              <a:cxnLst/>
              <a:rect r="r" b="b" t="t" l="l"/>
              <a:pathLst>
                <a:path h="585674" w="1500789">
                  <a:moveTo>
                    <a:pt x="0" y="0"/>
                  </a:moveTo>
                  <a:lnTo>
                    <a:pt x="1500789" y="0"/>
                  </a:lnTo>
                  <a:lnTo>
                    <a:pt x="1500789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9" t="0" r="-69" b="0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9525"/>
              <a:ext cx="1500784" cy="5951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13"/>
                </a:lnSpc>
              </a:pPr>
              <a:r>
                <a:rPr lang="en-US" sz="1260" b="true">
                  <a:solidFill>
                    <a:srgbClr val="00A6D2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D1–D15</a:t>
              </a:r>
            </a:p>
          </p:txBody>
        </p:sp>
      </p:grpSp>
      <p:sp>
        <p:nvSpPr>
          <p:cNvPr name="TextBox 94" id="94"/>
          <p:cNvSpPr txBox="true"/>
          <p:nvPr/>
        </p:nvSpPr>
        <p:spPr>
          <a:xfrm rot="0">
            <a:off x="13333190" y="2804808"/>
            <a:ext cx="3312785" cy="292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5"/>
              </a:lnSpc>
            </a:pPr>
            <a:r>
              <a:rPr lang="en-US" sz="1546" b="true">
                <a:solidFill>
                  <a:srgbClr val="0B192D"/>
                </a:solidFill>
                <a:latin typeface="Aptos Bold"/>
                <a:ea typeface="Aptos Bold"/>
                <a:cs typeface="Aptos Bold"/>
                <a:sym typeface="Aptos Bold"/>
              </a:rPr>
              <a:t>Search UAVs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13333190" y="3202886"/>
            <a:ext cx="3340237" cy="416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3"/>
              </a:lnSpc>
            </a:pPr>
            <a:r>
              <a:rPr lang="en-US" sz="1185">
                <a:solidFill>
                  <a:srgbClr val="465465"/>
                </a:solidFill>
                <a:latin typeface="Aptos"/>
                <a:ea typeface="Aptos"/>
                <a:cs typeface="Aptos"/>
                <a:sym typeface="Aptos"/>
              </a:rPr>
              <a:t>Wide-area surveillance • thermal imaging • human detection</a:t>
            </a:r>
          </a:p>
        </p:txBody>
      </p:sp>
      <p:grpSp>
        <p:nvGrpSpPr>
          <p:cNvPr name="Group 96" id="96"/>
          <p:cNvGrpSpPr/>
          <p:nvPr/>
        </p:nvGrpSpPr>
        <p:grpSpPr>
          <a:xfrm rot="0">
            <a:off x="11660086" y="3945674"/>
            <a:ext cx="5533396" cy="1223200"/>
            <a:chOff x="0" y="0"/>
            <a:chExt cx="7377862" cy="1630934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7377811" cy="1630934"/>
            </a:xfrm>
            <a:custGeom>
              <a:avLst/>
              <a:gdLst/>
              <a:ahLst/>
              <a:cxnLst/>
              <a:rect r="r" b="b" t="t" l="l"/>
              <a:pathLst>
                <a:path h="1630934" w="7377811">
                  <a:moveTo>
                    <a:pt x="0" y="130429"/>
                  </a:moveTo>
                  <a:cubicBezTo>
                    <a:pt x="0" y="58420"/>
                    <a:pt x="58420" y="0"/>
                    <a:pt x="130429" y="0"/>
                  </a:cubicBezTo>
                  <a:lnTo>
                    <a:pt x="7247382" y="0"/>
                  </a:lnTo>
                  <a:cubicBezTo>
                    <a:pt x="7319390" y="0"/>
                    <a:pt x="7377811" y="58420"/>
                    <a:pt x="7377811" y="130429"/>
                  </a:cubicBezTo>
                  <a:lnTo>
                    <a:pt x="7377811" y="1500505"/>
                  </a:lnTo>
                  <a:cubicBezTo>
                    <a:pt x="7377811" y="1572514"/>
                    <a:pt x="7319390" y="1630934"/>
                    <a:pt x="7247382" y="1630934"/>
                  </a:cubicBezTo>
                  <a:lnTo>
                    <a:pt x="130429" y="1630934"/>
                  </a:lnTo>
                  <a:cubicBezTo>
                    <a:pt x="58420" y="1630934"/>
                    <a:pt x="0" y="1572514"/>
                    <a:pt x="0" y="1500505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7E0E9"/>
              </a:solidFill>
              <a:prstDash val="solid"/>
              <a:miter/>
            </a:ln>
          </p:spPr>
        </p:sp>
      </p:grpSp>
      <p:grpSp>
        <p:nvGrpSpPr>
          <p:cNvPr name="Group 98" id="98"/>
          <p:cNvGrpSpPr/>
          <p:nvPr/>
        </p:nvGrpSpPr>
        <p:grpSpPr>
          <a:xfrm rot="0">
            <a:off x="11962076" y="4288841"/>
            <a:ext cx="1140847" cy="481965"/>
            <a:chOff x="0" y="0"/>
            <a:chExt cx="1521130" cy="64262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1521206" cy="642620"/>
            </a:xfrm>
            <a:custGeom>
              <a:avLst/>
              <a:gdLst/>
              <a:ahLst/>
              <a:cxnLst/>
              <a:rect r="r" b="b" t="t" l="l"/>
              <a:pathLst>
                <a:path h="642620" w="1521206">
                  <a:moveTo>
                    <a:pt x="0" y="51435"/>
                  </a:moveTo>
                  <a:cubicBezTo>
                    <a:pt x="0" y="22987"/>
                    <a:pt x="22987" y="0"/>
                    <a:pt x="51435" y="0"/>
                  </a:cubicBezTo>
                  <a:lnTo>
                    <a:pt x="1469771" y="0"/>
                  </a:lnTo>
                  <a:cubicBezTo>
                    <a:pt x="1498219" y="0"/>
                    <a:pt x="1521206" y="22987"/>
                    <a:pt x="1521206" y="51435"/>
                  </a:cubicBezTo>
                  <a:lnTo>
                    <a:pt x="1521206" y="591185"/>
                  </a:lnTo>
                  <a:cubicBezTo>
                    <a:pt x="1521206" y="619633"/>
                    <a:pt x="1498219" y="642620"/>
                    <a:pt x="1469771" y="642620"/>
                  </a:cubicBezTo>
                  <a:lnTo>
                    <a:pt x="51435" y="642620"/>
                  </a:lnTo>
                  <a:cubicBezTo>
                    <a:pt x="22987" y="642620"/>
                    <a:pt x="0" y="619633"/>
                    <a:pt x="0" y="591185"/>
                  </a:cubicBezTo>
                  <a:close/>
                </a:path>
              </a:pathLst>
            </a:custGeom>
            <a:solidFill>
              <a:srgbClr val="FDF0E5"/>
            </a:solidFill>
            <a:ln w="15252" cap="sq">
              <a:solidFill>
                <a:srgbClr val="FDF0E5"/>
              </a:solidFill>
              <a:prstDash val="solid"/>
              <a:miter/>
            </a:ln>
          </p:spPr>
        </p:sp>
      </p:grpSp>
      <p:grpSp>
        <p:nvGrpSpPr>
          <p:cNvPr name="Group 100" id="100"/>
          <p:cNvGrpSpPr/>
          <p:nvPr/>
        </p:nvGrpSpPr>
        <p:grpSpPr>
          <a:xfrm rot="0">
            <a:off x="11969706" y="4303328"/>
            <a:ext cx="1125588" cy="439255"/>
            <a:chOff x="0" y="0"/>
            <a:chExt cx="1500784" cy="585673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1500789" cy="585674"/>
            </a:xfrm>
            <a:custGeom>
              <a:avLst/>
              <a:gdLst/>
              <a:ahLst/>
              <a:cxnLst/>
              <a:rect r="r" b="b" t="t" l="l"/>
              <a:pathLst>
                <a:path h="585674" w="1500789">
                  <a:moveTo>
                    <a:pt x="0" y="0"/>
                  </a:moveTo>
                  <a:lnTo>
                    <a:pt x="1500789" y="0"/>
                  </a:lnTo>
                  <a:lnTo>
                    <a:pt x="1500789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9" t="0" r="-69" b="0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9525"/>
              <a:ext cx="1500784" cy="5951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13"/>
                </a:lnSpc>
              </a:pPr>
              <a:r>
                <a:rPr lang="en-US" sz="1260" b="true">
                  <a:solidFill>
                    <a:srgbClr val="E8772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R1–R15</a:t>
              </a:r>
            </a:p>
          </p:txBody>
        </p:sp>
      </p:grpSp>
      <p:sp>
        <p:nvSpPr>
          <p:cNvPr name="TextBox 103" id="103"/>
          <p:cNvSpPr txBox="true"/>
          <p:nvPr/>
        </p:nvSpPr>
        <p:spPr>
          <a:xfrm rot="0">
            <a:off x="13333190" y="4150033"/>
            <a:ext cx="3312785" cy="292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5"/>
              </a:lnSpc>
            </a:pPr>
            <a:r>
              <a:rPr lang="en-US" sz="1546" b="true">
                <a:solidFill>
                  <a:srgbClr val="0B192D"/>
                </a:solidFill>
                <a:latin typeface="Aptos Bold"/>
                <a:ea typeface="Aptos Bold"/>
                <a:cs typeface="Aptos Bold"/>
                <a:sym typeface="Aptos Bold"/>
              </a:rPr>
              <a:t>Verification Rovers</a:t>
            </a:r>
          </a:p>
        </p:txBody>
      </p:sp>
      <p:sp>
        <p:nvSpPr>
          <p:cNvPr name="TextBox 104" id="104"/>
          <p:cNvSpPr txBox="true"/>
          <p:nvPr/>
        </p:nvSpPr>
        <p:spPr>
          <a:xfrm rot="0">
            <a:off x="13333190" y="4548111"/>
            <a:ext cx="3340237" cy="416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3"/>
              </a:lnSpc>
            </a:pPr>
            <a:r>
              <a:rPr lang="en-US" sz="1185">
                <a:solidFill>
                  <a:srgbClr val="465465"/>
                </a:solidFill>
                <a:latin typeface="Aptos"/>
                <a:ea typeface="Aptos"/>
                <a:cs typeface="Aptos"/>
                <a:sym typeface="Aptos"/>
              </a:rPr>
              <a:t>Close-range inspection • survivor verification • terrain assessment</a:t>
            </a:r>
          </a:p>
        </p:txBody>
      </p:sp>
      <p:grpSp>
        <p:nvGrpSpPr>
          <p:cNvPr name="Group 105" id="105"/>
          <p:cNvGrpSpPr/>
          <p:nvPr/>
        </p:nvGrpSpPr>
        <p:grpSpPr>
          <a:xfrm rot="0">
            <a:off x="11660086" y="5290890"/>
            <a:ext cx="5533396" cy="1223200"/>
            <a:chOff x="0" y="0"/>
            <a:chExt cx="7377862" cy="1630934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7377811" cy="1630934"/>
            </a:xfrm>
            <a:custGeom>
              <a:avLst/>
              <a:gdLst/>
              <a:ahLst/>
              <a:cxnLst/>
              <a:rect r="r" b="b" t="t" l="l"/>
              <a:pathLst>
                <a:path h="1630934" w="7377811">
                  <a:moveTo>
                    <a:pt x="0" y="130429"/>
                  </a:moveTo>
                  <a:cubicBezTo>
                    <a:pt x="0" y="58420"/>
                    <a:pt x="58420" y="0"/>
                    <a:pt x="130429" y="0"/>
                  </a:cubicBezTo>
                  <a:lnTo>
                    <a:pt x="7247382" y="0"/>
                  </a:lnTo>
                  <a:cubicBezTo>
                    <a:pt x="7319390" y="0"/>
                    <a:pt x="7377811" y="58420"/>
                    <a:pt x="7377811" y="130429"/>
                  </a:cubicBezTo>
                  <a:lnTo>
                    <a:pt x="7377811" y="1500505"/>
                  </a:lnTo>
                  <a:cubicBezTo>
                    <a:pt x="7377811" y="1572514"/>
                    <a:pt x="7319390" y="1630934"/>
                    <a:pt x="7247382" y="1630934"/>
                  </a:cubicBezTo>
                  <a:lnTo>
                    <a:pt x="130429" y="1630934"/>
                  </a:lnTo>
                  <a:cubicBezTo>
                    <a:pt x="58420" y="1630934"/>
                    <a:pt x="0" y="1572514"/>
                    <a:pt x="0" y="1500505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7E0E9"/>
              </a:solidFill>
              <a:prstDash val="solid"/>
              <a:miter/>
            </a:ln>
          </p:spPr>
        </p:sp>
      </p:grpSp>
      <p:grpSp>
        <p:nvGrpSpPr>
          <p:cNvPr name="Group 107" id="107"/>
          <p:cNvGrpSpPr/>
          <p:nvPr/>
        </p:nvGrpSpPr>
        <p:grpSpPr>
          <a:xfrm rot="0">
            <a:off x="11962076" y="5634057"/>
            <a:ext cx="1140847" cy="481965"/>
            <a:chOff x="0" y="0"/>
            <a:chExt cx="1521130" cy="64262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1521206" cy="642620"/>
            </a:xfrm>
            <a:custGeom>
              <a:avLst/>
              <a:gdLst/>
              <a:ahLst/>
              <a:cxnLst/>
              <a:rect r="r" b="b" t="t" l="l"/>
              <a:pathLst>
                <a:path h="642620" w="1521206">
                  <a:moveTo>
                    <a:pt x="0" y="51435"/>
                  </a:moveTo>
                  <a:cubicBezTo>
                    <a:pt x="0" y="22987"/>
                    <a:pt x="22987" y="0"/>
                    <a:pt x="51435" y="0"/>
                  </a:cubicBezTo>
                  <a:lnTo>
                    <a:pt x="1469771" y="0"/>
                  </a:lnTo>
                  <a:cubicBezTo>
                    <a:pt x="1498219" y="0"/>
                    <a:pt x="1521206" y="22987"/>
                    <a:pt x="1521206" y="51435"/>
                  </a:cubicBezTo>
                  <a:lnTo>
                    <a:pt x="1521206" y="591185"/>
                  </a:lnTo>
                  <a:cubicBezTo>
                    <a:pt x="1521206" y="619633"/>
                    <a:pt x="1498219" y="642620"/>
                    <a:pt x="1469771" y="642620"/>
                  </a:cubicBezTo>
                  <a:lnTo>
                    <a:pt x="51435" y="642620"/>
                  </a:lnTo>
                  <a:cubicBezTo>
                    <a:pt x="22987" y="642620"/>
                    <a:pt x="0" y="619633"/>
                    <a:pt x="0" y="591185"/>
                  </a:cubicBezTo>
                  <a:close/>
                </a:path>
              </a:pathLst>
            </a:custGeom>
            <a:solidFill>
              <a:srgbClr val="E8F7EF"/>
            </a:solidFill>
            <a:ln w="15252" cap="sq">
              <a:solidFill>
                <a:srgbClr val="E8F7EF"/>
              </a:solidFill>
              <a:prstDash val="solid"/>
              <a:miter/>
            </a:ln>
          </p:spPr>
        </p:sp>
      </p:grpSp>
      <p:grpSp>
        <p:nvGrpSpPr>
          <p:cNvPr name="Group 109" id="109"/>
          <p:cNvGrpSpPr/>
          <p:nvPr/>
        </p:nvGrpSpPr>
        <p:grpSpPr>
          <a:xfrm rot="0">
            <a:off x="11969706" y="5648544"/>
            <a:ext cx="1125588" cy="439255"/>
            <a:chOff x="0" y="0"/>
            <a:chExt cx="1500784" cy="585673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1500789" cy="585674"/>
            </a:xfrm>
            <a:custGeom>
              <a:avLst/>
              <a:gdLst/>
              <a:ahLst/>
              <a:cxnLst/>
              <a:rect r="r" b="b" t="t" l="l"/>
              <a:pathLst>
                <a:path h="585674" w="1500789">
                  <a:moveTo>
                    <a:pt x="0" y="0"/>
                  </a:moveTo>
                  <a:lnTo>
                    <a:pt x="1500789" y="0"/>
                  </a:lnTo>
                  <a:lnTo>
                    <a:pt x="1500789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9" t="0" r="-69" b="0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-9525"/>
              <a:ext cx="1500784" cy="5951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13"/>
                </a:lnSpc>
              </a:pPr>
              <a:r>
                <a:rPr lang="en-US" sz="1260" b="true">
                  <a:solidFill>
                    <a:srgbClr val="25976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D16–D30</a:t>
              </a:r>
            </a:p>
          </p:txBody>
        </p:sp>
      </p:grpSp>
      <p:sp>
        <p:nvSpPr>
          <p:cNvPr name="TextBox 112" id="112"/>
          <p:cNvSpPr txBox="true"/>
          <p:nvPr/>
        </p:nvSpPr>
        <p:spPr>
          <a:xfrm rot="0">
            <a:off x="13333190" y="5495249"/>
            <a:ext cx="3312785" cy="292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5"/>
              </a:lnSpc>
            </a:pPr>
            <a:r>
              <a:rPr lang="en-US" sz="1546" b="true">
                <a:solidFill>
                  <a:srgbClr val="0B192D"/>
                </a:solidFill>
                <a:latin typeface="Aptos Bold"/>
                <a:ea typeface="Aptos Bold"/>
                <a:cs typeface="Aptos Bold"/>
                <a:sym typeface="Aptos Bold"/>
              </a:rPr>
              <a:t>Delivery UAVs</a:t>
            </a:r>
          </a:p>
        </p:txBody>
      </p:sp>
      <p:sp>
        <p:nvSpPr>
          <p:cNvPr name="TextBox 113" id="113"/>
          <p:cNvSpPr txBox="true"/>
          <p:nvPr/>
        </p:nvSpPr>
        <p:spPr>
          <a:xfrm rot="0">
            <a:off x="13333190" y="5893327"/>
            <a:ext cx="3340237" cy="416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3"/>
              </a:lnSpc>
            </a:pPr>
            <a:r>
              <a:rPr lang="en-US" sz="1185">
                <a:solidFill>
                  <a:srgbClr val="465465"/>
                </a:solidFill>
                <a:latin typeface="Aptos"/>
                <a:ea typeface="Aptos"/>
                <a:cs typeface="Aptos"/>
                <a:sym typeface="Aptos"/>
              </a:rPr>
              <a:t>Medical kits • food supplies • emergency communication support</a:t>
            </a:r>
          </a:p>
        </p:txBody>
      </p:sp>
      <p:grpSp>
        <p:nvGrpSpPr>
          <p:cNvPr name="Group 114" id="114"/>
          <p:cNvGrpSpPr/>
          <p:nvPr/>
        </p:nvGrpSpPr>
        <p:grpSpPr>
          <a:xfrm rot="0">
            <a:off x="11660086" y="6636106"/>
            <a:ext cx="5533396" cy="1223200"/>
            <a:chOff x="0" y="0"/>
            <a:chExt cx="7377862" cy="1630934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7377811" cy="1630934"/>
            </a:xfrm>
            <a:custGeom>
              <a:avLst/>
              <a:gdLst/>
              <a:ahLst/>
              <a:cxnLst/>
              <a:rect r="r" b="b" t="t" l="l"/>
              <a:pathLst>
                <a:path h="1630934" w="7377811">
                  <a:moveTo>
                    <a:pt x="0" y="130429"/>
                  </a:moveTo>
                  <a:cubicBezTo>
                    <a:pt x="0" y="58420"/>
                    <a:pt x="58420" y="0"/>
                    <a:pt x="130429" y="0"/>
                  </a:cubicBezTo>
                  <a:lnTo>
                    <a:pt x="7247382" y="0"/>
                  </a:lnTo>
                  <a:cubicBezTo>
                    <a:pt x="7319390" y="0"/>
                    <a:pt x="7377811" y="58420"/>
                    <a:pt x="7377811" y="130429"/>
                  </a:cubicBezTo>
                  <a:lnTo>
                    <a:pt x="7377811" y="1500505"/>
                  </a:lnTo>
                  <a:cubicBezTo>
                    <a:pt x="7377811" y="1572514"/>
                    <a:pt x="7319390" y="1630934"/>
                    <a:pt x="7247382" y="1630934"/>
                  </a:cubicBezTo>
                  <a:lnTo>
                    <a:pt x="130429" y="1630934"/>
                  </a:lnTo>
                  <a:cubicBezTo>
                    <a:pt x="58420" y="1630934"/>
                    <a:pt x="0" y="1572514"/>
                    <a:pt x="0" y="1500505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7E0E9"/>
              </a:solidFill>
              <a:prstDash val="solid"/>
              <a:miter/>
            </a:ln>
          </p:spPr>
        </p:sp>
      </p:grpSp>
      <p:grpSp>
        <p:nvGrpSpPr>
          <p:cNvPr name="Group 116" id="116"/>
          <p:cNvGrpSpPr/>
          <p:nvPr/>
        </p:nvGrpSpPr>
        <p:grpSpPr>
          <a:xfrm rot="0">
            <a:off x="11962076" y="6979272"/>
            <a:ext cx="1140847" cy="481965"/>
            <a:chOff x="0" y="0"/>
            <a:chExt cx="1521130" cy="64262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1521206" cy="642620"/>
            </a:xfrm>
            <a:custGeom>
              <a:avLst/>
              <a:gdLst/>
              <a:ahLst/>
              <a:cxnLst/>
              <a:rect r="r" b="b" t="t" l="l"/>
              <a:pathLst>
                <a:path h="642620" w="1521206">
                  <a:moveTo>
                    <a:pt x="0" y="51435"/>
                  </a:moveTo>
                  <a:cubicBezTo>
                    <a:pt x="0" y="22987"/>
                    <a:pt x="22987" y="0"/>
                    <a:pt x="51435" y="0"/>
                  </a:cubicBezTo>
                  <a:lnTo>
                    <a:pt x="1469771" y="0"/>
                  </a:lnTo>
                  <a:cubicBezTo>
                    <a:pt x="1498219" y="0"/>
                    <a:pt x="1521206" y="22987"/>
                    <a:pt x="1521206" y="51435"/>
                  </a:cubicBezTo>
                  <a:lnTo>
                    <a:pt x="1521206" y="591185"/>
                  </a:lnTo>
                  <a:cubicBezTo>
                    <a:pt x="1521206" y="619633"/>
                    <a:pt x="1498219" y="642620"/>
                    <a:pt x="1469771" y="642620"/>
                  </a:cubicBezTo>
                  <a:lnTo>
                    <a:pt x="51435" y="642620"/>
                  </a:lnTo>
                  <a:cubicBezTo>
                    <a:pt x="22987" y="642620"/>
                    <a:pt x="0" y="619633"/>
                    <a:pt x="0" y="591185"/>
                  </a:cubicBezTo>
                  <a:close/>
                </a:path>
              </a:pathLst>
            </a:custGeom>
            <a:solidFill>
              <a:srgbClr val="0B192D"/>
            </a:solidFill>
            <a:ln w="15252" cap="sq">
              <a:solidFill>
                <a:srgbClr val="0B192D"/>
              </a:solidFill>
              <a:prstDash val="solid"/>
              <a:miter/>
            </a:ln>
          </p:spPr>
        </p:sp>
      </p:grpSp>
      <p:grpSp>
        <p:nvGrpSpPr>
          <p:cNvPr name="Group 118" id="118"/>
          <p:cNvGrpSpPr/>
          <p:nvPr/>
        </p:nvGrpSpPr>
        <p:grpSpPr>
          <a:xfrm rot="0">
            <a:off x="11969706" y="6993769"/>
            <a:ext cx="1125588" cy="439255"/>
            <a:chOff x="0" y="0"/>
            <a:chExt cx="1500784" cy="585673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1500789" cy="585674"/>
            </a:xfrm>
            <a:custGeom>
              <a:avLst/>
              <a:gdLst/>
              <a:ahLst/>
              <a:cxnLst/>
              <a:rect r="r" b="b" t="t" l="l"/>
              <a:pathLst>
                <a:path h="585674" w="1500789">
                  <a:moveTo>
                    <a:pt x="0" y="0"/>
                  </a:moveTo>
                  <a:lnTo>
                    <a:pt x="1500789" y="0"/>
                  </a:lnTo>
                  <a:lnTo>
                    <a:pt x="1500789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9" t="0" r="-69" b="0"/>
              </a:stretch>
            </a:blipFill>
          </p:spPr>
        </p:sp>
        <p:sp>
          <p:nvSpPr>
            <p:cNvPr name="TextBox 120" id="120"/>
            <p:cNvSpPr txBox="true"/>
            <p:nvPr/>
          </p:nvSpPr>
          <p:spPr>
            <a:xfrm>
              <a:off x="0" y="-9525"/>
              <a:ext cx="1500784" cy="5951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13"/>
                </a:lnSpc>
              </a:pPr>
              <a:r>
                <a:rPr lang="en-US" sz="126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ALWAYS ON</a:t>
              </a:r>
            </a:p>
          </p:txBody>
        </p:sp>
      </p:grpSp>
      <p:sp>
        <p:nvSpPr>
          <p:cNvPr name="TextBox 121" id="121"/>
          <p:cNvSpPr txBox="true"/>
          <p:nvPr/>
        </p:nvSpPr>
        <p:spPr>
          <a:xfrm rot="0">
            <a:off x="13333190" y="6840474"/>
            <a:ext cx="3312785" cy="292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5"/>
              </a:lnSpc>
            </a:pPr>
            <a:r>
              <a:rPr lang="en-US" sz="1546" b="true">
                <a:solidFill>
                  <a:srgbClr val="0B192D"/>
                </a:solidFill>
                <a:latin typeface="Aptos Bold"/>
                <a:ea typeface="Aptos Bold"/>
                <a:cs typeface="Aptos Bold"/>
                <a:sym typeface="Aptos Bold"/>
              </a:rPr>
              <a:t>3D + COMMS</a:t>
            </a:r>
          </a:p>
        </p:txBody>
      </p:sp>
      <p:sp>
        <p:nvSpPr>
          <p:cNvPr name="TextBox 122" id="122"/>
          <p:cNvSpPr txBox="true"/>
          <p:nvPr/>
        </p:nvSpPr>
        <p:spPr>
          <a:xfrm rot="0">
            <a:off x="13333190" y="7238543"/>
            <a:ext cx="3340237" cy="416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3"/>
              </a:lnSpc>
            </a:pPr>
            <a:r>
              <a:rPr lang="en-US" sz="1185">
                <a:solidFill>
                  <a:srgbClr val="465465"/>
                </a:solidFill>
                <a:latin typeface="Aptos"/>
                <a:ea typeface="Aptos"/>
                <a:cs typeface="Aptos"/>
                <a:sym typeface="Aptos"/>
              </a:rPr>
              <a:t>Real-time 3D disaster mapping • adaptive communication network</a:t>
            </a:r>
          </a:p>
        </p:txBody>
      </p:sp>
      <p:sp>
        <p:nvSpPr>
          <p:cNvPr name="TextBox 123" id="123"/>
          <p:cNvSpPr txBox="true"/>
          <p:nvPr/>
        </p:nvSpPr>
        <p:spPr>
          <a:xfrm rot="0">
            <a:off x="1043988" y="9259462"/>
            <a:ext cx="1418501" cy="274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 b="true">
                <a:solidFill>
                  <a:srgbClr val="0B192D"/>
                </a:solidFill>
                <a:latin typeface="Aptos Bold"/>
                <a:ea typeface="Aptos Bold"/>
                <a:cs typeface="Aptos Bold"/>
                <a:sym typeface="Aptos Bold"/>
              </a:rPr>
              <a:t>MISSION FLOW</a:t>
            </a:r>
          </a:p>
        </p:txBody>
      </p:sp>
      <p:grpSp>
        <p:nvGrpSpPr>
          <p:cNvPr name="Group 124" id="124"/>
          <p:cNvGrpSpPr/>
          <p:nvPr/>
        </p:nvGrpSpPr>
        <p:grpSpPr>
          <a:xfrm rot="0">
            <a:off x="2299230" y="9095146"/>
            <a:ext cx="1441304" cy="439255"/>
            <a:chOff x="0" y="0"/>
            <a:chExt cx="1921739" cy="585674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1921741" cy="585674"/>
            </a:xfrm>
            <a:custGeom>
              <a:avLst/>
              <a:gdLst/>
              <a:ahLst/>
              <a:cxnLst/>
              <a:rect r="r" b="b" t="t" l="l"/>
              <a:pathLst>
                <a:path h="585674" w="1921741">
                  <a:moveTo>
                    <a:pt x="0" y="0"/>
                  </a:moveTo>
                  <a:lnTo>
                    <a:pt x="1921741" y="0"/>
                  </a:lnTo>
                  <a:lnTo>
                    <a:pt x="1921741" y="585674"/>
                  </a:lnTo>
                  <a:lnTo>
                    <a:pt x="0" y="585674"/>
                  </a:lnTo>
                  <a:close/>
                </a:path>
              </a:pathLst>
            </a:custGeom>
            <a:solidFill>
              <a:srgbClr val="CD4448"/>
            </a:solidFill>
            <a:ln w="666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26" id="126"/>
            <p:cNvSpPr txBox="true"/>
            <p:nvPr/>
          </p:nvSpPr>
          <p:spPr>
            <a:xfrm>
              <a:off x="0" y="-9525"/>
              <a:ext cx="1921739" cy="5951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13"/>
                </a:lnSpc>
              </a:pPr>
              <a:r>
                <a:rPr lang="en-US" sz="126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DISASTER </a:t>
              </a:r>
            </a:p>
          </p:txBody>
        </p:sp>
      </p:grpSp>
      <p:sp>
        <p:nvSpPr>
          <p:cNvPr name="TextBox 127" id="127"/>
          <p:cNvSpPr txBox="true"/>
          <p:nvPr/>
        </p:nvSpPr>
        <p:spPr>
          <a:xfrm rot="0">
            <a:off x="3816034" y="9177080"/>
            <a:ext cx="210550" cy="292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 b="true">
                <a:solidFill>
                  <a:srgbClr val="00A6D2"/>
                </a:solidFill>
                <a:latin typeface="Aptos Bold"/>
                <a:ea typeface="Aptos Bold"/>
                <a:cs typeface="Aptos Bold"/>
                <a:sym typeface="Aptos Bold"/>
              </a:rPr>
              <a:t>→</a:t>
            </a:r>
          </a:p>
        </p:txBody>
      </p:sp>
      <p:sp>
        <p:nvSpPr>
          <p:cNvPr name="TextBox 128" id="128"/>
          <p:cNvSpPr txBox="true"/>
          <p:nvPr/>
        </p:nvSpPr>
        <p:spPr>
          <a:xfrm rot="0">
            <a:off x="5632906" y="9192244"/>
            <a:ext cx="210550" cy="292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 b="true">
                <a:solidFill>
                  <a:srgbClr val="00A6D2"/>
                </a:solidFill>
                <a:latin typeface="Aptos Bold"/>
                <a:ea typeface="Aptos Bold"/>
                <a:cs typeface="Aptos Bold"/>
                <a:sym typeface="Aptos Bold"/>
              </a:rPr>
              <a:t>→</a:t>
            </a:r>
          </a:p>
        </p:txBody>
      </p:sp>
      <p:sp>
        <p:nvSpPr>
          <p:cNvPr name="TextBox 129" id="129"/>
          <p:cNvSpPr txBox="true"/>
          <p:nvPr/>
        </p:nvSpPr>
        <p:spPr>
          <a:xfrm rot="0">
            <a:off x="7449779" y="9192244"/>
            <a:ext cx="210550" cy="292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 b="true">
                <a:solidFill>
                  <a:srgbClr val="00A6D2"/>
                </a:solidFill>
                <a:latin typeface="Aptos Bold"/>
                <a:ea typeface="Aptos Bold"/>
                <a:cs typeface="Aptos Bold"/>
                <a:sym typeface="Aptos Bold"/>
              </a:rPr>
              <a:t>→</a:t>
            </a:r>
          </a:p>
        </p:txBody>
      </p:sp>
      <p:sp>
        <p:nvSpPr>
          <p:cNvPr name="TextBox 130" id="130"/>
          <p:cNvSpPr txBox="true"/>
          <p:nvPr/>
        </p:nvSpPr>
        <p:spPr>
          <a:xfrm rot="0">
            <a:off x="9313578" y="9192244"/>
            <a:ext cx="210550" cy="292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 b="true">
                <a:solidFill>
                  <a:srgbClr val="00A6D2"/>
                </a:solidFill>
                <a:latin typeface="Aptos Bold"/>
                <a:ea typeface="Aptos Bold"/>
                <a:cs typeface="Aptos Bold"/>
                <a:sym typeface="Aptos Bold"/>
              </a:rPr>
              <a:t>→</a:t>
            </a:r>
          </a:p>
        </p:txBody>
      </p:sp>
      <p:sp>
        <p:nvSpPr>
          <p:cNvPr name="TextBox 131" id="131"/>
          <p:cNvSpPr txBox="true"/>
          <p:nvPr/>
        </p:nvSpPr>
        <p:spPr>
          <a:xfrm rot="0">
            <a:off x="11194485" y="9177080"/>
            <a:ext cx="210550" cy="292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 b="true">
                <a:solidFill>
                  <a:srgbClr val="00A6D2"/>
                </a:solidFill>
                <a:latin typeface="Aptos Bold"/>
                <a:ea typeface="Aptos Bold"/>
                <a:cs typeface="Aptos Bold"/>
                <a:sym typeface="Aptos Bold"/>
              </a:rPr>
              <a:t>→</a:t>
            </a:r>
          </a:p>
        </p:txBody>
      </p:sp>
      <p:sp>
        <p:nvSpPr>
          <p:cNvPr name="TextBox 132" id="132"/>
          <p:cNvSpPr txBox="true"/>
          <p:nvPr/>
        </p:nvSpPr>
        <p:spPr>
          <a:xfrm rot="0">
            <a:off x="13023975" y="9168341"/>
            <a:ext cx="210550" cy="292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 b="true">
                <a:solidFill>
                  <a:srgbClr val="00A6D2"/>
                </a:solidFill>
                <a:latin typeface="Aptos Bold"/>
                <a:ea typeface="Aptos Bold"/>
                <a:cs typeface="Aptos Bold"/>
                <a:sym typeface="Aptos Bold"/>
              </a:rPr>
              <a:t>→</a:t>
            </a:r>
          </a:p>
        </p:txBody>
      </p:sp>
      <p:sp>
        <p:nvSpPr>
          <p:cNvPr name="TextBox 133" id="133"/>
          <p:cNvSpPr txBox="true"/>
          <p:nvPr/>
        </p:nvSpPr>
        <p:spPr>
          <a:xfrm rot="0">
            <a:off x="979141" y="9764258"/>
            <a:ext cx="7870060" cy="210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70"/>
              </a:lnSpc>
            </a:pPr>
            <a:r>
              <a:rPr lang="en-US" sz="975" b="true">
                <a:solidFill>
                  <a:srgbClr val="697788"/>
                </a:solidFill>
                <a:latin typeface="Aptos Bold"/>
                <a:ea typeface="Aptos Bold"/>
                <a:cs typeface="Aptos Bold"/>
                <a:sym typeface="Aptos Bold"/>
              </a:rPr>
              <a:t>SKYRESCUE INNOVATORS  •  SMART INDIA HACKATHON 2025</a:t>
            </a:r>
          </a:p>
        </p:txBody>
      </p:sp>
      <p:grpSp>
        <p:nvGrpSpPr>
          <p:cNvPr name="Group 134" id="134"/>
          <p:cNvGrpSpPr/>
          <p:nvPr/>
        </p:nvGrpSpPr>
        <p:grpSpPr>
          <a:xfrm rot="0">
            <a:off x="4102784" y="9095146"/>
            <a:ext cx="1441304" cy="439255"/>
            <a:chOff x="0" y="0"/>
            <a:chExt cx="1921739" cy="585674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1921741" cy="585674"/>
            </a:xfrm>
            <a:custGeom>
              <a:avLst/>
              <a:gdLst/>
              <a:ahLst/>
              <a:cxnLst/>
              <a:rect r="r" b="b" t="t" l="l"/>
              <a:pathLst>
                <a:path h="585674" w="1921741">
                  <a:moveTo>
                    <a:pt x="0" y="0"/>
                  </a:moveTo>
                  <a:lnTo>
                    <a:pt x="1921741" y="0"/>
                  </a:lnTo>
                  <a:lnTo>
                    <a:pt x="1921741" y="585674"/>
                  </a:lnTo>
                  <a:lnTo>
                    <a:pt x="0" y="585674"/>
                  </a:lnTo>
                  <a:close/>
                </a:path>
              </a:pathLst>
            </a:custGeom>
            <a:solidFill>
              <a:srgbClr val="E8772D"/>
            </a:solidFill>
            <a:ln w="666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36" id="136"/>
            <p:cNvSpPr txBox="true"/>
            <p:nvPr/>
          </p:nvSpPr>
          <p:spPr>
            <a:xfrm>
              <a:off x="0" y="-9525"/>
              <a:ext cx="1921739" cy="5951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13"/>
                </a:lnSpc>
              </a:pPr>
              <a:r>
                <a:rPr lang="en-US" sz="126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SEARCH </a:t>
              </a:r>
            </a:p>
          </p:txBody>
        </p:sp>
      </p:grpSp>
      <p:grpSp>
        <p:nvGrpSpPr>
          <p:cNvPr name="Group 137" id="137"/>
          <p:cNvGrpSpPr/>
          <p:nvPr/>
        </p:nvGrpSpPr>
        <p:grpSpPr>
          <a:xfrm rot="0">
            <a:off x="5932275" y="9095146"/>
            <a:ext cx="1441304" cy="439255"/>
            <a:chOff x="0" y="0"/>
            <a:chExt cx="1921739" cy="585674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1921741" cy="585674"/>
            </a:xfrm>
            <a:custGeom>
              <a:avLst/>
              <a:gdLst/>
              <a:ahLst/>
              <a:cxnLst/>
              <a:rect r="r" b="b" t="t" l="l"/>
              <a:pathLst>
                <a:path h="585674" w="1921741">
                  <a:moveTo>
                    <a:pt x="0" y="0"/>
                  </a:moveTo>
                  <a:lnTo>
                    <a:pt x="1921741" y="0"/>
                  </a:lnTo>
                  <a:lnTo>
                    <a:pt x="1921741" y="585674"/>
                  </a:lnTo>
                  <a:lnTo>
                    <a:pt x="0" y="585674"/>
                  </a:lnTo>
                  <a:close/>
                </a:path>
              </a:pathLst>
            </a:custGeom>
            <a:solidFill>
              <a:srgbClr val="007AB4"/>
            </a:solidFill>
            <a:ln w="666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39" id="139"/>
            <p:cNvSpPr txBox="true"/>
            <p:nvPr/>
          </p:nvSpPr>
          <p:spPr>
            <a:xfrm>
              <a:off x="0" y="-9525"/>
              <a:ext cx="1921739" cy="5951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13"/>
                </a:lnSpc>
              </a:pPr>
              <a:r>
                <a:rPr lang="en-US" sz="126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DETECT</a:t>
              </a:r>
            </a:p>
          </p:txBody>
        </p:sp>
      </p:grpSp>
      <p:grpSp>
        <p:nvGrpSpPr>
          <p:cNvPr name="Group 140" id="140"/>
          <p:cNvGrpSpPr/>
          <p:nvPr/>
        </p:nvGrpSpPr>
        <p:grpSpPr>
          <a:xfrm rot="0">
            <a:off x="7761765" y="9095146"/>
            <a:ext cx="1441304" cy="439255"/>
            <a:chOff x="0" y="0"/>
            <a:chExt cx="1921739" cy="585674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1921741" cy="585674"/>
            </a:xfrm>
            <a:custGeom>
              <a:avLst/>
              <a:gdLst/>
              <a:ahLst/>
              <a:cxnLst/>
              <a:rect r="r" b="b" t="t" l="l"/>
              <a:pathLst>
                <a:path h="585674" w="1921741">
                  <a:moveTo>
                    <a:pt x="0" y="0"/>
                  </a:moveTo>
                  <a:lnTo>
                    <a:pt x="1921741" y="0"/>
                  </a:lnTo>
                  <a:lnTo>
                    <a:pt x="1921741" y="585674"/>
                  </a:lnTo>
                  <a:lnTo>
                    <a:pt x="0" y="585674"/>
                  </a:lnTo>
                  <a:close/>
                </a:path>
              </a:pathLst>
            </a:custGeom>
            <a:solidFill>
              <a:srgbClr val="259766"/>
            </a:solidFill>
            <a:ln w="666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42" id="142"/>
            <p:cNvSpPr txBox="true"/>
            <p:nvPr/>
          </p:nvSpPr>
          <p:spPr>
            <a:xfrm>
              <a:off x="0" y="-9525"/>
              <a:ext cx="1921739" cy="5951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13"/>
                </a:lnSpc>
              </a:pPr>
              <a:r>
                <a:rPr lang="en-US" sz="126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VERIFY</a:t>
              </a:r>
            </a:p>
          </p:txBody>
        </p:sp>
      </p:grpSp>
      <p:grpSp>
        <p:nvGrpSpPr>
          <p:cNvPr name="Group 143" id="143"/>
          <p:cNvGrpSpPr/>
          <p:nvPr/>
        </p:nvGrpSpPr>
        <p:grpSpPr>
          <a:xfrm rot="0">
            <a:off x="9591256" y="9095145"/>
            <a:ext cx="1441304" cy="439255"/>
            <a:chOff x="0" y="0"/>
            <a:chExt cx="1921739" cy="585674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1921741" cy="585674"/>
            </a:xfrm>
            <a:custGeom>
              <a:avLst/>
              <a:gdLst/>
              <a:ahLst/>
              <a:cxnLst/>
              <a:rect r="r" b="b" t="t" l="l"/>
              <a:pathLst>
                <a:path h="585674" w="1921741">
                  <a:moveTo>
                    <a:pt x="0" y="0"/>
                  </a:moveTo>
                  <a:lnTo>
                    <a:pt x="1921741" y="0"/>
                  </a:lnTo>
                  <a:lnTo>
                    <a:pt x="1921741" y="585674"/>
                  </a:lnTo>
                  <a:lnTo>
                    <a:pt x="0" y="585674"/>
                  </a:lnTo>
                  <a:close/>
                </a:path>
              </a:pathLst>
            </a:custGeom>
            <a:solidFill>
              <a:srgbClr val="2B3E54"/>
            </a:solidFill>
            <a:ln w="666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45" id="145"/>
            <p:cNvSpPr txBox="true"/>
            <p:nvPr/>
          </p:nvSpPr>
          <p:spPr>
            <a:xfrm>
              <a:off x="0" y="-9525"/>
              <a:ext cx="1921739" cy="5951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13"/>
                </a:lnSpc>
              </a:pPr>
              <a:r>
                <a:rPr lang="en-US" sz="126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MAP</a:t>
              </a:r>
            </a:p>
          </p:txBody>
        </p:sp>
      </p:grpSp>
      <p:grpSp>
        <p:nvGrpSpPr>
          <p:cNvPr name="Group 146" id="146"/>
          <p:cNvGrpSpPr/>
          <p:nvPr/>
        </p:nvGrpSpPr>
        <p:grpSpPr>
          <a:xfrm rot="0">
            <a:off x="11420746" y="9095145"/>
            <a:ext cx="1441304" cy="439255"/>
            <a:chOff x="0" y="0"/>
            <a:chExt cx="1921739" cy="585674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1921741" cy="585674"/>
            </a:xfrm>
            <a:custGeom>
              <a:avLst/>
              <a:gdLst/>
              <a:ahLst/>
              <a:cxnLst/>
              <a:rect r="r" b="b" t="t" l="l"/>
              <a:pathLst>
                <a:path h="585674" w="1921741">
                  <a:moveTo>
                    <a:pt x="0" y="0"/>
                  </a:moveTo>
                  <a:lnTo>
                    <a:pt x="1921741" y="0"/>
                  </a:lnTo>
                  <a:lnTo>
                    <a:pt x="1921741" y="585674"/>
                  </a:lnTo>
                  <a:lnTo>
                    <a:pt x="0" y="585674"/>
                  </a:lnTo>
                  <a:close/>
                </a:path>
              </a:pathLst>
            </a:custGeom>
            <a:solidFill>
              <a:srgbClr val="38B6FF"/>
            </a:solidFill>
            <a:ln w="666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48" id="148"/>
            <p:cNvSpPr txBox="true"/>
            <p:nvPr/>
          </p:nvSpPr>
          <p:spPr>
            <a:xfrm>
              <a:off x="0" y="-9525"/>
              <a:ext cx="1921739" cy="5951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13"/>
                </a:lnSpc>
              </a:pPr>
              <a:r>
                <a:rPr lang="en-US" sz="126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DELIVER</a:t>
              </a:r>
            </a:p>
          </p:txBody>
        </p:sp>
      </p:grpSp>
      <p:grpSp>
        <p:nvGrpSpPr>
          <p:cNvPr name="Group 149" id="149"/>
          <p:cNvGrpSpPr/>
          <p:nvPr/>
        </p:nvGrpSpPr>
        <p:grpSpPr>
          <a:xfrm rot="0">
            <a:off x="13250237" y="9095145"/>
            <a:ext cx="1441304" cy="439255"/>
            <a:chOff x="0" y="0"/>
            <a:chExt cx="1921739" cy="585674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1921741" cy="585674"/>
            </a:xfrm>
            <a:custGeom>
              <a:avLst/>
              <a:gdLst/>
              <a:ahLst/>
              <a:cxnLst/>
              <a:rect r="r" b="b" t="t" l="l"/>
              <a:pathLst>
                <a:path h="585674" w="1921741">
                  <a:moveTo>
                    <a:pt x="0" y="0"/>
                  </a:moveTo>
                  <a:lnTo>
                    <a:pt x="1921741" y="0"/>
                  </a:lnTo>
                  <a:lnTo>
                    <a:pt x="1921741" y="585674"/>
                  </a:lnTo>
                  <a:lnTo>
                    <a:pt x="0" y="585674"/>
                  </a:lnTo>
                  <a:close/>
                </a:path>
              </a:pathLst>
            </a:custGeom>
            <a:solidFill>
              <a:srgbClr val="1800AD"/>
            </a:solidFill>
            <a:ln w="666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51" id="151"/>
            <p:cNvSpPr txBox="true"/>
            <p:nvPr/>
          </p:nvSpPr>
          <p:spPr>
            <a:xfrm>
              <a:off x="0" y="-9525"/>
              <a:ext cx="1921739" cy="5951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13"/>
                </a:lnSpc>
              </a:pPr>
              <a:r>
                <a:rPr lang="en-US" sz="126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RECOVER</a:t>
              </a:r>
            </a:p>
          </p:txBody>
        </p:sp>
      </p:grpSp>
      <p:grpSp>
        <p:nvGrpSpPr>
          <p:cNvPr name="Group 152" id="152"/>
          <p:cNvGrpSpPr/>
          <p:nvPr/>
        </p:nvGrpSpPr>
        <p:grpSpPr>
          <a:xfrm rot="0">
            <a:off x="14613363" y="-331251"/>
            <a:ext cx="3313652" cy="1684306"/>
            <a:chOff x="0" y="0"/>
            <a:chExt cx="4418203" cy="2245741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4418203" cy="2245741"/>
            </a:xfrm>
            <a:custGeom>
              <a:avLst/>
              <a:gdLst/>
              <a:ahLst/>
              <a:cxnLst/>
              <a:rect r="r" b="b" t="t" l="l"/>
              <a:pathLst>
                <a:path h="2245741" w="4418203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9512" r="0" b="-9512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3597"/>
            <a:ext cx="18288000" cy="10239807"/>
          </a:xfrm>
          <a:custGeom>
            <a:avLst/>
            <a:gdLst/>
            <a:ahLst/>
            <a:cxnLst/>
            <a:rect r="r" b="b" t="t" l="l"/>
            <a:pathLst>
              <a:path h="10239807" w="18288000">
                <a:moveTo>
                  <a:pt x="0" y="0"/>
                </a:moveTo>
                <a:lnTo>
                  <a:pt x="18288000" y="0"/>
                </a:lnTo>
                <a:lnTo>
                  <a:pt x="18288000" y="10239806"/>
                </a:lnTo>
                <a:lnTo>
                  <a:pt x="0" y="102398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8" t="0" r="-48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630" y="-7630"/>
            <a:ext cx="18317089" cy="10310298"/>
            <a:chOff x="0" y="0"/>
            <a:chExt cx="24422786" cy="137470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22736" cy="13747114"/>
            </a:xfrm>
            <a:custGeom>
              <a:avLst/>
              <a:gdLst/>
              <a:ahLst/>
              <a:cxnLst/>
              <a:rect r="r" b="b" t="t" l="l"/>
              <a:pathLst>
                <a:path h="13747114" w="24422736">
                  <a:moveTo>
                    <a:pt x="0" y="0"/>
                  </a:moveTo>
                  <a:lnTo>
                    <a:pt x="24422736" y="0"/>
                  </a:lnTo>
                  <a:lnTo>
                    <a:pt x="24422736" y="13747114"/>
                  </a:lnTo>
                  <a:lnTo>
                    <a:pt x="0" y="13747114"/>
                  </a:lnTo>
                  <a:close/>
                </a:path>
              </a:pathLst>
            </a:custGeom>
            <a:solidFill>
              <a:srgbClr val="F8FAFD"/>
            </a:solidFill>
            <a:ln w="15252" cap="sq">
              <a:solidFill>
                <a:srgbClr val="F8FAFD"/>
              </a:solidFill>
              <a:prstDash val="solid"/>
              <a:miter/>
            </a:ln>
          </p:spPr>
        </p:sp>
      </p:grpSp>
      <p:sp>
        <p:nvSpPr>
          <p:cNvPr name="TextBox 4" id="4"/>
          <p:cNvSpPr txBox="true"/>
          <p:nvPr/>
        </p:nvSpPr>
        <p:spPr>
          <a:xfrm rot="0">
            <a:off x="979141" y="461743"/>
            <a:ext cx="5673785" cy="316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 b="true">
                <a:solidFill>
                  <a:srgbClr val="007AB4"/>
                </a:solidFill>
                <a:latin typeface="Aptos Bold"/>
                <a:ea typeface="Aptos Bold"/>
                <a:cs typeface="Aptos Bold"/>
                <a:sym typeface="Aptos Bold"/>
              </a:rPr>
              <a:t>03 • TECHNICAL DESIGN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79141" y="896798"/>
            <a:ext cx="14733422" cy="649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3"/>
              </a:lnSpc>
            </a:pPr>
            <a:r>
              <a:rPr lang="en-US" sz="3602" b="true">
                <a:solidFill>
                  <a:srgbClr val="0B192D"/>
                </a:solidFill>
                <a:latin typeface="Aptos Bold"/>
                <a:ea typeface="Aptos Bold"/>
                <a:cs typeface="Aptos Bold"/>
                <a:sym typeface="Aptos Bold"/>
              </a:rPr>
              <a:t>Hardware, software &amp; operational loop</a:t>
            </a:r>
          </a:p>
        </p:txBody>
      </p:sp>
      <p:sp>
        <p:nvSpPr>
          <p:cNvPr name="AutoShape 6" id="6"/>
          <p:cNvSpPr/>
          <p:nvPr/>
        </p:nvSpPr>
        <p:spPr>
          <a:xfrm rot="3960">
            <a:off x="923877" y="1711081"/>
            <a:ext cx="16449961" cy="0"/>
          </a:xfrm>
          <a:prstGeom prst="line">
            <a:avLst/>
          </a:prstGeom>
          <a:ln cap="rnd" w="9525">
            <a:solidFill>
              <a:srgbClr val="D7E0E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006592" y="2118474"/>
            <a:ext cx="4026579" cy="306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0B192D"/>
                </a:solidFill>
                <a:latin typeface="Aptos Bold"/>
                <a:ea typeface="Aptos Bold"/>
                <a:cs typeface="Aptos Bold"/>
                <a:sym typeface="Aptos Bold"/>
              </a:rPr>
              <a:t>SYSTEM PIPELINE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53243" y="2627909"/>
            <a:ext cx="3007681" cy="976122"/>
            <a:chOff x="0" y="0"/>
            <a:chExt cx="4010241" cy="13014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010279" cy="1301496"/>
            </a:xfrm>
            <a:custGeom>
              <a:avLst/>
              <a:gdLst/>
              <a:ahLst/>
              <a:cxnLst/>
              <a:rect r="r" b="b" t="t" l="l"/>
              <a:pathLst>
                <a:path h="1301496" w="4010279">
                  <a:moveTo>
                    <a:pt x="0" y="104140"/>
                  </a:moveTo>
                  <a:cubicBezTo>
                    <a:pt x="0" y="46609"/>
                    <a:pt x="46609" y="0"/>
                    <a:pt x="104140" y="0"/>
                  </a:cubicBezTo>
                  <a:lnTo>
                    <a:pt x="3906139" y="0"/>
                  </a:lnTo>
                  <a:cubicBezTo>
                    <a:pt x="3963670" y="0"/>
                    <a:pt x="4010279" y="46609"/>
                    <a:pt x="4010279" y="104140"/>
                  </a:cubicBezTo>
                  <a:lnTo>
                    <a:pt x="4010279" y="1197356"/>
                  </a:lnTo>
                  <a:cubicBezTo>
                    <a:pt x="4010279" y="1254887"/>
                    <a:pt x="3963670" y="1301496"/>
                    <a:pt x="3906139" y="1301496"/>
                  </a:cubicBezTo>
                  <a:lnTo>
                    <a:pt x="104140" y="1301496"/>
                  </a:lnTo>
                  <a:cubicBezTo>
                    <a:pt x="46609" y="1301496"/>
                    <a:pt x="0" y="1254887"/>
                    <a:pt x="0" y="1197356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7E0E9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118445" y="2820553"/>
            <a:ext cx="590817" cy="590817"/>
            <a:chOff x="0" y="0"/>
            <a:chExt cx="787756" cy="78775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87781" cy="787781"/>
            </a:xfrm>
            <a:custGeom>
              <a:avLst/>
              <a:gdLst/>
              <a:ahLst/>
              <a:cxnLst/>
              <a:rect r="r" b="b" t="t" l="l"/>
              <a:pathLst>
                <a:path h="787781" w="787781">
                  <a:moveTo>
                    <a:pt x="0" y="393827"/>
                  </a:moveTo>
                  <a:cubicBezTo>
                    <a:pt x="0" y="176403"/>
                    <a:pt x="176403" y="0"/>
                    <a:pt x="393827" y="0"/>
                  </a:cubicBezTo>
                  <a:cubicBezTo>
                    <a:pt x="611251" y="0"/>
                    <a:pt x="787781" y="176403"/>
                    <a:pt x="787781" y="393827"/>
                  </a:cubicBezTo>
                  <a:cubicBezTo>
                    <a:pt x="787781" y="611251"/>
                    <a:pt x="611378" y="787781"/>
                    <a:pt x="393827" y="787781"/>
                  </a:cubicBezTo>
                  <a:cubicBezTo>
                    <a:pt x="176276" y="787781"/>
                    <a:pt x="0" y="611378"/>
                    <a:pt x="0" y="393827"/>
                  </a:cubicBezTo>
                  <a:close/>
                </a:path>
              </a:pathLst>
            </a:custGeom>
            <a:solidFill>
              <a:srgbClr val="00A6D2"/>
            </a:solidFill>
            <a:ln w="14299" cap="sq">
              <a:solidFill>
                <a:srgbClr val="00A6D2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125588" y="2841431"/>
            <a:ext cx="576520" cy="521618"/>
            <a:chOff x="0" y="0"/>
            <a:chExt cx="768693" cy="69549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68697" cy="695487"/>
            </a:xfrm>
            <a:custGeom>
              <a:avLst/>
              <a:gdLst/>
              <a:ahLst/>
              <a:cxnLst/>
              <a:rect r="r" b="b" t="t" l="l"/>
              <a:pathLst>
                <a:path h="695487" w="768697">
                  <a:moveTo>
                    <a:pt x="0" y="0"/>
                  </a:moveTo>
                  <a:lnTo>
                    <a:pt x="768697" y="0"/>
                  </a:lnTo>
                  <a:lnTo>
                    <a:pt x="768697" y="695487"/>
                  </a:lnTo>
                  <a:lnTo>
                    <a:pt x="0" y="69548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6084" t="0" r="-66084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768693" cy="695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75"/>
                </a:lnSpc>
              </a:pPr>
              <a:r>
                <a:rPr lang="en-US" sz="1229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01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12494" y="2805141"/>
            <a:ext cx="2411359" cy="516721"/>
            <a:chOff x="0" y="0"/>
            <a:chExt cx="2562327" cy="54907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62322" cy="549069"/>
            </a:xfrm>
            <a:custGeom>
              <a:avLst/>
              <a:gdLst/>
              <a:ahLst/>
              <a:cxnLst/>
              <a:rect r="r" b="b" t="t" l="l"/>
              <a:pathLst>
                <a:path h="549069" w="2562322">
                  <a:moveTo>
                    <a:pt x="0" y="0"/>
                  </a:moveTo>
                  <a:lnTo>
                    <a:pt x="2562322" y="0"/>
                  </a:lnTo>
                  <a:lnTo>
                    <a:pt x="2562322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930" r="0" b="-4093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2562327" cy="5490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49"/>
                </a:lnSpc>
              </a:pPr>
              <a:r>
                <a:rPr lang="en-US" sz="1291" b="true">
                  <a:solidFill>
                    <a:srgbClr val="0B192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SENSORS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343743" y="2627909"/>
            <a:ext cx="3007681" cy="976122"/>
            <a:chOff x="0" y="0"/>
            <a:chExt cx="4010241" cy="130149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010279" cy="1301496"/>
            </a:xfrm>
            <a:custGeom>
              <a:avLst/>
              <a:gdLst/>
              <a:ahLst/>
              <a:cxnLst/>
              <a:rect r="r" b="b" t="t" l="l"/>
              <a:pathLst>
                <a:path h="1301496" w="4010279">
                  <a:moveTo>
                    <a:pt x="0" y="104140"/>
                  </a:moveTo>
                  <a:cubicBezTo>
                    <a:pt x="0" y="46609"/>
                    <a:pt x="46609" y="0"/>
                    <a:pt x="104140" y="0"/>
                  </a:cubicBezTo>
                  <a:lnTo>
                    <a:pt x="3906139" y="0"/>
                  </a:lnTo>
                  <a:cubicBezTo>
                    <a:pt x="3963670" y="0"/>
                    <a:pt x="4010279" y="46609"/>
                    <a:pt x="4010279" y="104140"/>
                  </a:cubicBezTo>
                  <a:lnTo>
                    <a:pt x="4010279" y="1197356"/>
                  </a:lnTo>
                  <a:cubicBezTo>
                    <a:pt x="4010279" y="1254887"/>
                    <a:pt x="3963670" y="1301496"/>
                    <a:pt x="3906139" y="1301496"/>
                  </a:cubicBezTo>
                  <a:lnTo>
                    <a:pt x="104140" y="1301496"/>
                  </a:lnTo>
                  <a:cubicBezTo>
                    <a:pt x="46609" y="1301496"/>
                    <a:pt x="0" y="1254887"/>
                    <a:pt x="0" y="1197356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7E0E9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4508944" y="2820553"/>
            <a:ext cx="590817" cy="590817"/>
            <a:chOff x="0" y="0"/>
            <a:chExt cx="787756" cy="78775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87781" cy="787781"/>
            </a:xfrm>
            <a:custGeom>
              <a:avLst/>
              <a:gdLst/>
              <a:ahLst/>
              <a:cxnLst/>
              <a:rect r="r" b="b" t="t" l="l"/>
              <a:pathLst>
                <a:path h="787781" w="787781">
                  <a:moveTo>
                    <a:pt x="0" y="393827"/>
                  </a:moveTo>
                  <a:cubicBezTo>
                    <a:pt x="0" y="176403"/>
                    <a:pt x="176403" y="0"/>
                    <a:pt x="393827" y="0"/>
                  </a:cubicBezTo>
                  <a:cubicBezTo>
                    <a:pt x="611251" y="0"/>
                    <a:pt x="787781" y="176403"/>
                    <a:pt x="787781" y="393827"/>
                  </a:cubicBezTo>
                  <a:cubicBezTo>
                    <a:pt x="787781" y="611251"/>
                    <a:pt x="611378" y="787781"/>
                    <a:pt x="393827" y="787781"/>
                  </a:cubicBezTo>
                  <a:cubicBezTo>
                    <a:pt x="176276" y="787781"/>
                    <a:pt x="0" y="611378"/>
                    <a:pt x="0" y="393827"/>
                  </a:cubicBezTo>
                  <a:close/>
                </a:path>
              </a:pathLst>
            </a:custGeom>
            <a:solidFill>
              <a:srgbClr val="00A6D2"/>
            </a:solidFill>
            <a:ln w="14299" cap="sq">
              <a:solidFill>
                <a:srgbClr val="00A6D2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4516088" y="2841431"/>
            <a:ext cx="576520" cy="521618"/>
            <a:chOff x="0" y="0"/>
            <a:chExt cx="768693" cy="69549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68697" cy="695487"/>
            </a:xfrm>
            <a:custGeom>
              <a:avLst/>
              <a:gdLst/>
              <a:ahLst/>
              <a:cxnLst/>
              <a:rect r="r" b="b" t="t" l="l"/>
              <a:pathLst>
                <a:path h="695487" w="768697">
                  <a:moveTo>
                    <a:pt x="0" y="0"/>
                  </a:moveTo>
                  <a:lnTo>
                    <a:pt x="768697" y="0"/>
                  </a:lnTo>
                  <a:lnTo>
                    <a:pt x="768697" y="695487"/>
                  </a:lnTo>
                  <a:lnTo>
                    <a:pt x="0" y="69548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6084" t="0" r="-66084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768693" cy="695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75"/>
                </a:lnSpc>
              </a:pPr>
              <a:r>
                <a:rPr lang="en-US" sz="1229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02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5280250" y="2896338"/>
            <a:ext cx="1921745" cy="411804"/>
            <a:chOff x="0" y="0"/>
            <a:chExt cx="2562327" cy="54907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562322" cy="549069"/>
            </a:xfrm>
            <a:custGeom>
              <a:avLst/>
              <a:gdLst/>
              <a:ahLst/>
              <a:cxnLst/>
              <a:rect r="r" b="b" t="t" l="l"/>
              <a:pathLst>
                <a:path h="549069" w="2562322">
                  <a:moveTo>
                    <a:pt x="0" y="0"/>
                  </a:moveTo>
                  <a:lnTo>
                    <a:pt x="2562322" y="0"/>
                  </a:lnTo>
                  <a:lnTo>
                    <a:pt x="2562322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930" r="0" b="-4093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2562327" cy="5490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49"/>
                </a:lnSpc>
              </a:pPr>
              <a:r>
                <a:rPr lang="en-US" sz="1291" b="true">
                  <a:solidFill>
                    <a:srgbClr val="0B192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EDGE COMPUTE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7734243" y="2627909"/>
            <a:ext cx="3007681" cy="976122"/>
            <a:chOff x="0" y="0"/>
            <a:chExt cx="4010241" cy="130149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010279" cy="1301496"/>
            </a:xfrm>
            <a:custGeom>
              <a:avLst/>
              <a:gdLst/>
              <a:ahLst/>
              <a:cxnLst/>
              <a:rect r="r" b="b" t="t" l="l"/>
              <a:pathLst>
                <a:path h="1301496" w="4010279">
                  <a:moveTo>
                    <a:pt x="0" y="104140"/>
                  </a:moveTo>
                  <a:cubicBezTo>
                    <a:pt x="0" y="46609"/>
                    <a:pt x="46609" y="0"/>
                    <a:pt x="104140" y="0"/>
                  </a:cubicBezTo>
                  <a:lnTo>
                    <a:pt x="3906139" y="0"/>
                  </a:lnTo>
                  <a:cubicBezTo>
                    <a:pt x="3963670" y="0"/>
                    <a:pt x="4010279" y="46609"/>
                    <a:pt x="4010279" y="104140"/>
                  </a:cubicBezTo>
                  <a:lnTo>
                    <a:pt x="4010279" y="1197356"/>
                  </a:lnTo>
                  <a:cubicBezTo>
                    <a:pt x="4010279" y="1254887"/>
                    <a:pt x="3963670" y="1301496"/>
                    <a:pt x="3906139" y="1301496"/>
                  </a:cubicBezTo>
                  <a:lnTo>
                    <a:pt x="104140" y="1301496"/>
                  </a:lnTo>
                  <a:cubicBezTo>
                    <a:pt x="46609" y="1301496"/>
                    <a:pt x="0" y="1254887"/>
                    <a:pt x="0" y="1197356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7E0E9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7899444" y="2820553"/>
            <a:ext cx="590817" cy="590817"/>
            <a:chOff x="0" y="0"/>
            <a:chExt cx="787756" cy="78775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87781" cy="787781"/>
            </a:xfrm>
            <a:custGeom>
              <a:avLst/>
              <a:gdLst/>
              <a:ahLst/>
              <a:cxnLst/>
              <a:rect r="r" b="b" t="t" l="l"/>
              <a:pathLst>
                <a:path h="787781" w="787781">
                  <a:moveTo>
                    <a:pt x="0" y="393827"/>
                  </a:moveTo>
                  <a:cubicBezTo>
                    <a:pt x="0" y="176403"/>
                    <a:pt x="176403" y="0"/>
                    <a:pt x="393827" y="0"/>
                  </a:cubicBezTo>
                  <a:cubicBezTo>
                    <a:pt x="611251" y="0"/>
                    <a:pt x="787781" y="176403"/>
                    <a:pt x="787781" y="393827"/>
                  </a:cubicBezTo>
                  <a:cubicBezTo>
                    <a:pt x="787781" y="611251"/>
                    <a:pt x="611378" y="787781"/>
                    <a:pt x="393827" y="787781"/>
                  </a:cubicBezTo>
                  <a:cubicBezTo>
                    <a:pt x="176276" y="787781"/>
                    <a:pt x="0" y="611378"/>
                    <a:pt x="0" y="393827"/>
                  </a:cubicBezTo>
                  <a:close/>
                </a:path>
              </a:pathLst>
            </a:custGeom>
            <a:solidFill>
              <a:srgbClr val="00A6D2"/>
            </a:solidFill>
            <a:ln w="14299" cap="sq">
              <a:solidFill>
                <a:srgbClr val="00A6D2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7906598" y="2841431"/>
            <a:ext cx="576520" cy="521618"/>
            <a:chOff x="0" y="0"/>
            <a:chExt cx="768693" cy="69549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68697" cy="695487"/>
            </a:xfrm>
            <a:custGeom>
              <a:avLst/>
              <a:gdLst/>
              <a:ahLst/>
              <a:cxnLst/>
              <a:rect r="r" b="b" t="t" l="l"/>
              <a:pathLst>
                <a:path h="695487" w="768697">
                  <a:moveTo>
                    <a:pt x="0" y="0"/>
                  </a:moveTo>
                  <a:lnTo>
                    <a:pt x="768697" y="0"/>
                  </a:lnTo>
                  <a:lnTo>
                    <a:pt x="768697" y="695487"/>
                  </a:lnTo>
                  <a:lnTo>
                    <a:pt x="0" y="69548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6084" t="0" r="-66084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768693" cy="695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75"/>
                </a:lnSpc>
              </a:pPr>
              <a:r>
                <a:rPr lang="en-US" sz="1229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03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8650548" y="2896338"/>
            <a:ext cx="1921745" cy="411804"/>
            <a:chOff x="0" y="0"/>
            <a:chExt cx="2562327" cy="54907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562322" cy="549069"/>
            </a:xfrm>
            <a:custGeom>
              <a:avLst/>
              <a:gdLst/>
              <a:ahLst/>
              <a:cxnLst/>
              <a:rect r="r" b="b" t="t" l="l"/>
              <a:pathLst>
                <a:path h="549069" w="2562322">
                  <a:moveTo>
                    <a:pt x="0" y="0"/>
                  </a:moveTo>
                  <a:lnTo>
                    <a:pt x="2562322" y="0"/>
                  </a:lnTo>
                  <a:lnTo>
                    <a:pt x="2562322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930" r="0" b="-4093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0"/>
              <a:ext cx="2562327" cy="5490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49"/>
                </a:lnSpc>
              </a:pPr>
              <a:r>
                <a:rPr lang="en-US" sz="1291" b="true">
                  <a:solidFill>
                    <a:srgbClr val="0B192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AI PROCESSING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1124743" y="2627909"/>
            <a:ext cx="3007681" cy="976122"/>
            <a:chOff x="0" y="0"/>
            <a:chExt cx="4010241" cy="130149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010279" cy="1301496"/>
            </a:xfrm>
            <a:custGeom>
              <a:avLst/>
              <a:gdLst/>
              <a:ahLst/>
              <a:cxnLst/>
              <a:rect r="r" b="b" t="t" l="l"/>
              <a:pathLst>
                <a:path h="1301496" w="4010279">
                  <a:moveTo>
                    <a:pt x="0" y="104140"/>
                  </a:moveTo>
                  <a:cubicBezTo>
                    <a:pt x="0" y="46609"/>
                    <a:pt x="46609" y="0"/>
                    <a:pt x="104140" y="0"/>
                  </a:cubicBezTo>
                  <a:lnTo>
                    <a:pt x="3906139" y="0"/>
                  </a:lnTo>
                  <a:cubicBezTo>
                    <a:pt x="3963670" y="0"/>
                    <a:pt x="4010279" y="46609"/>
                    <a:pt x="4010279" y="104140"/>
                  </a:cubicBezTo>
                  <a:lnTo>
                    <a:pt x="4010279" y="1197356"/>
                  </a:lnTo>
                  <a:cubicBezTo>
                    <a:pt x="4010279" y="1254887"/>
                    <a:pt x="3963670" y="1301496"/>
                    <a:pt x="3906139" y="1301496"/>
                  </a:cubicBezTo>
                  <a:lnTo>
                    <a:pt x="104140" y="1301496"/>
                  </a:lnTo>
                  <a:cubicBezTo>
                    <a:pt x="46609" y="1301496"/>
                    <a:pt x="0" y="1254887"/>
                    <a:pt x="0" y="1197356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7E0E9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1289944" y="2820553"/>
            <a:ext cx="590817" cy="590817"/>
            <a:chOff x="0" y="0"/>
            <a:chExt cx="787756" cy="78775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87781" cy="787781"/>
            </a:xfrm>
            <a:custGeom>
              <a:avLst/>
              <a:gdLst/>
              <a:ahLst/>
              <a:cxnLst/>
              <a:rect r="r" b="b" t="t" l="l"/>
              <a:pathLst>
                <a:path h="787781" w="787781">
                  <a:moveTo>
                    <a:pt x="0" y="393827"/>
                  </a:moveTo>
                  <a:cubicBezTo>
                    <a:pt x="0" y="176403"/>
                    <a:pt x="176403" y="0"/>
                    <a:pt x="393827" y="0"/>
                  </a:cubicBezTo>
                  <a:cubicBezTo>
                    <a:pt x="611251" y="0"/>
                    <a:pt x="787781" y="176403"/>
                    <a:pt x="787781" y="393827"/>
                  </a:cubicBezTo>
                  <a:cubicBezTo>
                    <a:pt x="787781" y="611251"/>
                    <a:pt x="611378" y="787781"/>
                    <a:pt x="393827" y="787781"/>
                  </a:cubicBezTo>
                  <a:cubicBezTo>
                    <a:pt x="176276" y="787781"/>
                    <a:pt x="0" y="611378"/>
                    <a:pt x="0" y="393827"/>
                  </a:cubicBezTo>
                  <a:close/>
                </a:path>
              </a:pathLst>
            </a:custGeom>
            <a:solidFill>
              <a:srgbClr val="00A6D2"/>
            </a:solidFill>
            <a:ln w="14299" cap="sq">
              <a:solidFill>
                <a:srgbClr val="00A6D2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1297098" y="2841431"/>
            <a:ext cx="576520" cy="521618"/>
            <a:chOff x="0" y="0"/>
            <a:chExt cx="768693" cy="69549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68697" cy="695487"/>
            </a:xfrm>
            <a:custGeom>
              <a:avLst/>
              <a:gdLst/>
              <a:ahLst/>
              <a:cxnLst/>
              <a:rect r="r" b="b" t="t" l="l"/>
              <a:pathLst>
                <a:path h="695487" w="768697">
                  <a:moveTo>
                    <a:pt x="0" y="0"/>
                  </a:moveTo>
                  <a:lnTo>
                    <a:pt x="768697" y="0"/>
                  </a:lnTo>
                  <a:lnTo>
                    <a:pt x="768697" y="695487"/>
                  </a:lnTo>
                  <a:lnTo>
                    <a:pt x="0" y="69548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6084" t="0" r="-66084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0"/>
              <a:ext cx="768693" cy="695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75"/>
                </a:lnSpc>
              </a:pPr>
              <a:r>
                <a:rPr lang="en-US" sz="1229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04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2042686" y="2896338"/>
            <a:ext cx="1921745" cy="411804"/>
            <a:chOff x="0" y="0"/>
            <a:chExt cx="2562327" cy="54907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562322" cy="549069"/>
            </a:xfrm>
            <a:custGeom>
              <a:avLst/>
              <a:gdLst/>
              <a:ahLst/>
              <a:cxnLst/>
              <a:rect r="r" b="b" t="t" l="l"/>
              <a:pathLst>
                <a:path h="549069" w="2562322">
                  <a:moveTo>
                    <a:pt x="0" y="0"/>
                  </a:moveTo>
                  <a:lnTo>
                    <a:pt x="2562322" y="0"/>
                  </a:lnTo>
                  <a:lnTo>
                    <a:pt x="2562322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930" r="0" b="-4093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2562327" cy="5490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49"/>
                </a:lnSpc>
              </a:pPr>
              <a:r>
                <a:rPr lang="en-US" sz="1291" b="true">
                  <a:solidFill>
                    <a:srgbClr val="0B192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COMMUNICATION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4515252" y="2627909"/>
            <a:ext cx="3007681" cy="976122"/>
            <a:chOff x="0" y="0"/>
            <a:chExt cx="4010241" cy="130149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010279" cy="1301496"/>
            </a:xfrm>
            <a:custGeom>
              <a:avLst/>
              <a:gdLst/>
              <a:ahLst/>
              <a:cxnLst/>
              <a:rect r="r" b="b" t="t" l="l"/>
              <a:pathLst>
                <a:path h="1301496" w="4010279">
                  <a:moveTo>
                    <a:pt x="0" y="104140"/>
                  </a:moveTo>
                  <a:cubicBezTo>
                    <a:pt x="0" y="46609"/>
                    <a:pt x="46609" y="0"/>
                    <a:pt x="104140" y="0"/>
                  </a:cubicBezTo>
                  <a:lnTo>
                    <a:pt x="3906139" y="0"/>
                  </a:lnTo>
                  <a:cubicBezTo>
                    <a:pt x="3963670" y="0"/>
                    <a:pt x="4010279" y="46609"/>
                    <a:pt x="4010279" y="104140"/>
                  </a:cubicBezTo>
                  <a:lnTo>
                    <a:pt x="4010279" y="1197356"/>
                  </a:lnTo>
                  <a:cubicBezTo>
                    <a:pt x="4010279" y="1254887"/>
                    <a:pt x="3963670" y="1301496"/>
                    <a:pt x="3906139" y="1301496"/>
                  </a:cubicBezTo>
                  <a:lnTo>
                    <a:pt x="104140" y="1301496"/>
                  </a:lnTo>
                  <a:cubicBezTo>
                    <a:pt x="46609" y="1301496"/>
                    <a:pt x="0" y="1254887"/>
                    <a:pt x="0" y="1197356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7E0E9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14680444" y="2820553"/>
            <a:ext cx="590817" cy="590817"/>
            <a:chOff x="0" y="0"/>
            <a:chExt cx="787756" cy="78775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87781" cy="787781"/>
            </a:xfrm>
            <a:custGeom>
              <a:avLst/>
              <a:gdLst/>
              <a:ahLst/>
              <a:cxnLst/>
              <a:rect r="r" b="b" t="t" l="l"/>
              <a:pathLst>
                <a:path h="787781" w="787781">
                  <a:moveTo>
                    <a:pt x="0" y="393827"/>
                  </a:moveTo>
                  <a:cubicBezTo>
                    <a:pt x="0" y="176403"/>
                    <a:pt x="176403" y="0"/>
                    <a:pt x="393827" y="0"/>
                  </a:cubicBezTo>
                  <a:cubicBezTo>
                    <a:pt x="611251" y="0"/>
                    <a:pt x="787781" y="176403"/>
                    <a:pt x="787781" y="393827"/>
                  </a:cubicBezTo>
                  <a:cubicBezTo>
                    <a:pt x="787781" y="611251"/>
                    <a:pt x="611378" y="787781"/>
                    <a:pt x="393827" y="787781"/>
                  </a:cubicBezTo>
                  <a:cubicBezTo>
                    <a:pt x="176276" y="787781"/>
                    <a:pt x="0" y="611378"/>
                    <a:pt x="0" y="393827"/>
                  </a:cubicBezTo>
                  <a:close/>
                </a:path>
              </a:pathLst>
            </a:custGeom>
            <a:solidFill>
              <a:srgbClr val="00A6D2"/>
            </a:solidFill>
            <a:ln w="14299" cap="sq">
              <a:solidFill>
                <a:srgbClr val="00A6D2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14687598" y="2841431"/>
            <a:ext cx="576520" cy="521618"/>
            <a:chOff x="0" y="0"/>
            <a:chExt cx="768693" cy="69549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768697" cy="695487"/>
            </a:xfrm>
            <a:custGeom>
              <a:avLst/>
              <a:gdLst/>
              <a:ahLst/>
              <a:cxnLst/>
              <a:rect r="r" b="b" t="t" l="l"/>
              <a:pathLst>
                <a:path h="695487" w="768697">
                  <a:moveTo>
                    <a:pt x="0" y="0"/>
                  </a:moveTo>
                  <a:lnTo>
                    <a:pt x="768697" y="0"/>
                  </a:lnTo>
                  <a:lnTo>
                    <a:pt x="768697" y="695487"/>
                  </a:lnTo>
                  <a:lnTo>
                    <a:pt x="0" y="69548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6084" t="0" r="-66084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0"/>
              <a:ext cx="768693" cy="695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75"/>
                </a:lnSpc>
              </a:pPr>
              <a:r>
                <a:rPr lang="en-US" sz="1229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05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5367349" y="2896338"/>
            <a:ext cx="1921745" cy="411804"/>
            <a:chOff x="0" y="0"/>
            <a:chExt cx="2562327" cy="549072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562322" cy="549069"/>
            </a:xfrm>
            <a:custGeom>
              <a:avLst/>
              <a:gdLst/>
              <a:ahLst/>
              <a:cxnLst/>
              <a:rect r="r" b="b" t="t" l="l"/>
              <a:pathLst>
                <a:path h="549069" w="2562322">
                  <a:moveTo>
                    <a:pt x="0" y="0"/>
                  </a:moveTo>
                  <a:lnTo>
                    <a:pt x="2562322" y="0"/>
                  </a:lnTo>
                  <a:lnTo>
                    <a:pt x="2562322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930" r="0" b="-4093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0"/>
              <a:ext cx="2562327" cy="5490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49"/>
                </a:lnSpc>
              </a:pPr>
              <a:r>
                <a:rPr lang="en-US" sz="1291" b="true">
                  <a:solidFill>
                    <a:srgbClr val="0B192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COMMAND ENGINE</a:t>
              </a:r>
            </a:p>
          </p:txBody>
        </p:sp>
      </p:grpSp>
      <p:sp>
        <p:nvSpPr>
          <p:cNvPr name="TextBox 58" id="58"/>
          <p:cNvSpPr txBox="true"/>
          <p:nvPr/>
        </p:nvSpPr>
        <p:spPr>
          <a:xfrm rot="0">
            <a:off x="1006592" y="4136307"/>
            <a:ext cx="4026579" cy="306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0B192D"/>
                </a:solidFill>
                <a:latin typeface="Aptos Bold"/>
                <a:ea typeface="Aptos Bold"/>
                <a:cs typeface="Aptos Bold"/>
                <a:sym typeface="Aptos Bold"/>
              </a:rPr>
              <a:t>HARDWARE COMPONENTS</a:t>
            </a:r>
          </a:p>
        </p:txBody>
      </p:sp>
      <p:grpSp>
        <p:nvGrpSpPr>
          <p:cNvPr name="Group 59" id="59"/>
          <p:cNvGrpSpPr/>
          <p:nvPr/>
        </p:nvGrpSpPr>
        <p:grpSpPr>
          <a:xfrm rot="0">
            <a:off x="953243" y="4632008"/>
            <a:ext cx="3103769" cy="1936994"/>
            <a:chOff x="0" y="0"/>
            <a:chExt cx="4138358" cy="2582659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4138422" cy="2582672"/>
            </a:xfrm>
            <a:custGeom>
              <a:avLst/>
              <a:gdLst/>
              <a:ahLst/>
              <a:cxnLst/>
              <a:rect r="r" b="b" t="t" l="l"/>
              <a:pathLst>
                <a:path h="2582672" w="4138422">
                  <a:moveTo>
                    <a:pt x="0" y="206629"/>
                  </a:moveTo>
                  <a:cubicBezTo>
                    <a:pt x="0" y="92456"/>
                    <a:pt x="92456" y="0"/>
                    <a:pt x="206629" y="0"/>
                  </a:cubicBezTo>
                  <a:lnTo>
                    <a:pt x="3931793" y="0"/>
                  </a:lnTo>
                  <a:cubicBezTo>
                    <a:pt x="4045839" y="0"/>
                    <a:pt x="4138422" y="92456"/>
                    <a:pt x="4138422" y="206629"/>
                  </a:cubicBezTo>
                  <a:lnTo>
                    <a:pt x="4138422" y="2376043"/>
                  </a:lnTo>
                  <a:cubicBezTo>
                    <a:pt x="4138422" y="2490089"/>
                    <a:pt x="4045966" y="2582672"/>
                    <a:pt x="3931793" y="2582672"/>
                  </a:cubicBezTo>
                  <a:lnTo>
                    <a:pt x="206629" y="2582672"/>
                  </a:lnTo>
                  <a:cubicBezTo>
                    <a:pt x="92456" y="2582672"/>
                    <a:pt x="0" y="2490216"/>
                    <a:pt x="0" y="2376043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7E0E9"/>
              </a:solidFill>
              <a:prstDash val="solid"/>
              <a:miter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1159621" y="4852111"/>
            <a:ext cx="590817" cy="590817"/>
            <a:chOff x="0" y="0"/>
            <a:chExt cx="787756" cy="787756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787781" cy="787781"/>
            </a:xfrm>
            <a:custGeom>
              <a:avLst/>
              <a:gdLst/>
              <a:ahLst/>
              <a:cxnLst/>
              <a:rect r="r" b="b" t="t" l="l"/>
              <a:pathLst>
                <a:path h="787781" w="787781">
                  <a:moveTo>
                    <a:pt x="0" y="393827"/>
                  </a:moveTo>
                  <a:cubicBezTo>
                    <a:pt x="0" y="176403"/>
                    <a:pt x="176403" y="0"/>
                    <a:pt x="393827" y="0"/>
                  </a:cubicBezTo>
                  <a:cubicBezTo>
                    <a:pt x="611251" y="0"/>
                    <a:pt x="787781" y="176403"/>
                    <a:pt x="787781" y="393827"/>
                  </a:cubicBezTo>
                  <a:cubicBezTo>
                    <a:pt x="787781" y="611251"/>
                    <a:pt x="611378" y="787781"/>
                    <a:pt x="393827" y="787781"/>
                  </a:cubicBezTo>
                  <a:cubicBezTo>
                    <a:pt x="176276" y="787781"/>
                    <a:pt x="0" y="611378"/>
                    <a:pt x="0" y="393827"/>
                  </a:cubicBezTo>
                  <a:close/>
                </a:path>
              </a:pathLst>
            </a:custGeom>
            <a:solidFill>
              <a:srgbClr val="00A6D2"/>
            </a:solidFill>
            <a:ln w="14299" cap="sq">
              <a:solidFill>
                <a:srgbClr val="00A6D2"/>
              </a:solidFill>
              <a:prstDash val="solid"/>
              <a:miter/>
            </a:ln>
          </p:spPr>
        </p:sp>
      </p:grpSp>
      <p:grpSp>
        <p:nvGrpSpPr>
          <p:cNvPr name="Group 63" id="63"/>
          <p:cNvGrpSpPr/>
          <p:nvPr/>
        </p:nvGrpSpPr>
        <p:grpSpPr>
          <a:xfrm rot="0">
            <a:off x="1166774" y="4872990"/>
            <a:ext cx="576520" cy="521618"/>
            <a:chOff x="0" y="0"/>
            <a:chExt cx="768693" cy="69549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768697" cy="695487"/>
            </a:xfrm>
            <a:custGeom>
              <a:avLst/>
              <a:gdLst/>
              <a:ahLst/>
              <a:cxnLst/>
              <a:rect r="r" b="b" t="t" l="l"/>
              <a:pathLst>
                <a:path h="695487" w="768697">
                  <a:moveTo>
                    <a:pt x="0" y="0"/>
                  </a:moveTo>
                  <a:lnTo>
                    <a:pt x="768697" y="0"/>
                  </a:lnTo>
                  <a:lnTo>
                    <a:pt x="768697" y="695487"/>
                  </a:lnTo>
                  <a:lnTo>
                    <a:pt x="0" y="69548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6084" t="0" r="-66084" b="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0"/>
              <a:ext cx="768693" cy="695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75"/>
                </a:lnSpc>
              </a:pPr>
              <a:r>
                <a:rPr lang="en-US" sz="1229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01</a:t>
              </a:r>
            </a:p>
          </p:txBody>
        </p:sp>
      </p:grpSp>
      <p:sp>
        <p:nvSpPr>
          <p:cNvPr name="TextBox 66" id="66"/>
          <p:cNvSpPr txBox="true"/>
          <p:nvPr/>
        </p:nvSpPr>
        <p:spPr>
          <a:xfrm rot="0">
            <a:off x="781790" y="4976298"/>
            <a:ext cx="3834930" cy="638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22"/>
              </a:lnSpc>
            </a:pPr>
            <a:r>
              <a:rPr lang="en-US" sz="1935" b="true">
                <a:solidFill>
                  <a:srgbClr val="0B192D"/>
                </a:solidFill>
                <a:latin typeface="Aptos Bold"/>
                <a:ea typeface="Aptos Bold"/>
                <a:cs typeface="Aptos Bold"/>
                <a:sym typeface="Aptos Bold"/>
              </a:rPr>
              <a:t>UAV PLATFORM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54335" y="5627661"/>
            <a:ext cx="4869645" cy="619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9"/>
              </a:lnSpc>
            </a:pPr>
            <a:r>
              <a:rPr lang="en-US" sz="2007">
                <a:solidFill>
                  <a:srgbClr val="465465"/>
                </a:solidFill>
                <a:latin typeface="Aptos"/>
                <a:ea typeface="Aptos"/>
                <a:cs typeface="Aptos"/>
                <a:sym typeface="Aptos"/>
              </a:rPr>
              <a:t>Multi-rotor airframe for </a:t>
            </a:r>
          </a:p>
          <a:p>
            <a:pPr algn="ctr">
              <a:lnSpc>
                <a:spcPts val="2409"/>
              </a:lnSpc>
            </a:pPr>
            <a:r>
              <a:rPr lang="en-US" sz="2007">
                <a:solidFill>
                  <a:srgbClr val="465465"/>
                </a:solidFill>
                <a:latin typeface="Aptos"/>
                <a:ea typeface="Aptos"/>
                <a:cs typeface="Aptos"/>
                <a:sym typeface="Aptos"/>
              </a:rPr>
              <a:t>aerial operations</a:t>
            </a:r>
          </a:p>
        </p:txBody>
      </p:sp>
      <p:grpSp>
        <p:nvGrpSpPr>
          <p:cNvPr name="Group 68" id="68"/>
          <p:cNvGrpSpPr/>
          <p:nvPr/>
        </p:nvGrpSpPr>
        <p:grpSpPr>
          <a:xfrm rot="0">
            <a:off x="4357468" y="4632008"/>
            <a:ext cx="3103769" cy="1936994"/>
            <a:chOff x="0" y="0"/>
            <a:chExt cx="4138358" cy="2582659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4138422" cy="2582672"/>
            </a:xfrm>
            <a:custGeom>
              <a:avLst/>
              <a:gdLst/>
              <a:ahLst/>
              <a:cxnLst/>
              <a:rect r="r" b="b" t="t" l="l"/>
              <a:pathLst>
                <a:path h="2582672" w="4138422">
                  <a:moveTo>
                    <a:pt x="0" y="206629"/>
                  </a:moveTo>
                  <a:cubicBezTo>
                    <a:pt x="0" y="92456"/>
                    <a:pt x="92456" y="0"/>
                    <a:pt x="206629" y="0"/>
                  </a:cubicBezTo>
                  <a:lnTo>
                    <a:pt x="3931793" y="0"/>
                  </a:lnTo>
                  <a:cubicBezTo>
                    <a:pt x="4045839" y="0"/>
                    <a:pt x="4138422" y="92456"/>
                    <a:pt x="4138422" y="206629"/>
                  </a:cubicBezTo>
                  <a:lnTo>
                    <a:pt x="4138422" y="2376043"/>
                  </a:lnTo>
                  <a:cubicBezTo>
                    <a:pt x="4138422" y="2490089"/>
                    <a:pt x="4045966" y="2582672"/>
                    <a:pt x="3931793" y="2582672"/>
                  </a:cubicBezTo>
                  <a:lnTo>
                    <a:pt x="206629" y="2582672"/>
                  </a:lnTo>
                  <a:cubicBezTo>
                    <a:pt x="92456" y="2582672"/>
                    <a:pt x="0" y="2490216"/>
                    <a:pt x="0" y="2376043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7E0E9"/>
              </a:solidFill>
              <a:prstDash val="solid"/>
              <a:miter/>
            </a:ln>
          </p:spPr>
        </p:sp>
      </p:grpSp>
      <p:grpSp>
        <p:nvGrpSpPr>
          <p:cNvPr name="Group 70" id="70"/>
          <p:cNvGrpSpPr/>
          <p:nvPr/>
        </p:nvGrpSpPr>
        <p:grpSpPr>
          <a:xfrm rot="0">
            <a:off x="4563847" y="4852111"/>
            <a:ext cx="590817" cy="590817"/>
            <a:chOff x="0" y="0"/>
            <a:chExt cx="787756" cy="787756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787781" cy="787781"/>
            </a:xfrm>
            <a:custGeom>
              <a:avLst/>
              <a:gdLst/>
              <a:ahLst/>
              <a:cxnLst/>
              <a:rect r="r" b="b" t="t" l="l"/>
              <a:pathLst>
                <a:path h="787781" w="787781">
                  <a:moveTo>
                    <a:pt x="0" y="393827"/>
                  </a:moveTo>
                  <a:cubicBezTo>
                    <a:pt x="0" y="176403"/>
                    <a:pt x="176403" y="0"/>
                    <a:pt x="393827" y="0"/>
                  </a:cubicBezTo>
                  <a:cubicBezTo>
                    <a:pt x="611251" y="0"/>
                    <a:pt x="787781" y="176403"/>
                    <a:pt x="787781" y="393827"/>
                  </a:cubicBezTo>
                  <a:cubicBezTo>
                    <a:pt x="787781" y="611251"/>
                    <a:pt x="611378" y="787781"/>
                    <a:pt x="393827" y="787781"/>
                  </a:cubicBezTo>
                  <a:cubicBezTo>
                    <a:pt x="176276" y="787781"/>
                    <a:pt x="0" y="611378"/>
                    <a:pt x="0" y="393827"/>
                  </a:cubicBezTo>
                  <a:close/>
                </a:path>
              </a:pathLst>
            </a:custGeom>
            <a:solidFill>
              <a:srgbClr val="E8772D"/>
            </a:solidFill>
            <a:ln w="14299" cap="sq">
              <a:solidFill>
                <a:srgbClr val="E8772D"/>
              </a:solidFill>
              <a:prstDash val="solid"/>
              <a:miter/>
            </a:ln>
          </p:spPr>
        </p:sp>
      </p:grpSp>
      <p:grpSp>
        <p:nvGrpSpPr>
          <p:cNvPr name="Group 72" id="72"/>
          <p:cNvGrpSpPr/>
          <p:nvPr/>
        </p:nvGrpSpPr>
        <p:grpSpPr>
          <a:xfrm rot="0">
            <a:off x="4571000" y="4872990"/>
            <a:ext cx="576520" cy="521618"/>
            <a:chOff x="0" y="0"/>
            <a:chExt cx="768693" cy="69549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768697" cy="695487"/>
            </a:xfrm>
            <a:custGeom>
              <a:avLst/>
              <a:gdLst/>
              <a:ahLst/>
              <a:cxnLst/>
              <a:rect r="r" b="b" t="t" l="l"/>
              <a:pathLst>
                <a:path h="695487" w="768697">
                  <a:moveTo>
                    <a:pt x="0" y="0"/>
                  </a:moveTo>
                  <a:lnTo>
                    <a:pt x="768697" y="0"/>
                  </a:lnTo>
                  <a:lnTo>
                    <a:pt x="768697" y="695487"/>
                  </a:lnTo>
                  <a:lnTo>
                    <a:pt x="0" y="69548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6084" t="0" r="-66084" b="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0"/>
              <a:ext cx="768693" cy="695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75"/>
                </a:lnSpc>
              </a:pPr>
              <a:r>
                <a:rPr lang="en-US" sz="1229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02</a:t>
              </a:r>
            </a:p>
          </p:txBody>
        </p:sp>
      </p:grpSp>
      <p:sp>
        <p:nvSpPr>
          <p:cNvPr name="TextBox 75" id="75"/>
          <p:cNvSpPr txBox="true"/>
          <p:nvPr/>
        </p:nvSpPr>
        <p:spPr>
          <a:xfrm rot="0">
            <a:off x="4159206" y="4966773"/>
            <a:ext cx="4186647" cy="706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35"/>
              </a:lnSpc>
            </a:pPr>
            <a:r>
              <a:rPr lang="en-US" sz="2112" b="true">
                <a:solidFill>
                  <a:srgbClr val="0B192D"/>
                </a:solidFill>
                <a:latin typeface="Aptos Bold"/>
                <a:ea typeface="Aptos Bold"/>
                <a:cs typeface="Aptos Bold"/>
                <a:sym typeface="Aptos Bold"/>
              </a:rPr>
              <a:t>GROUND ROVER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2973007" y="5614342"/>
            <a:ext cx="5749151" cy="720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4"/>
              </a:lnSpc>
            </a:pPr>
            <a:r>
              <a:rPr lang="en-US" sz="2370">
                <a:solidFill>
                  <a:srgbClr val="465465"/>
                </a:solidFill>
                <a:latin typeface="Aptos"/>
                <a:ea typeface="Aptos"/>
                <a:cs typeface="Aptos"/>
                <a:sym typeface="Aptos"/>
              </a:rPr>
              <a:t>All-terrain wheeled</a:t>
            </a:r>
          </a:p>
          <a:p>
            <a:pPr algn="ctr">
              <a:lnSpc>
                <a:spcPts val="2844"/>
              </a:lnSpc>
            </a:pPr>
            <a:r>
              <a:rPr lang="en-US" sz="2370">
                <a:solidFill>
                  <a:srgbClr val="465465"/>
                </a:solidFill>
                <a:latin typeface="Aptos"/>
                <a:ea typeface="Aptos"/>
                <a:cs typeface="Aptos"/>
                <a:sym typeface="Aptos"/>
              </a:rPr>
              <a:t> verification unit</a:t>
            </a:r>
          </a:p>
        </p:txBody>
      </p:sp>
      <p:grpSp>
        <p:nvGrpSpPr>
          <p:cNvPr name="Group 77" id="77"/>
          <p:cNvGrpSpPr/>
          <p:nvPr/>
        </p:nvGrpSpPr>
        <p:grpSpPr>
          <a:xfrm rot="0">
            <a:off x="7761703" y="4632008"/>
            <a:ext cx="3103769" cy="1936994"/>
            <a:chOff x="0" y="0"/>
            <a:chExt cx="4138358" cy="2582659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4138422" cy="2582672"/>
            </a:xfrm>
            <a:custGeom>
              <a:avLst/>
              <a:gdLst/>
              <a:ahLst/>
              <a:cxnLst/>
              <a:rect r="r" b="b" t="t" l="l"/>
              <a:pathLst>
                <a:path h="2582672" w="4138422">
                  <a:moveTo>
                    <a:pt x="0" y="206629"/>
                  </a:moveTo>
                  <a:cubicBezTo>
                    <a:pt x="0" y="92456"/>
                    <a:pt x="92456" y="0"/>
                    <a:pt x="206629" y="0"/>
                  </a:cubicBezTo>
                  <a:lnTo>
                    <a:pt x="3931793" y="0"/>
                  </a:lnTo>
                  <a:cubicBezTo>
                    <a:pt x="4045839" y="0"/>
                    <a:pt x="4138422" y="92456"/>
                    <a:pt x="4138422" y="206629"/>
                  </a:cubicBezTo>
                  <a:lnTo>
                    <a:pt x="4138422" y="2376043"/>
                  </a:lnTo>
                  <a:cubicBezTo>
                    <a:pt x="4138422" y="2490089"/>
                    <a:pt x="4045966" y="2582672"/>
                    <a:pt x="3931793" y="2582672"/>
                  </a:cubicBezTo>
                  <a:lnTo>
                    <a:pt x="206629" y="2582672"/>
                  </a:lnTo>
                  <a:cubicBezTo>
                    <a:pt x="92456" y="2582672"/>
                    <a:pt x="0" y="2490216"/>
                    <a:pt x="0" y="2376043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7E0E9"/>
              </a:solidFill>
              <a:prstDash val="solid"/>
              <a:miter/>
            </a:ln>
          </p:spPr>
        </p:sp>
      </p:grpSp>
      <p:grpSp>
        <p:nvGrpSpPr>
          <p:cNvPr name="Group 79" id="79"/>
          <p:cNvGrpSpPr/>
          <p:nvPr/>
        </p:nvGrpSpPr>
        <p:grpSpPr>
          <a:xfrm rot="0">
            <a:off x="7968082" y="4852111"/>
            <a:ext cx="590817" cy="590817"/>
            <a:chOff x="0" y="0"/>
            <a:chExt cx="787756" cy="787756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787781" cy="787781"/>
            </a:xfrm>
            <a:custGeom>
              <a:avLst/>
              <a:gdLst/>
              <a:ahLst/>
              <a:cxnLst/>
              <a:rect r="r" b="b" t="t" l="l"/>
              <a:pathLst>
                <a:path h="787781" w="787781">
                  <a:moveTo>
                    <a:pt x="0" y="393827"/>
                  </a:moveTo>
                  <a:cubicBezTo>
                    <a:pt x="0" y="176403"/>
                    <a:pt x="176403" y="0"/>
                    <a:pt x="393827" y="0"/>
                  </a:cubicBezTo>
                  <a:cubicBezTo>
                    <a:pt x="611251" y="0"/>
                    <a:pt x="787781" y="176403"/>
                    <a:pt x="787781" y="393827"/>
                  </a:cubicBezTo>
                  <a:cubicBezTo>
                    <a:pt x="787781" y="611251"/>
                    <a:pt x="611378" y="787781"/>
                    <a:pt x="393827" y="787781"/>
                  </a:cubicBezTo>
                  <a:cubicBezTo>
                    <a:pt x="176276" y="787781"/>
                    <a:pt x="0" y="611378"/>
                    <a:pt x="0" y="393827"/>
                  </a:cubicBezTo>
                  <a:close/>
                </a:path>
              </a:pathLst>
            </a:custGeom>
            <a:solidFill>
              <a:srgbClr val="CD4448"/>
            </a:solidFill>
            <a:ln w="14299" cap="sq">
              <a:solidFill>
                <a:srgbClr val="CD4448"/>
              </a:solidFill>
              <a:prstDash val="solid"/>
              <a:miter/>
            </a:ln>
          </p:spPr>
        </p:sp>
      </p:grpSp>
      <p:grpSp>
        <p:nvGrpSpPr>
          <p:cNvPr name="Group 81" id="81"/>
          <p:cNvGrpSpPr/>
          <p:nvPr/>
        </p:nvGrpSpPr>
        <p:grpSpPr>
          <a:xfrm rot="0">
            <a:off x="7975225" y="4872990"/>
            <a:ext cx="576520" cy="521618"/>
            <a:chOff x="0" y="0"/>
            <a:chExt cx="768693" cy="69549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768697" cy="695487"/>
            </a:xfrm>
            <a:custGeom>
              <a:avLst/>
              <a:gdLst/>
              <a:ahLst/>
              <a:cxnLst/>
              <a:rect r="r" b="b" t="t" l="l"/>
              <a:pathLst>
                <a:path h="695487" w="768697">
                  <a:moveTo>
                    <a:pt x="0" y="0"/>
                  </a:moveTo>
                  <a:lnTo>
                    <a:pt x="768697" y="0"/>
                  </a:lnTo>
                  <a:lnTo>
                    <a:pt x="768697" y="695487"/>
                  </a:lnTo>
                  <a:lnTo>
                    <a:pt x="0" y="69548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6084" t="0" r="-66084" b="0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0"/>
              <a:ext cx="768693" cy="695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75"/>
                </a:lnSpc>
              </a:pPr>
              <a:r>
                <a:rPr lang="en-US" sz="1229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03</a:t>
              </a:r>
            </a:p>
          </p:txBody>
        </p:sp>
      </p:grpSp>
      <p:sp>
        <p:nvSpPr>
          <p:cNvPr name="TextBox 84" id="84"/>
          <p:cNvSpPr txBox="true"/>
          <p:nvPr/>
        </p:nvSpPr>
        <p:spPr>
          <a:xfrm rot="0">
            <a:off x="7761703" y="4981740"/>
            <a:ext cx="3802221" cy="632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02"/>
              </a:lnSpc>
            </a:pPr>
            <a:r>
              <a:rPr lang="en-US" sz="1918" b="true">
                <a:solidFill>
                  <a:srgbClr val="0B192D"/>
                </a:solidFill>
                <a:latin typeface="Aptos Bold"/>
                <a:ea typeface="Aptos Bold"/>
                <a:cs typeface="Aptos Bold"/>
                <a:sym typeface="Aptos Bold"/>
              </a:rPr>
              <a:t>THERMAL CAMERA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6252529" y="5576769"/>
            <a:ext cx="5834250" cy="73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6"/>
              </a:lnSpc>
            </a:pPr>
            <a:r>
              <a:rPr lang="en-US" sz="2405">
                <a:solidFill>
                  <a:srgbClr val="465465"/>
                </a:solidFill>
                <a:latin typeface="Aptos"/>
                <a:ea typeface="Aptos"/>
                <a:cs typeface="Aptos"/>
                <a:sym typeface="Aptos"/>
              </a:rPr>
              <a:t>Infrared survivor</a:t>
            </a:r>
          </a:p>
          <a:p>
            <a:pPr algn="ctr">
              <a:lnSpc>
                <a:spcPts val="2886"/>
              </a:lnSpc>
            </a:pPr>
            <a:r>
              <a:rPr lang="en-US" sz="2405">
                <a:solidFill>
                  <a:srgbClr val="465465"/>
                </a:solidFill>
                <a:latin typeface="Aptos"/>
                <a:ea typeface="Aptos"/>
                <a:cs typeface="Aptos"/>
                <a:sym typeface="Aptos"/>
              </a:rPr>
              <a:t>       detection sensor</a:t>
            </a:r>
          </a:p>
        </p:txBody>
      </p:sp>
      <p:grpSp>
        <p:nvGrpSpPr>
          <p:cNvPr name="Group 86" id="86"/>
          <p:cNvGrpSpPr/>
          <p:nvPr/>
        </p:nvGrpSpPr>
        <p:grpSpPr>
          <a:xfrm rot="0">
            <a:off x="11165929" y="4632008"/>
            <a:ext cx="3103769" cy="1936994"/>
            <a:chOff x="0" y="0"/>
            <a:chExt cx="4138358" cy="2582659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4138422" cy="2582672"/>
            </a:xfrm>
            <a:custGeom>
              <a:avLst/>
              <a:gdLst/>
              <a:ahLst/>
              <a:cxnLst/>
              <a:rect r="r" b="b" t="t" l="l"/>
              <a:pathLst>
                <a:path h="2582672" w="4138422">
                  <a:moveTo>
                    <a:pt x="0" y="206629"/>
                  </a:moveTo>
                  <a:cubicBezTo>
                    <a:pt x="0" y="92456"/>
                    <a:pt x="92456" y="0"/>
                    <a:pt x="206629" y="0"/>
                  </a:cubicBezTo>
                  <a:lnTo>
                    <a:pt x="3931793" y="0"/>
                  </a:lnTo>
                  <a:cubicBezTo>
                    <a:pt x="4045839" y="0"/>
                    <a:pt x="4138422" y="92456"/>
                    <a:pt x="4138422" y="206629"/>
                  </a:cubicBezTo>
                  <a:lnTo>
                    <a:pt x="4138422" y="2376043"/>
                  </a:lnTo>
                  <a:cubicBezTo>
                    <a:pt x="4138422" y="2490089"/>
                    <a:pt x="4045966" y="2582672"/>
                    <a:pt x="3931793" y="2582672"/>
                  </a:cubicBezTo>
                  <a:lnTo>
                    <a:pt x="206629" y="2582672"/>
                  </a:lnTo>
                  <a:cubicBezTo>
                    <a:pt x="92456" y="2582672"/>
                    <a:pt x="0" y="2490216"/>
                    <a:pt x="0" y="2376043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7E0E9"/>
              </a:solidFill>
              <a:prstDash val="solid"/>
              <a:miter/>
            </a:ln>
          </p:spPr>
        </p:sp>
      </p:grpSp>
      <p:grpSp>
        <p:nvGrpSpPr>
          <p:cNvPr name="Group 88" id="88"/>
          <p:cNvGrpSpPr/>
          <p:nvPr/>
        </p:nvGrpSpPr>
        <p:grpSpPr>
          <a:xfrm rot="0">
            <a:off x="11372307" y="4852111"/>
            <a:ext cx="590817" cy="590817"/>
            <a:chOff x="0" y="0"/>
            <a:chExt cx="787756" cy="787756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787781" cy="787781"/>
            </a:xfrm>
            <a:custGeom>
              <a:avLst/>
              <a:gdLst/>
              <a:ahLst/>
              <a:cxnLst/>
              <a:rect r="r" b="b" t="t" l="l"/>
              <a:pathLst>
                <a:path h="787781" w="787781">
                  <a:moveTo>
                    <a:pt x="0" y="393827"/>
                  </a:moveTo>
                  <a:cubicBezTo>
                    <a:pt x="0" y="176403"/>
                    <a:pt x="176403" y="0"/>
                    <a:pt x="393827" y="0"/>
                  </a:cubicBezTo>
                  <a:cubicBezTo>
                    <a:pt x="611251" y="0"/>
                    <a:pt x="787781" y="176403"/>
                    <a:pt x="787781" y="393827"/>
                  </a:cubicBezTo>
                  <a:cubicBezTo>
                    <a:pt x="787781" y="611251"/>
                    <a:pt x="611378" y="787781"/>
                    <a:pt x="393827" y="787781"/>
                  </a:cubicBezTo>
                  <a:cubicBezTo>
                    <a:pt x="176276" y="787781"/>
                    <a:pt x="0" y="611378"/>
                    <a:pt x="0" y="393827"/>
                  </a:cubicBezTo>
                  <a:close/>
                </a:path>
              </a:pathLst>
            </a:custGeom>
            <a:solidFill>
              <a:srgbClr val="259766"/>
            </a:solidFill>
            <a:ln w="14299" cap="sq">
              <a:solidFill>
                <a:srgbClr val="259766"/>
              </a:solidFill>
              <a:prstDash val="solid"/>
              <a:miter/>
            </a:ln>
          </p:spPr>
        </p:sp>
      </p:grpSp>
      <p:grpSp>
        <p:nvGrpSpPr>
          <p:cNvPr name="Group 90" id="90"/>
          <p:cNvGrpSpPr/>
          <p:nvPr/>
        </p:nvGrpSpPr>
        <p:grpSpPr>
          <a:xfrm rot="0">
            <a:off x="11379451" y="4872990"/>
            <a:ext cx="576520" cy="521618"/>
            <a:chOff x="0" y="0"/>
            <a:chExt cx="768693" cy="69549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768697" cy="695487"/>
            </a:xfrm>
            <a:custGeom>
              <a:avLst/>
              <a:gdLst/>
              <a:ahLst/>
              <a:cxnLst/>
              <a:rect r="r" b="b" t="t" l="l"/>
              <a:pathLst>
                <a:path h="695487" w="768697">
                  <a:moveTo>
                    <a:pt x="0" y="0"/>
                  </a:moveTo>
                  <a:lnTo>
                    <a:pt x="768697" y="0"/>
                  </a:lnTo>
                  <a:lnTo>
                    <a:pt x="768697" y="695487"/>
                  </a:lnTo>
                  <a:lnTo>
                    <a:pt x="0" y="69548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6084" t="0" r="-66084" b="0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0"/>
              <a:ext cx="768693" cy="695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75"/>
                </a:lnSpc>
              </a:pPr>
              <a:r>
                <a:rPr lang="en-US" sz="1229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04</a:t>
              </a:r>
            </a:p>
          </p:txBody>
        </p:sp>
      </p:grpSp>
      <p:sp>
        <p:nvSpPr>
          <p:cNvPr name="TextBox 93" id="93"/>
          <p:cNvSpPr txBox="true"/>
          <p:nvPr/>
        </p:nvSpPr>
        <p:spPr>
          <a:xfrm rot="0">
            <a:off x="10865472" y="4956581"/>
            <a:ext cx="4296470" cy="714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1"/>
              </a:lnSpc>
            </a:pPr>
            <a:r>
              <a:rPr lang="en-US" sz="2167" b="true">
                <a:solidFill>
                  <a:srgbClr val="0B192D"/>
                </a:solidFill>
                <a:latin typeface="Aptos Bold"/>
                <a:ea typeface="Aptos Bold"/>
                <a:cs typeface="Aptos Bold"/>
                <a:sym typeface="Aptos Bold"/>
              </a:rPr>
              <a:t>LORA MODULE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9964419" y="5629522"/>
            <a:ext cx="5506789" cy="68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24"/>
              </a:lnSpc>
            </a:pPr>
            <a:r>
              <a:rPr lang="en-US" sz="2270">
                <a:solidFill>
                  <a:srgbClr val="465465"/>
                </a:solidFill>
                <a:latin typeface="Aptos"/>
                <a:ea typeface="Aptos"/>
                <a:cs typeface="Aptos"/>
                <a:sym typeface="Aptos"/>
              </a:rPr>
              <a:t>Long-range low-power </a:t>
            </a:r>
          </a:p>
          <a:p>
            <a:pPr algn="ctr">
              <a:lnSpc>
                <a:spcPts val="2724"/>
              </a:lnSpc>
            </a:pPr>
            <a:r>
              <a:rPr lang="en-US" sz="2270">
                <a:solidFill>
                  <a:srgbClr val="465465"/>
                </a:solidFill>
                <a:latin typeface="Aptos"/>
                <a:ea typeface="Aptos"/>
                <a:cs typeface="Aptos"/>
                <a:sym typeface="Aptos"/>
              </a:rPr>
              <a:t>communication</a:t>
            </a:r>
          </a:p>
        </p:txBody>
      </p:sp>
      <p:grpSp>
        <p:nvGrpSpPr>
          <p:cNvPr name="Group 95" id="95"/>
          <p:cNvGrpSpPr/>
          <p:nvPr/>
        </p:nvGrpSpPr>
        <p:grpSpPr>
          <a:xfrm rot="0">
            <a:off x="14570154" y="4632008"/>
            <a:ext cx="3103769" cy="1936994"/>
            <a:chOff x="0" y="0"/>
            <a:chExt cx="4138358" cy="2582659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4138422" cy="2582672"/>
            </a:xfrm>
            <a:custGeom>
              <a:avLst/>
              <a:gdLst/>
              <a:ahLst/>
              <a:cxnLst/>
              <a:rect r="r" b="b" t="t" l="l"/>
              <a:pathLst>
                <a:path h="2582672" w="4138422">
                  <a:moveTo>
                    <a:pt x="0" y="206629"/>
                  </a:moveTo>
                  <a:cubicBezTo>
                    <a:pt x="0" y="92456"/>
                    <a:pt x="92456" y="0"/>
                    <a:pt x="206629" y="0"/>
                  </a:cubicBezTo>
                  <a:lnTo>
                    <a:pt x="3931793" y="0"/>
                  </a:lnTo>
                  <a:cubicBezTo>
                    <a:pt x="4045839" y="0"/>
                    <a:pt x="4138422" y="92456"/>
                    <a:pt x="4138422" y="206629"/>
                  </a:cubicBezTo>
                  <a:lnTo>
                    <a:pt x="4138422" y="2376043"/>
                  </a:lnTo>
                  <a:cubicBezTo>
                    <a:pt x="4138422" y="2490089"/>
                    <a:pt x="4045966" y="2582672"/>
                    <a:pt x="3931793" y="2582672"/>
                  </a:cubicBezTo>
                  <a:lnTo>
                    <a:pt x="206629" y="2582672"/>
                  </a:lnTo>
                  <a:cubicBezTo>
                    <a:pt x="92456" y="2582672"/>
                    <a:pt x="0" y="2490216"/>
                    <a:pt x="0" y="2376043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7E0E9"/>
              </a:solidFill>
              <a:prstDash val="solid"/>
              <a:miter/>
            </a:ln>
          </p:spPr>
        </p:sp>
      </p:grpSp>
      <p:grpSp>
        <p:nvGrpSpPr>
          <p:cNvPr name="Group 97" id="97"/>
          <p:cNvGrpSpPr/>
          <p:nvPr/>
        </p:nvGrpSpPr>
        <p:grpSpPr>
          <a:xfrm rot="0">
            <a:off x="14776533" y="4852111"/>
            <a:ext cx="590817" cy="590817"/>
            <a:chOff x="0" y="0"/>
            <a:chExt cx="787756" cy="787756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787781" cy="787781"/>
            </a:xfrm>
            <a:custGeom>
              <a:avLst/>
              <a:gdLst/>
              <a:ahLst/>
              <a:cxnLst/>
              <a:rect r="r" b="b" t="t" l="l"/>
              <a:pathLst>
                <a:path h="787781" w="787781">
                  <a:moveTo>
                    <a:pt x="0" y="393827"/>
                  </a:moveTo>
                  <a:cubicBezTo>
                    <a:pt x="0" y="176403"/>
                    <a:pt x="176403" y="0"/>
                    <a:pt x="393827" y="0"/>
                  </a:cubicBezTo>
                  <a:cubicBezTo>
                    <a:pt x="611251" y="0"/>
                    <a:pt x="787781" y="176403"/>
                    <a:pt x="787781" y="393827"/>
                  </a:cubicBezTo>
                  <a:cubicBezTo>
                    <a:pt x="787781" y="611251"/>
                    <a:pt x="611378" y="787781"/>
                    <a:pt x="393827" y="787781"/>
                  </a:cubicBezTo>
                  <a:cubicBezTo>
                    <a:pt x="176276" y="787781"/>
                    <a:pt x="0" y="611378"/>
                    <a:pt x="0" y="393827"/>
                  </a:cubicBezTo>
                  <a:close/>
                </a:path>
              </a:pathLst>
            </a:custGeom>
            <a:solidFill>
              <a:srgbClr val="0B192D"/>
            </a:solidFill>
            <a:ln w="14299" cap="sq">
              <a:solidFill>
                <a:srgbClr val="0B192D"/>
              </a:solidFill>
              <a:prstDash val="solid"/>
              <a:miter/>
            </a:ln>
          </p:spPr>
        </p:sp>
      </p:grpSp>
      <p:grpSp>
        <p:nvGrpSpPr>
          <p:cNvPr name="Group 99" id="99"/>
          <p:cNvGrpSpPr/>
          <p:nvPr/>
        </p:nvGrpSpPr>
        <p:grpSpPr>
          <a:xfrm rot="0">
            <a:off x="14783686" y="4872990"/>
            <a:ext cx="576520" cy="521618"/>
            <a:chOff x="0" y="0"/>
            <a:chExt cx="768693" cy="69549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768697" cy="695487"/>
            </a:xfrm>
            <a:custGeom>
              <a:avLst/>
              <a:gdLst/>
              <a:ahLst/>
              <a:cxnLst/>
              <a:rect r="r" b="b" t="t" l="l"/>
              <a:pathLst>
                <a:path h="695487" w="768697">
                  <a:moveTo>
                    <a:pt x="0" y="0"/>
                  </a:moveTo>
                  <a:lnTo>
                    <a:pt x="768697" y="0"/>
                  </a:lnTo>
                  <a:lnTo>
                    <a:pt x="768697" y="695487"/>
                  </a:lnTo>
                  <a:lnTo>
                    <a:pt x="0" y="69548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6084" t="0" r="-66084" b="0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0"/>
              <a:ext cx="768693" cy="695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75"/>
                </a:lnSpc>
              </a:pPr>
              <a:r>
                <a:rPr lang="en-US" sz="1229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05</a:t>
              </a:r>
            </a:p>
          </p:txBody>
        </p:sp>
      </p:grpSp>
      <p:sp>
        <p:nvSpPr>
          <p:cNvPr name="TextBox 102" id="102"/>
          <p:cNvSpPr txBox="true"/>
          <p:nvPr/>
        </p:nvSpPr>
        <p:spPr>
          <a:xfrm rot="0">
            <a:off x="14374473" y="4798650"/>
            <a:ext cx="3979240" cy="595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9"/>
              </a:lnSpc>
            </a:pPr>
            <a:r>
              <a:rPr lang="en-US" sz="2007" b="true">
                <a:solidFill>
                  <a:srgbClr val="0B192D"/>
                </a:solidFill>
                <a:latin typeface="Aptos Bold"/>
                <a:ea typeface="Aptos Bold"/>
                <a:cs typeface="Aptos Bold"/>
                <a:sym typeface="Aptos Bold"/>
              </a:rPr>
              <a:t>RASPBERRY PI /</a:t>
            </a:r>
          </a:p>
          <a:p>
            <a:pPr algn="ctr">
              <a:lnSpc>
                <a:spcPts val="2409"/>
              </a:lnSpc>
            </a:pPr>
            <a:r>
              <a:rPr lang="en-US" sz="2007" b="true">
                <a:solidFill>
                  <a:srgbClr val="0B192D"/>
                </a:solidFill>
                <a:latin typeface="Aptos Bold"/>
                <a:ea typeface="Aptos Bold"/>
                <a:cs typeface="Aptos Bold"/>
                <a:sym typeface="Aptos Bold"/>
              </a:rPr>
              <a:t> JETSON NANO</a:t>
            </a:r>
          </a:p>
        </p:txBody>
      </p:sp>
      <p:sp>
        <p:nvSpPr>
          <p:cNvPr name="TextBox 103" id="103"/>
          <p:cNvSpPr txBox="true"/>
          <p:nvPr/>
        </p:nvSpPr>
        <p:spPr>
          <a:xfrm rot="0">
            <a:off x="13549450" y="5661890"/>
            <a:ext cx="5145178" cy="654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45"/>
              </a:lnSpc>
            </a:pPr>
            <a:r>
              <a:rPr lang="en-US" sz="2121">
                <a:solidFill>
                  <a:srgbClr val="465465"/>
                </a:solidFill>
                <a:latin typeface="Aptos"/>
                <a:ea typeface="Aptos"/>
                <a:cs typeface="Aptos"/>
                <a:sym typeface="Aptos"/>
              </a:rPr>
              <a:t>Onboard edge</a:t>
            </a:r>
          </a:p>
          <a:p>
            <a:pPr algn="ctr">
              <a:lnSpc>
                <a:spcPts val="2545"/>
              </a:lnSpc>
            </a:pPr>
            <a:r>
              <a:rPr lang="en-US" sz="2121">
                <a:solidFill>
                  <a:srgbClr val="465465"/>
                </a:solidFill>
                <a:latin typeface="Aptos"/>
                <a:ea typeface="Aptos"/>
                <a:cs typeface="Aptos"/>
                <a:sym typeface="Aptos"/>
              </a:rPr>
              <a:t> AI compute units</a:t>
            </a:r>
          </a:p>
        </p:txBody>
      </p:sp>
      <p:sp>
        <p:nvSpPr>
          <p:cNvPr name="TextBox 104" id="104"/>
          <p:cNvSpPr txBox="true"/>
          <p:nvPr/>
        </p:nvSpPr>
        <p:spPr>
          <a:xfrm rot="0">
            <a:off x="1006592" y="6964013"/>
            <a:ext cx="3340237" cy="306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0B192D"/>
                </a:solidFill>
                <a:latin typeface="Aptos Bold"/>
                <a:ea typeface="Aptos Bold"/>
                <a:cs typeface="Aptos Bold"/>
                <a:sym typeface="Aptos Bold"/>
              </a:rPr>
              <a:t>SOFTWARE STACK</a:t>
            </a:r>
          </a:p>
        </p:txBody>
      </p:sp>
      <p:grpSp>
        <p:nvGrpSpPr>
          <p:cNvPr name="Group 105" id="105"/>
          <p:cNvGrpSpPr/>
          <p:nvPr/>
        </p:nvGrpSpPr>
        <p:grpSpPr>
          <a:xfrm rot="0">
            <a:off x="953243" y="7432262"/>
            <a:ext cx="2595877" cy="1195749"/>
            <a:chOff x="0" y="0"/>
            <a:chExt cx="3461169" cy="1594333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3461131" cy="1594358"/>
            </a:xfrm>
            <a:custGeom>
              <a:avLst/>
              <a:gdLst/>
              <a:ahLst/>
              <a:cxnLst/>
              <a:rect r="r" b="b" t="t" l="l"/>
              <a:pathLst>
                <a:path h="1594358" w="3461131">
                  <a:moveTo>
                    <a:pt x="0" y="127508"/>
                  </a:moveTo>
                  <a:cubicBezTo>
                    <a:pt x="0" y="57150"/>
                    <a:pt x="57150" y="0"/>
                    <a:pt x="127508" y="0"/>
                  </a:cubicBezTo>
                  <a:lnTo>
                    <a:pt x="3333623" y="0"/>
                  </a:lnTo>
                  <a:cubicBezTo>
                    <a:pt x="3404108" y="0"/>
                    <a:pt x="3461131" y="57150"/>
                    <a:pt x="3461131" y="127508"/>
                  </a:cubicBezTo>
                  <a:lnTo>
                    <a:pt x="3461131" y="1466850"/>
                  </a:lnTo>
                  <a:cubicBezTo>
                    <a:pt x="3461131" y="1537335"/>
                    <a:pt x="3403981" y="1594358"/>
                    <a:pt x="3333623" y="1594358"/>
                  </a:cubicBezTo>
                  <a:lnTo>
                    <a:pt x="127508" y="1594358"/>
                  </a:lnTo>
                  <a:cubicBezTo>
                    <a:pt x="57150" y="1594358"/>
                    <a:pt x="0" y="1537208"/>
                    <a:pt x="0" y="1466850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7E0E9"/>
              </a:solidFill>
              <a:prstDash val="solid"/>
              <a:miter/>
            </a:ln>
          </p:spPr>
        </p:sp>
      </p:grpSp>
      <p:sp>
        <p:nvSpPr>
          <p:cNvPr name="TextBox 107" id="107"/>
          <p:cNvSpPr txBox="true"/>
          <p:nvPr/>
        </p:nvSpPr>
        <p:spPr>
          <a:xfrm rot="0">
            <a:off x="764632" y="7627040"/>
            <a:ext cx="2973109" cy="339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8"/>
              </a:lnSpc>
            </a:pPr>
            <a:r>
              <a:rPr lang="en-US" sz="1632" b="true">
                <a:solidFill>
                  <a:srgbClr val="0B192D"/>
                </a:solidFill>
                <a:latin typeface="Aptos Bold"/>
                <a:ea typeface="Aptos Bold"/>
                <a:cs typeface="Aptos Bold"/>
                <a:sym typeface="Aptos Bold"/>
              </a:rPr>
              <a:t>Python</a:t>
            </a:r>
          </a:p>
        </p:txBody>
      </p:sp>
      <p:sp>
        <p:nvSpPr>
          <p:cNvPr name="TextBox 108" id="108"/>
          <p:cNvSpPr txBox="true"/>
          <p:nvPr/>
        </p:nvSpPr>
        <p:spPr>
          <a:xfrm rot="0">
            <a:off x="455341" y="8024736"/>
            <a:ext cx="3591691" cy="367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2"/>
              </a:lnSpc>
            </a:pPr>
            <a:r>
              <a:rPr lang="en-US" sz="1577">
                <a:solidFill>
                  <a:srgbClr val="465465"/>
                </a:solidFill>
                <a:latin typeface="Aptos"/>
                <a:ea typeface="Aptos"/>
                <a:cs typeface="Aptos"/>
                <a:sym typeface="Aptos"/>
              </a:rPr>
              <a:t>Core language</a:t>
            </a:r>
          </a:p>
        </p:txBody>
      </p:sp>
      <p:grpSp>
        <p:nvGrpSpPr>
          <p:cNvPr name="Group 109" id="109"/>
          <p:cNvGrpSpPr/>
          <p:nvPr/>
        </p:nvGrpSpPr>
        <p:grpSpPr>
          <a:xfrm rot="0">
            <a:off x="3726047" y="7432262"/>
            <a:ext cx="2595877" cy="1195749"/>
            <a:chOff x="0" y="0"/>
            <a:chExt cx="3461169" cy="1594333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3461131" cy="1594358"/>
            </a:xfrm>
            <a:custGeom>
              <a:avLst/>
              <a:gdLst/>
              <a:ahLst/>
              <a:cxnLst/>
              <a:rect r="r" b="b" t="t" l="l"/>
              <a:pathLst>
                <a:path h="1594358" w="3461131">
                  <a:moveTo>
                    <a:pt x="0" y="127508"/>
                  </a:moveTo>
                  <a:cubicBezTo>
                    <a:pt x="0" y="57150"/>
                    <a:pt x="57150" y="0"/>
                    <a:pt x="127508" y="0"/>
                  </a:cubicBezTo>
                  <a:lnTo>
                    <a:pt x="3333623" y="0"/>
                  </a:lnTo>
                  <a:cubicBezTo>
                    <a:pt x="3404108" y="0"/>
                    <a:pt x="3461131" y="57150"/>
                    <a:pt x="3461131" y="127508"/>
                  </a:cubicBezTo>
                  <a:lnTo>
                    <a:pt x="3461131" y="1466850"/>
                  </a:lnTo>
                  <a:cubicBezTo>
                    <a:pt x="3461131" y="1537335"/>
                    <a:pt x="3403981" y="1594358"/>
                    <a:pt x="3333623" y="1594358"/>
                  </a:cubicBezTo>
                  <a:lnTo>
                    <a:pt x="127508" y="1594358"/>
                  </a:lnTo>
                  <a:cubicBezTo>
                    <a:pt x="57150" y="1594358"/>
                    <a:pt x="0" y="1537208"/>
                    <a:pt x="0" y="1466850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7E0E9"/>
              </a:solidFill>
              <a:prstDash val="solid"/>
              <a:miter/>
            </a:ln>
          </p:spPr>
        </p:sp>
      </p:grpSp>
      <p:sp>
        <p:nvSpPr>
          <p:cNvPr name="TextBox 111" id="111"/>
          <p:cNvSpPr txBox="true"/>
          <p:nvPr/>
        </p:nvSpPr>
        <p:spPr>
          <a:xfrm rot="0">
            <a:off x="3537426" y="7627040"/>
            <a:ext cx="2973109" cy="339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8"/>
              </a:lnSpc>
            </a:pPr>
            <a:r>
              <a:rPr lang="en-US" sz="1632" b="true">
                <a:solidFill>
                  <a:srgbClr val="0B192D"/>
                </a:solidFill>
                <a:latin typeface="Aptos Bold"/>
                <a:ea typeface="Aptos Bold"/>
                <a:cs typeface="Aptos Bold"/>
                <a:sym typeface="Aptos Bold"/>
              </a:rPr>
              <a:t>OpenCV</a:t>
            </a:r>
          </a:p>
        </p:txBody>
      </p:sp>
      <p:sp>
        <p:nvSpPr>
          <p:cNvPr name="TextBox 112" id="112"/>
          <p:cNvSpPr txBox="true"/>
          <p:nvPr/>
        </p:nvSpPr>
        <p:spPr>
          <a:xfrm rot="0">
            <a:off x="3019882" y="7993892"/>
            <a:ext cx="4008196" cy="419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12"/>
              </a:lnSpc>
            </a:pPr>
            <a:r>
              <a:rPr lang="en-US" sz="1760">
                <a:solidFill>
                  <a:srgbClr val="465465"/>
                </a:solidFill>
                <a:latin typeface="Aptos"/>
                <a:ea typeface="Aptos"/>
                <a:cs typeface="Aptos"/>
                <a:sym typeface="Aptos"/>
              </a:rPr>
              <a:t>Vision processing</a:t>
            </a:r>
          </a:p>
        </p:txBody>
      </p:sp>
      <p:grpSp>
        <p:nvGrpSpPr>
          <p:cNvPr name="Group 113" id="113"/>
          <p:cNvGrpSpPr/>
          <p:nvPr/>
        </p:nvGrpSpPr>
        <p:grpSpPr>
          <a:xfrm rot="0">
            <a:off x="6498841" y="7432262"/>
            <a:ext cx="2595877" cy="1195749"/>
            <a:chOff x="0" y="0"/>
            <a:chExt cx="3461169" cy="1594333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3461131" cy="1594358"/>
            </a:xfrm>
            <a:custGeom>
              <a:avLst/>
              <a:gdLst/>
              <a:ahLst/>
              <a:cxnLst/>
              <a:rect r="r" b="b" t="t" l="l"/>
              <a:pathLst>
                <a:path h="1594358" w="3461131">
                  <a:moveTo>
                    <a:pt x="0" y="127508"/>
                  </a:moveTo>
                  <a:cubicBezTo>
                    <a:pt x="0" y="57150"/>
                    <a:pt x="57150" y="0"/>
                    <a:pt x="127508" y="0"/>
                  </a:cubicBezTo>
                  <a:lnTo>
                    <a:pt x="3333623" y="0"/>
                  </a:lnTo>
                  <a:cubicBezTo>
                    <a:pt x="3404108" y="0"/>
                    <a:pt x="3461131" y="57150"/>
                    <a:pt x="3461131" y="127508"/>
                  </a:cubicBezTo>
                  <a:lnTo>
                    <a:pt x="3461131" y="1466850"/>
                  </a:lnTo>
                  <a:cubicBezTo>
                    <a:pt x="3461131" y="1537335"/>
                    <a:pt x="3403981" y="1594358"/>
                    <a:pt x="3333623" y="1594358"/>
                  </a:cubicBezTo>
                  <a:lnTo>
                    <a:pt x="127508" y="1594358"/>
                  </a:lnTo>
                  <a:cubicBezTo>
                    <a:pt x="57150" y="1594358"/>
                    <a:pt x="0" y="1537208"/>
                    <a:pt x="0" y="1466850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7E0E9"/>
              </a:solidFill>
              <a:prstDash val="solid"/>
              <a:miter/>
            </a:ln>
          </p:spPr>
        </p:sp>
      </p:grpSp>
      <p:sp>
        <p:nvSpPr>
          <p:cNvPr name="TextBox 115" id="115"/>
          <p:cNvSpPr txBox="true"/>
          <p:nvPr/>
        </p:nvSpPr>
        <p:spPr>
          <a:xfrm rot="0">
            <a:off x="6053282" y="7597702"/>
            <a:ext cx="3486985" cy="398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6"/>
              </a:lnSpc>
            </a:pPr>
            <a:r>
              <a:rPr lang="en-US" sz="1914" b="true">
                <a:solidFill>
                  <a:srgbClr val="0B192D"/>
                </a:solidFill>
                <a:latin typeface="Aptos Bold"/>
                <a:ea typeface="Aptos Bold"/>
                <a:cs typeface="Aptos Bold"/>
                <a:sym typeface="Aptos Bold"/>
              </a:rPr>
              <a:t>YOLO</a:t>
            </a:r>
          </a:p>
        </p:txBody>
      </p:sp>
      <p:sp>
        <p:nvSpPr>
          <p:cNvPr name="TextBox 116" id="116"/>
          <p:cNvSpPr txBox="true"/>
          <p:nvPr/>
        </p:nvSpPr>
        <p:spPr>
          <a:xfrm rot="0">
            <a:off x="5847583" y="8009038"/>
            <a:ext cx="3898382" cy="399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4"/>
              </a:lnSpc>
            </a:pPr>
            <a:r>
              <a:rPr lang="en-US" sz="1711">
                <a:solidFill>
                  <a:srgbClr val="465465"/>
                </a:solidFill>
                <a:latin typeface="Aptos"/>
                <a:ea typeface="Aptos"/>
                <a:cs typeface="Aptos"/>
                <a:sym typeface="Aptos"/>
              </a:rPr>
              <a:t>Object detection</a:t>
            </a:r>
          </a:p>
        </p:txBody>
      </p:sp>
      <p:grpSp>
        <p:nvGrpSpPr>
          <p:cNvPr name="Group 117" id="117"/>
          <p:cNvGrpSpPr/>
          <p:nvPr/>
        </p:nvGrpSpPr>
        <p:grpSpPr>
          <a:xfrm rot="0">
            <a:off x="9271635" y="7432262"/>
            <a:ext cx="2595877" cy="1195749"/>
            <a:chOff x="0" y="0"/>
            <a:chExt cx="3461169" cy="1594333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3461131" cy="1594358"/>
            </a:xfrm>
            <a:custGeom>
              <a:avLst/>
              <a:gdLst/>
              <a:ahLst/>
              <a:cxnLst/>
              <a:rect r="r" b="b" t="t" l="l"/>
              <a:pathLst>
                <a:path h="1594358" w="3461131">
                  <a:moveTo>
                    <a:pt x="0" y="127508"/>
                  </a:moveTo>
                  <a:cubicBezTo>
                    <a:pt x="0" y="57150"/>
                    <a:pt x="57150" y="0"/>
                    <a:pt x="127508" y="0"/>
                  </a:cubicBezTo>
                  <a:lnTo>
                    <a:pt x="3333623" y="0"/>
                  </a:lnTo>
                  <a:cubicBezTo>
                    <a:pt x="3404108" y="0"/>
                    <a:pt x="3461131" y="57150"/>
                    <a:pt x="3461131" y="127508"/>
                  </a:cubicBezTo>
                  <a:lnTo>
                    <a:pt x="3461131" y="1466850"/>
                  </a:lnTo>
                  <a:cubicBezTo>
                    <a:pt x="3461131" y="1537335"/>
                    <a:pt x="3403981" y="1594358"/>
                    <a:pt x="3333623" y="1594358"/>
                  </a:cubicBezTo>
                  <a:lnTo>
                    <a:pt x="127508" y="1594358"/>
                  </a:lnTo>
                  <a:cubicBezTo>
                    <a:pt x="57150" y="1594358"/>
                    <a:pt x="0" y="1537208"/>
                    <a:pt x="0" y="1466850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7E0E9"/>
              </a:solidFill>
              <a:prstDash val="solid"/>
              <a:miter/>
            </a:ln>
          </p:spPr>
        </p:sp>
      </p:grpSp>
      <p:sp>
        <p:nvSpPr>
          <p:cNvPr name="TextBox 119" id="119"/>
          <p:cNvSpPr txBox="true"/>
          <p:nvPr/>
        </p:nvSpPr>
        <p:spPr>
          <a:xfrm rot="0">
            <a:off x="9083024" y="7627040"/>
            <a:ext cx="2973109" cy="339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8"/>
              </a:lnSpc>
            </a:pPr>
            <a:r>
              <a:rPr lang="en-US" sz="1632" b="true">
                <a:solidFill>
                  <a:srgbClr val="0B192D"/>
                </a:solidFill>
                <a:latin typeface="Aptos Bold"/>
                <a:ea typeface="Aptos Bold"/>
                <a:cs typeface="Aptos Bold"/>
                <a:sym typeface="Aptos Bold"/>
              </a:rPr>
              <a:t>TensorFlow</a:t>
            </a:r>
          </a:p>
        </p:txBody>
      </p:sp>
      <p:sp>
        <p:nvSpPr>
          <p:cNvPr name="TextBox 120" id="120"/>
          <p:cNvSpPr txBox="true"/>
          <p:nvPr/>
        </p:nvSpPr>
        <p:spPr>
          <a:xfrm rot="0">
            <a:off x="8483117" y="8004510"/>
            <a:ext cx="4172922" cy="417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99"/>
              </a:lnSpc>
            </a:pPr>
            <a:r>
              <a:rPr lang="en-US" sz="1832">
                <a:solidFill>
                  <a:srgbClr val="465465"/>
                </a:solidFill>
                <a:latin typeface="Aptos"/>
                <a:ea typeface="Aptos"/>
                <a:cs typeface="Aptos"/>
                <a:sym typeface="Aptos"/>
              </a:rPr>
              <a:t>AI inference</a:t>
            </a:r>
          </a:p>
        </p:txBody>
      </p:sp>
      <p:grpSp>
        <p:nvGrpSpPr>
          <p:cNvPr name="Group 121" id="121"/>
          <p:cNvGrpSpPr/>
          <p:nvPr/>
        </p:nvGrpSpPr>
        <p:grpSpPr>
          <a:xfrm rot="0">
            <a:off x="12044439" y="7432262"/>
            <a:ext cx="2595877" cy="1195749"/>
            <a:chOff x="0" y="0"/>
            <a:chExt cx="3461169" cy="1594333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3461131" cy="1594358"/>
            </a:xfrm>
            <a:custGeom>
              <a:avLst/>
              <a:gdLst/>
              <a:ahLst/>
              <a:cxnLst/>
              <a:rect r="r" b="b" t="t" l="l"/>
              <a:pathLst>
                <a:path h="1594358" w="3461131">
                  <a:moveTo>
                    <a:pt x="0" y="127508"/>
                  </a:moveTo>
                  <a:cubicBezTo>
                    <a:pt x="0" y="57150"/>
                    <a:pt x="57150" y="0"/>
                    <a:pt x="127508" y="0"/>
                  </a:cubicBezTo>
                  <a:lnTo>
                    <a:pt x="3333623" y="0"/>
                  </a:lnTo>
                  <a:cubicBezTo>
                    <a:pt x="3404108" y="0"/>
                    <a:pt x="3461131" y="57150"/>
                    <a:pt x="3461131" y="127508"/>
                  </a:cubicBezTo>
                  <a:lnTo>
                    <a:pt x="3461131" y="1466850"/>
                  </a:lnTo>
                  <a:cubicBezTo>
                    <a:pt x="3461131" y="1537335"/>
                    <a:pt x="3403981" y="1594358"/>
                    <a:pt x="3333623" y="1594358"/>
                  </a:cubicBezTo>
                  <a:lnTo>
                    <a:pt x="127508" y="1594358"/>
                  </a:lnTo>
                  <a:cubicBezTo>
                    <a:pt x="57150" y="1594358"/>
                    <a:pt x="0" y="1537208"/>
                    <a:pt x="0" y="1466850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7E0E9"/>
              </a:solidFill>
              <a:prstDash val="solid"/>
              <a:miter/>
            </a:ln>
          </p:spPr>
        </p:sp>
      </p:grpSp>
      <p:sp>
        <p:nvSpPr>
          <p:cNvPr name="TextBox 123" id="123"/>
          <p:cNvSpPr txBox="true"/>
          <p:nvPr/>
        </p:nvSpPr>
        <p:spPr>
          <a:xfrm rot="0">
            <a:off x="11598880" y="7597702"/>
            <a:ext cx="3486985" cy="398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6"/>
              </a:lnSpc>
            </a:pPr>
            <a:r>
              <a:rPr lang="en-US" sz="1914" b="true">
                <a:solidFill>
                  <a:srgbClr val="0B192D"/>
                </a:solidFill>
                <a:latin typeface="Aptos Bold"/>
                <a:ea typeface="Aptos Bold"/>
                <a:cs typeface="Aptos Bold"/>
                <a:sym typeface="Aptos Bold"/>
              </a:rPr>
              <a:t>FastAPI</a:t>
            </a:r>
          </a:p>
        </p:txBody>
      </p:sp>
      <p:sp>
        <p:nvSpPr>
          <p:cNvPr name="TextBox 124" id="124"/>
          <p:cNvSpPr txBox="true"/>
          <p:nvPr/>
        </p:nvSpPr>
        <p:spPr>
          <a:xfrm rot="0">
            <a:off x="11372307" y="8006901"/>
            <a:ext cx="3940131" cy="403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6"/>
              </a:lnSpc>
            </a:pPr>
            <a:r>
              <a:rPr lang="en-US" sz="1730">
                <a:solidFill>
                  <a:srgbClr val="465465"/>
                </a:solidFill>
                <a:latin typeface="Aptos"/>
                <a:ea typeface="Aptos"/>
                <a:cs typeface="Aptos"/>
                <a:sym typeface="Aptos"/>
              </a:rPr>
              <a:t>Backend services</a:t>
            </a:r>
          </a:p>
        </p:txBody>
      </p:sp>
      <p:grpSp>
        <p:nvGrpSpPr>
          <p:cNvPr name="Group 125" id="125"/>
          <p:cNvGrpSpPr/>
          <p:nvPr/>
        </p:nvGrpSpPr>
        <p:grpSpPr>
          <a:xfrm rot="0">
            <a:off x="14817233" y="7432262"/>
            <a:ext cx="2595877" cy="1195749"/>
            <a:chOff x="0" y="0"/>
            <a:chExt cx="3461169" cy="1594333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3461131" cy="1594358"/>
            </a:xfrm>
            <a:custGeom>
              <a:avLst/>
              <a:gdLst/>
              <a:ahLst/>
              <a:cxnLst/>
              <a:rect r="r" b="b" t="t" l="l"/>
              <a:pathLst>
                <a:path h="1594358" w="3461131">
                  <a:moveTo>
                    <a:pt x="0" y="127508"/>
                  </a:moveTo>
                  <a:cubicBezTo>
                    <a:pt x="0" y="57150"/>
                    <a:pt x="57150" y="0"/>
                    <a:pt x="127508" y="0"/>
                  </a:cubicBezTo>
                  <a:lnTo>
                    <a:pt x="3333623" y="0"/>
                  </a:lnTo>
                  <a:cubicBezTo>
                    <a:pt x="3404108" y="0"/>
                    <a:pt x="3461131" y="57150"/>
                    <a:pt x="3461131" y="127508"/>
                  </a:cubicBezTo>
                  <a:lnTo>
                    <a:pt x="3461131" y="1466850"/>
                  </a:lnTo>
                  <a:cubicBezTo>
                    <a:pt x="3461131" y="1537335"/>
                    <a:pt x="3403981" y="1594358"/>
                    <a:pt x="3333623" y="1594358"/>
                  </a:cubicBezTo>
                  <a:lnTo>
                    <a:pt x="127508" y="1594358"/>
                  </a:lnTo>
                  <a:cubicBezTo>
                    <a:pt x="57150" y="1594358"/>
                    <a:pt x="0" y="1537208"/>
                    <a:pt x="0" y="1466850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7E0E9"/>
              </a:solidFill>
              <a:prstDash val="solid"/>
              <a:miter/>
            </a:ln>
          </p:spPr>
        </p:sp>
      </p:grpSp>
      <p:sp>
        <p:nvSpPr>
          <p:cNvPr name="TextBox 127" id="127"/>
          <p:cNvSpPr txBox="true"/>
          <p:nvPr/>
        </p:nvSpPr>
        <p:spPr>
          <a:xfrm rot="0">
            <a:off x="14515252" y="7604570"/>
            <a:ext cx="3199848" cy="374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7"/>
              </a:lnSpc>
            </a:pPr>
            <a:r>
              <a:rPr lang="en-US" sz="1756" b="true">
                <a:solidFill>
                  <a:srgbClr val="0B192D"/>
                </a:solidFill>
                <a:latin typeface="Aptos Bold"/>
                <a:ea typeface="Aptos Bold"/>
                <a:cs typeface="Aptos Bold"/>
                <a:sym typeface="Aptos Bold"/>
              </a:rPr>
              <a:t>GIS &amp; 3D Mapping</a:t>
            </a:r>
          </a:p>
        </p:txBody>
      </p:sp>
      <p:sp>
        <p:nvSpPr>
          <p:cNvPr name="TextBox 128" id="128"/>
          <p:cNvSpPr txBox="true"/>
          <p:nvPr/>
        </p:nvSpPr>
        <p:spPr>
          <a:xfrm rot="0">
            <a:off x="14028715" y="8004510"/>
            <a:ext cx="4172922" cy="417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99"/>
              </a:lnSpc>
            </a:pPr>
            <a:r>
              <a:rPr lang="en-US" sz="1832">
                <a:solidFill>
                  <a:srgbClr val="465465"/>
                </a:solidFill>
                <a:latin typeface="Aptos"/>
                <a:ea typeface="Aptos"/>
                <a:cs typeface="Aptos"/>
                <a:sym typeface="Aptos"/>
              </a:rPr>
              <a:t>Spatial visualization</a:t>
            </a:r>
          </a:p>
        </p:txBody>
      </p:sp>
      <p:grpSp>
        <p:nvGrpSpPr>
          <p:cNvPr name="Group 129" id="129"/>
          <p:cNvGrpSpPr/>
          <p:nvPr/>
        </p:nvGrpSpPr>
        <p:grpSpPr>
          <a:xfrm rot="0">
            <a:off x="953243" y="8914743"/>
            <a:ext cx="16459867" cy="481965"/>
            <a:chOff x="0" y="0"/>
            <a:chExt cx="21946489" cy="642620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21946490" cy="642620"/>
            </a:xfrm>
            <a:custGeom>
              <a:avLst/>
              <a:gdLst/>
              <a:ahLst/>
              <a:cxnLst/>
              <a:rect r="r" b="b" t="t" l="l"/>
              <a:pathLst>
                <a:path h="642620" w="21946490">
                  <a:moveTo>
                    <a:pt x="0" y="51435"/>
                  </a:moveTo>
                  <a:cubicBezTo>
                    <a:pt x="0" y="22987"/>
                    <a:pt x="22987" y="0"/>
                    <a:pt x="51435" y="0"/>
                  </a:cubicBezTo>
                  <a:lnTo>
                    <a:pt x="21895054" y="0"/>
                  </a:lnTo>
                  <a:cubicBezTo>
                    <a:pt x="21923502" y="0"/>
                    <a:pt x="21946490" y="22987"/>
                    <a:pt x="21946490" y="51435"/>
                  </a:cubicBezTo>
                  <a:lnTo>
                    <a:pt x="21946490" y="591185"/>
                  </a:lnTo>
                  <a:cubicBezTo>
                    <a:pt x="21946490" y="619633"/>
                    <a:pt x="21923502" y="642620"/>
                    <a:pt x="21895054" y="642620"/>
                  </a:cubicBezTo>
                  <a:lnTo>
                    <a:pt x="51435" y="642620"/>
                  </a:lnTo>
                  <a:cubicBezTo>
                    <a:pt x="22987" y="642620"/>
                    <a:pt x="0" y="619633"/>
                    <a:pt x="0" y="591185"/>
                  </a:cubicBezTo>
                  <a:close/>
                </a:path>
              </a:pathLst>
            </a:custGeom>
            <a:solidFill>
              <a:srgbClr val="E8F6FB"/>
            </a:solidFill>
            <a:ln w="15252" cap="sq">
              <a:solidFill>
                <a:srgbClr val="E8F6FB"/>
              </a:solidFill>
              <a:prstDash val="solid"/>
              <a:miter/>
            </a:ln>
          </p:spPr>
        </p:sp>
      </p:grpSp>
      <p:sp>
        <p:nvSpPr>
          <p:cNvPr name="TextBox 131" id="131"/>
          <p:cNvSpPr txBox="true"/>
          <p:nvPr/>
        </p:nvSpPr>
        <p:spPr>
          <a:xfrm rot="0">
            <a:off x="1281122" y="8995562"/>
            <a:ext cx="15804109" cy="306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1"/>
              </a:lnSpc>
            </a:pPr>
            <a:r>
              <a:rPr lang="en-US" sz="1200" b="true">
                <a:solidFill>
                  <a:srgbClr val="0B192D"/>
                </a:solidFill>
                <a:latin typeface="Aptos Bold"/>
                <a:ea typeface="Aptos Bold"/>
                <a:cs typeface="Aptos Bold"/>
                <a:sym typeface="Aptos Bold"/>
              </a:rPr>
              <a:t>OPERATIONAL LOOP  •  Continuous situational awareness + resource deployment</a:t>
            </a:r>
          </a:p>
        </p:txBody>
      </p:sp>
      <p:sp>
        <p:nvSpPr>
          <p:cNvPr name="AutoShape 132" id="132"/>
          <p:cNvSpPr/>
          <p:nvPr/>
        </p:nvSpPr>
        <p:spPr>
          <a:xfrm rot="3180">
            <a:off x="925792" y="9631394"/>
            <a:ext cx="16446151" cy="0"/>
          </a:xfrm>
          <a:prstGeom prst="line">
            <a:avLst/>
          </a:prstGeom>
          <a:ln cap="rnd" w="9525">
            <a:solidFill>
              <a:srgbClr val="D7E0E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3" id="133"/>
          <p:cNvSpPr txBox="true"/>
          <p:nvPr/>
        </p:nvSpPr>
        <p:spPr>
          <a:xfrm rot="0">
            <a:off x="979141" y="9764258"/>
            <a:ext cx="7870060" cy="210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70"/>
              </a:lnSpc>
            </a:pPr>
            <a:r>
              <a:rPr lang="en-US" sz="975" b="true">
                <a:solidFill>
                  <a:srgbClr val="697788"/>
                </a:solidFill>
                <a:latin typeface="Aptos Bold"/>
                <a:ea typeface="Aptos Bold"/>
                <a:cs typeface="Aptos Bold"/>
                <a:sym typeface="Aptos Bold"/>
              </a:rPr>
              <a:t>SKYRESCUE INNOVATORS  •  SMART INDIA HACKATHON 2025</a:t>
            </a:r>
          </a:p>
        </p:txBody>
      </p:sp>
      <p:grpSp>
        <p:nvGrpSpPr>
          <p:cNvPr name="Group 134" id="134"/>
          <p:cNvGrpSpPr/>
          <p:nvPr/>
        </p:nvGrpSpPr>
        <p:grpSpPr>
          <a:xfrm rot="0">
            <a:off x="14613363" y="-331251"/>
            <a:ext cx="3313652" cy="1684306"/>
            <a:chOff x="0" y="0"/>
            <a:chExt cx="4418203" cy="2245741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4418203" cy="2245741"/>
            </a:xfrm>
            <a:custGeom>
              <a:avLst/>
              <a:gdLst/>
              <a:ahLst/>
              <a:cxnLst/>
              <a:rect r="r" b="b" t="t" l="l"/>
              <a:pathLst>
                <a:path h="2245741" w="4418203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9512" r="0" b="-9512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630" y="-7630"/>
            <a:ext cx="18317089" cy="10310298"/>
            <a:chOff x="0" y="0"/>
            <a:chExt cx="24422786" cy="137470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22736" cy="13747114"/>
            </a:xfrm>
            <a:custGeom>
              <a:avLst/>
              <a:gdLst/>
              <a:ahLst/>
              <a:cxnLst/>
              <a:rect r="r" b="b" t="t" l="l"/>
              <a:pathLst>
                <a:path h="13747114" w="24422736">
                  <a:moveTo>
                    <a:pt x="0" y="0"/>
                  </a:moveTo>
                  <a:lnTo>
                    <a:pt x="24422736" y="0"/>
                  </a:lnTo>
                  <a:lnTo>
                    <a:pt x="24422736" y="13747114"/>
                  </a:lnTo>
                  <a:lnTo>
                    <a:pt x="0" y="13747114"/>
                  </a:lnTo>
                  <a:close/>
                </a:path>
              </a:pathLst>
            </a:custGeom>
            <a:solidFill>
              <a:srgbClr val="F8FAFD"/>
            </a:solidFill>
            <a:ln w="15252" cap="sq">
              <a:solidFill>
                <a:srgbClr val="F8FAFD"/>
              </a:solidFill>
              <a:prstDash val="solid"/>
              <a:miter/>
            </a:ln>
          </p:spPr>
        </p:sp>
      </p:grpSp>
      <p:sp>
        <p:nvSpPr>
          <p:cNvPr name="TextBox 4" id="4"/>
          <p:cNvSpPr txBox="true"/>
          <p:nvPr/>
        </p:nvSpPr>
        <p:spPr>
          <a:xfrm rot="0">
            <a:off x="979141" y="461743"/>
            <a:ext cx="5673785" cy="316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 b="true">
                <a:solidFill>
                  <a:srgbClr val="007AB4"/>
                </a:solidFill>
                <a:latin typeface="Aptos Bold"/>
                <a:ea typeface="Aptos Bold"/>
                <a:cs typeface="Aptos Bold"/>
                <a:sym typeface="Aptos Bold"/>
              </a:rPr>
              <a:t>04 • FEASIBILITY &amp; IMPACT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79141" y="896798"/>
            <a:ext cx="14733422" cy="649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3"/>
              </a:lnSpc>
            </a:pPr>
            <a:r>
              <a:rPr lang="en-US" sz="3602" b="true">
                <a:solidFill>
                  <a:srgbClr val="0B192D"/>
                </a:solidFill>
                <a:latin typeface="Aptos Bold"/>
                <a:ea typeface="Aptos Bold"/>
                <a:cs typeface="Aptos Bold"/>
                <a:sym typeface="Aptos Bold"/>
              </a:rPr>
              <a:t>From prototype to large-scale deployment</a:t>
            </a:r>
          </a:p>
        </p:txBody>
      </p:sp>
      <p:sp>
        <p:nvSpPr>
          <p:cNvPr name="AutoShape 6" id="6"/>
          <p:cNvSpPr/>
          <p:nvPr/>
        </p:nvSpPr>
        <p:spPr>
          <a:xfrm rot="3960">
            <a:off x="923877" y="1711081"/>
            <a:ext cx="16449961" cy="0"/>
          </a:xfrm>
          <a:prstGeom prst="line">
            <a:avLst/>
          </a:prstGeom>
          <a:ln cap="rnd" w="9525">
            <a:solidFill>
              <a:srgbClr val="D7E0E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006592" y="2118474"/>
            <a:ext cx="3340237" cy="306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0B192D"/>
                </a:solidFill>
                <a:latin typeface="Aptos Bold"/>
                <a:ea typeface="Aptos Bold"/>
                <a:cs typeface="Aptos Bold"/>
                <a:sym typeface="Aptos Bold"/>
              </a:rPr>
              <a:t>FEASIBILITY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53243" y="2600449"/>
            <a:ext cx="3446936" cy="2211524"/>
            <a:chOff x="0" y="0"/>
            <a:chExt cx="4595914" cy="294869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595876" cy="2948686"/>
            </a:xfrm>
            <a:custGeom>
              <a:avLst/>
              <a:gdLst/>
              <a:ahLst/>
              <a:cxnLst/>
              <a:rect r="r" b="b" t="t" l="l"/>
              <a:pathLst>
                <a:path h="2948686" w="4595876">
                  <a:moveTo>
                    <a:pt x="0" y="235839"/>
                  </a:moveTo>
                  <a:cubicBezTo>
                    <a:pt x="0" y="105664"/>
                    <a:pt x="105664" y="0"/>
                    <a:pt x="235839" y="0"/>
                  </a:cubicBezTo>
                  <a:lnTo>
                    <a:pt x="4360037" y="0"/>
                  </a:lnTo>
                  <a:cubicBezTo>
                    <a:pt x="4490339" y="0"/>
                    <a:pt x="4595876" y="105664"/>
                    <a:pt x="4595876" y="235839"/>
                  </a:cubicBezTo>
                  <a:lnTo>
                    <a:pt x="4595876" y="2712847"/>
                  </a:lnTo>
                  <a:cubicBezTo>
                    <a:pt x="4595876" y="2843149"/>
                    <a:pt x="4490212" y="2948686"/>
                    <a:pt x="4360037" y="2948686"/>
                  </a:cubicBezTo>
                  <a:lnTo>
                    <a:pt x="235839" y="2948686"/>
                  </a:lnTo>
                  <a:cubicBezTo>
                    <a:pt x="105664" y="2948686"/>
                    <a:pt x="0" y="2843149"/>
                    <a:pt x="0" y="2712847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7E0E9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953243" y="2600449"/>
            <a:ext cx="90745" cy="2211524"/>
            <a:chOff x="0" y="0"/>
            <a:chExt cx="120993" cy="294869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1031" cy="2948686"/>
            </a:xfrm>
            <a:custGeom>
              <a:avLst/>
              <a:gdLst/>
              <a:ahLst/>
              <a:cxnLst/>
              <a:rect r="r" b="b" t="t" l="l"/>
              <a:pathLst>
                <a:path h="2948686" w="121031">
                  <a:moveTo>
                    <a:pt x="0" y="0"/>
                  </a:moveTo>
                  <a:lnTo>
                    <a:pt x="121031" y="0"/>
                  </a:lnTo>
                  <a:lnTo>
                    <a:pt x="121031" y="2948686"/>
                  </a:lnTo>
                  <a:lnTo>
                    <a:pt x="0" y="2948686"/>
                  </a:lnTo>
                  <a:close/>
                </a:path>
              </a:pathLst>
            </a:custGeom>
            <a:solidFill>
              <a:srgbClr val="00A6D2"/>
            </a:solidFill>
            <a:ln w="15252" cap="sq">
              <a:solidFill>
                <a:srgbClr val="00A6D2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228258" y="2848013"/>
            <a:ext cx="590817" cy="590817"/>
            <a:chOff x="0" y="0"/>
            <a:chExt cx="787756" cy="78775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87781" cy="787781"/>
            </a:xfrm>
            <a:custGeom>
              <a:avLst/>
              <a:gdLst/>
              <a:ahLst/>
              <a:cxnLst/>
              <a:rect r="r" b="b" t="t" l="l"/>
              <a:pathLst>
                <a:path h="787781" w="787781">
                  <a:moveTo>
                    <a:pt x="0" y="393827"/>
                  </a:moveTo>
                  <a:cubicBezTo>
                    <a:pt x="0" y="176403"/>
                    <a:pt x="176403" y="0"/>
                    <a:pt x="393827" y="0"/>
                  </a:cubicBezTo>
                  <a:cubicBezTo>
                    <a:pt x="611251" y="0"/>
                    <a:pt x="787781" y="176403"/>
                    <a:pt x="787781" y="393827"/>
                  </a:cubicBezTo>
                  <a:cubicBezTo>
                    <a:pt x="787781" y="611251"/>
                    <a:pt x="611378" y="787781"/>
                    <a:pt x="393827" y="787781"/>
                  </a:cubicBezTo>
                  <a:cubicBezTo>
                    <a:pt x="176276" y="787781"/>
                    <a:pt x="0" y="611378"/>
                    <a:pt x="0" y="393827"/>
                  </a:cubicBezTo>
                  <a:close/>
                </a:path>
              </a:pathLst>
            </a:custGeom>
            <a:solidFill>
              <a:srgbClr val="00A6D2"/>
            </a:solidFill>
            <a:ln w="14299" cap="sq">
              <a:solidFill>
                <a:srgbClr val="00A6D2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235402" y="2868882"/>
            <a:ext cx="576520" cy="521618"/>
            <a:chOff x="0" y="0"/>
            <a:chExt cx="768693" cy="69549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68697" cy="695487"/>
            </a:xfrm>
            <a:custGeom>
              <a:avLst/>
              <a:gdLst/>
              <a:ahLst/>
              <a:cxnLst/>
              <a:rect r="r" b="b" t="t" l="l"/>
              <a:pathLst>
                <a:path h="695487" w="768697">
                  <a:moveTo>
                    <a:pt x="0" y="0"/>
                  </a:moveTo>
                  <a:lnTo>
                    <a:pt x="768697" y="0"/>
                  </a:lnTo>
                  <a:lnTo>
                    <a:pt x="768697" y="695487"/>
                  </a:lnTo>
                  <a:lnTo>
                    <a:pt x="0" y="69548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6084" t="0" r="-66084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768693" cy="695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75"/>
                </a:lnSpc>
              </a:pPr>
              <a:r>
                <a:rPr lang="en-US" sz="1229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01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994916" y="2836469"/>
            <a:ext cx="2104834" cy="357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7"/>
              </a:lnSpc>
            </a:pPr>
            <a:r>
              <a:rPr lang="en-US" sz="1681" b="true">
                <a:solidFill>
                  <a:srgbClr val="0B192D"/>
                </a:solidFill>
                <a:latin typeface="Aptos Bold"/>
                <a:ea typeface="Aptos Bold"/>
                <a:cs typeface="Aptos Bold"/>
                <a:sym typeface="Aptos Bold"/>
              </a:rPr>
              <a:t>TECHNICAL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994916" y="3312700"/>
            <a:ext cx="2104834" cy="1336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5"/>
              </a:lnSpc>
            </a:pPr>
            <a:r>
              <a:rPr lang="en-US" sz="1321">
                <a:solidFill>
                  <a:srgbClr val="465465"/>
                </a:solidFill>
                <a:latin typeface="Aptos"/>
                <a:ea typeface="Aptos"/>
                <a:cs typeface="Aptos"/>
                <a:sym typeface="Aptos"/>
              </a:rPr>
              <a:t>Existing AI frameworks</a:t>
            </a:r>
          </a:p>
          <a:p>
            <a:pPr algn="l">
              <a:lnSpc>
                <a:spcPts val="1585"/>
              </a:lnSpc>
            </a:pPr>
            <a:r>
              <a:rPr lang="en-US" sz="1321">
                <a:solidFill>
                  <a:srgbClr val="465465"/>
                </a:solidFill>
                <a:latin typeface="Aptos"/>
                <a:ea typeface="Aptos"/>
                <a:cs typeface="Aptos"/>
                <a:sym typeface="Aptos"/>
              </a:rPr>
              <a:t>UAV technology</a:t>
            </a:r>
          </a:p>
          <a:p>
            <a:pPr algn="l">
              <a:lnSpc>
                <a:spcPts val="1585"/>
              </a:lnSpc>
            </a:pPr>
            <a:r>
              <a:rPr lang="en-US" sz="1321">
                <a:solidFill>
                  <a:srgbClr val="465465"/>
                </a:solidFill>
                <a:latin typeface="Aptos"/>
                <a:ea typeface="Aptos"/>
                <a:cs typeface="Aptos"/>
                <a:sym typeface="Aptos"/>
              </a:rPr>
              <a:t>Ground robotics</a:t>
            </a:r>
          </a:p>
          <a:p>
            <a:pPr algn="l">
              <a:lnSpc>
                <a:spcPts val="1585"/>
              </a:lnSpc>
            </a:pPr>
            <a:r>
              <a:rPr lang="en-US" sz="1321">
                <a:solidFill>
                  <a:srgbClr val="465465"/>
                </a:solidFill>
                <a:latin typeface="Aptos"/>
                <a:ea typeface="Aptos"/>
                <a:cs typeface="Aptos"/>
                <a:sym typeface="Aptos"/>
              </a:rPr>
              <a:t>GPS navigation</a:t>
            </a:r>
          </a:p>
          <a:p>
            <a:pPr algn="l">
              <a:lnSpc>
                <a:spcPts val="1585"/>
              </a:lnSpc>
            </a:pPr>
            <a:r>
              <a:rPr lang="en-US" sz="1321">
                <a:solidFill>
                  <a:srgbClr val="465465"/>
                </a:solidFill>
                <a:latin typeface="Aptos"/>
                <a:ea typeface="Aptos"/>
                <a:cs typeface="Aptos"/>
                <a:sym typeface="Aptos"/>
              </a:rPr>
              <a:t>LoRa communication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4728096" y="2600449"/>
            <a:ext cx="3446936" cy="2211524"/>
            <a:chOff x="0" y="0"/>
            <a:chExt cx="4595914" cy="294869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595876" cy="2948686"/>
            </a:xfrm>
            <a:custGeom>
              <a:avLst/>
              <a:gdLst/>
              <a:ahLst/>
              <a:cxnLst/>
              <a:rect r="r" b="b" t="t" l="l"/>
              <a:pathLst>
                <a:path h="2948686" w="4595876">
                  <a:moveTo>
                    <a:pt x="0" y="235839"/>
                  </a:moveTo>
                  <a:cubicBezTo>
                    <a:pt x="0" y="105664"/>
                    <a:pt x="105664" y="0"/>
                    <a:pt x="235839" y="0"/>
                  </a:cubicBezTo>
                  <a:lnTo>
                    <a:pt x="4360037" y="0"/>
                  </a:lnTo>
                  <a:cubicBezTo>
                    <a:pt x="4490339" y="0"/>
                    <a:pt x="4595876" y="105664"/>
                    <a:pt x="4595876" y="235839"/>
                  </a:cubicBezTo>
                  <a:lnTo>
                    <a:pt x="4595876" y="2712847"/>
                  </a:lnTo>
                  <a:cubicBezTo>
                    <a:pt x="4595876" y="2843149"/>
                    <a:pt x="4490212" y="2948686"/>
                    <a:pt x="4360037" y="2948686"/>
                  </a:cubicBezTo>
                  <a:lnTo>
                    <a:pt x="235839" y="2948686"/>
                  </a:lnTo>
                  <a:cubicBezTo>
                    <a:pt x="105664" y="2948686"/>
                    <a:pt x="0" y="2843149"/>
                    <a:pt x="0" y="2712847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7E0E9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4728096" y="2600449"/>
            <a:ext cx="90745" cy="2211524"/>
            <a:chOff x="0" y="0"/>
            <a:chExt cx="120993" cy="294869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1031" cy="2948686"/>
            </a:xfrm>
            <a:custGeom>
              <a:avLst/>
              <a:gdLst/>
              <a:ahLst/>
              <a:cxnLst/>
              <a:rect r="r" b="b" t="t" l="l"/>
              <a:pathLst>
                <a:path h="2948686" w="121031">
                  <a:moveTo>
                    <a:pt x="0" y="0"/>
                  </a:moveTo>
                  <a:lnTo>
                    <a:pt x="121031" y="0"/>
                  </a:lnTo>
                  <a:lnTo>
                    <a:pt x="121031" y="2948686"/>
                  </a:lnTo>
                  <a:lnTo>
                    <a:pt x="0" y="2948686"/>
                  </a:lnTo>
                  <a:close/>
                </a:path>
              </a:pathLst>
            </a:custGeom>
            <a:solidFill>
              <a:srgbClr val="E8772D"/>
            </a:solidFill>
            <a:ln w="15252" cap="sq">
              <a:solidFill>
                <a:srgbClr val="E8772D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5003102" y="2848013"/>
            <a:ext cx="590817" cy="590817"/>
            <a:chOff x="0" y="0"/>
            <a:chExt cx="787756" cy="78775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87781" cy="787781"/>
            </a:xfrm>
            <a:custGeom>
              <a:avLst/>
              <a:gdLst/>
              <a:ahLst/>
              <a:cxnLst/>
              <a:rect r="r" b="b" t="t" l="l"/>
              <a:pathLst>
                <a:path h="787781" w="787781">
                  <a:moveTo>
                    <a:pt x="0" y="393827"/>
                  </a:moveTo>
                  <a:cubicBezTo>
                    <a:pt x="0" y="176403"/>
                    <a:pt x="176403" y="0"/>
                    <a:pt x="393827" y="0"/>
                  </a:cubicBezTo>
                  <a:cubicBezTo>
                    <a:pt x="611251" y="0"/>
                    <a:pt x="787781" y="176403"/>
                    <a:pt x="787781" y="393827"/>
                  </a:cubicBezTo>
                  <a:cubicBezTo>
                    <a:pt x="787781" y="611251"/>
                    <a:pt x="611378" y="787781"/>
                    <a:pt x="393827" y="787781"/>
                  </a:cubicBezTo>
                  <a:cubicBezTo>
                    <a:pt x="176276" y="787781"/>
                    <a:pt x="0" y="611378"/>
                    <a:pt x="0" y="393827"/>
                  </a:cubicBezTo>
                  <a:close/>
                </a:path>
              </a:pathLst>
            </a:custGeom>
            <a:solidFill>
              <a:srgbClr val="E8772D"/>
            </a:solidFill>
            <a:ln w="14299" cap="sq">
              <a:solidFill>
                <a:srgbClr val="E8772D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5010255" y="2868882"/>
            <a:ext cx="576520" cy="521618"/>
            <a:chOff x="0" y="0"/>
            <a:chExt cx="768693" cy="69549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68697" cy="695487"/>
            </a:xfrm>
            <a:custGeom>
              <a:avLst/>
              <a:gdLst/>
              <a:ahLst/>
              <a:cxnLst/>
              <a:rect r="r" b="b" t="t" l="l"/>
              <a:pathLst>
                <a:path h="695487" w="768697">
                  <a:moveTo>
                    <a:pt x="0" y="0"/>
                  </a:moveTo>
                  <a:lnTo>
                    <a:pt x="768697" y="0"/>
                  </a:lnTo>
                  <a:lnTo>
                    <a:pt x="768697" y="695487"/>
                  </a:lnTo>
                  <a:lnTo>
                    <a:pt x="0" y="69548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6084" t="0" r="-66084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768693" cy="695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75"/>
                </a:lnSpc>
              </a:pPr>
              <a:r>
                <a:rPr lang="en-US" sz="1229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02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5769759" y="2836469"/>
            <a:ext cx="2104834" cy="357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7"/>
              </a:lnSpc>
            </a:pPr>
            <a:r>
              <a:rPr lang="en-US" sz="1681" b="true">
                <a:solidFill>
                  <a:srgbClr val="0B192D"/>
                </a:solidFill>
                <a:latin typeface="Aptos Bold"/>
                <a:ea typeface="Aptos Bold"/>
                <a:cs typeface="Aptos Bold"/>
                <a:sym typeface="Aptos Bold"/>
              </a:rPr>
              <a:t>OPERATIONAL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769759" y="3312700"/>
            <a:ext cx="2104834" cy="1336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5"/>
              </a:lnSpc>
            </a:pPr>
            <a:r>
              <a:rPr lang="en-US" sz="1321">
                <a:solidFill>
                  <a:srgbClr val="465465"/>
                </a:solidFill>
                <a:latin typeface="Aptos"/>
                <a:ea typeface="Aptos"/>
                <a:cs typeface="Aptos"/>
                <a:sym typeface="Aptos"/>
              </a:rPr>
              <a:t>Continuous aerial monitoring</a:t>
            </a:r>
          </a:p>
          <a:p>
            <a:pPr algn="l">
              <a:lnSpc>
                <a:spcPts val="1585"/>
              </a:lnSpc>
            </a:pPr>
            <a:r>
              <a:rPr lang="en-US" sz="1321">
                <a:solidFill>
                  <a:srgbClr val="465465"/>
                </a:solidFill>
                <a:latin typeface="Aptos"/>
                <a:ea typeface="Aptos"/>
                <a:cs typeface="Aptos"/>
                <a:sym typeface="Aptos"/>
              </a:rPr>
              <a:t>Ground verification support</a:t>
            </a:r>
          </a:p>
          <a:p>
            <a:pPr algn="l">
              <a:lnSpc>
                <a:spcPts val="1585"/>
              </a:lnSpc>
            </a:pPr>
            <a:r>
              <a:rPr lang="en-US" sz="1321">
                <a:solidFill>
                  <a:srgbClr val="465465"/>
                </a:solidFill>
                <a:latin typeface="Aptos"/>
                <a:ea typeface="Aptos"/>
                <a:cs typeface="Aptos"/>
                <a:sym typeface="Aptos"/>
              </a:rPr>
              <a:t>Real-time coordination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8502939" y="2600449"/>
            <a:ext cx="3446936" cy="2211524"/>
            <a:chOff x="0" y="0"/>
            <a:chExt cx="4595914" cy="294869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595876" cy="2948686"/>
            </a:xfrm>
            <a:custGeom>
              <a:avLst/>
              <a:gdLst/>
              <a:ahLst/>
              <a:cxnLst/>
              <a:rect r="r" b="b" t="t" l="l"/>
              <a:pathLst>
                <a:path h="2948686" w="4595876">
                  <a:moveTo>
                    <a:pt x="0" y="235839"/>
                  </a:moveTo>
                  <a:cubicBezTo>
                    <a:pt x="0" y="105664"/>
                    <a:pt x="105664" y="0"/>
                    <a:pt x="235839" y="0"/>
                  </a:cubicBezTo>
                  <a:lnTo>
                    <a:pt x="4360037" y="0"/>
                  </a:lnTo>
                  <a:cubicBezTo>
                    <a:pt x="4490339" y="0"/>
                    <a:pt x="4595876" y="105664"/>
                    <a:pt x="4595876" y="235839"/>
                  </a:cubicBezTo>
                  <a:lnTo>
                    <a:pt x="4595876" y="2712847"/>
                  </a:lnTo>
                  <a:cubicBezTo>
                    <a:pt x="4595876" y="2843149"/>
                    <a:pt x="4490212" y="2948686"/>
                    <a:pt x="4360037" y="2948686"/>
                  </a:cubicBezTo>
                  <a:lnTo>
                    <a:pt x="235839" y="2948686"/>
                  </a:lnTo>
                  <a:cubicBezTo>
                    <a:pt x="105664" y="2948686"/>
                    <a:pt x="0" y="2843149"/>
                    <a:pt x="0" y="2712847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7E0E9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8502939" y="2600449"/>
            <a:ext cx="90745" cy="2211524"/>
            <a:chOff x="0" y="0"/>
            <a:chExt cx="120993" cy="294869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21031" cy="2948686"/>
            </a:xfrm>
            <a:custGeom>
              <a:avLst/>
              <a:gdLst/>
              <a:ahLst/>
              <a:cxnLst/>
              <a:rect r="r" b="b" t="t" l="l"/>
              <a:pathLst>
                <a:path h="2948686" w="121031">
                  <a:moveTo>
                    <a:pt x="0" y="0"/>
                  </a:moveTo>
                  <a:lnTo>
                    <a:pt x="121031" y="0"/>
                  </a:lnTo>
                  <a:lnTo>
                    <a:pt x="121031" y="2948686"/>
                  </a:lnTo>
                  <a:lnTo>
                    <a:pt x="0" y="2948686"/>
                  </a:lnTo>
                  <a:close/>
                </a:path>
              </a:pathLst>
            </a:custGeom>
            <a:solidFill>
              <a:srgbClr val="259766"/>
            </a:solidFill>
            <a:ln w="15252" cap="sq">
              <a:solidFill>
                <a:srgbClr val="259766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8777954" y="2848013"/>
            <a:ext cx="590817" cy="590817"/>
            <a:chOff x="0" y="0"/>
            <a:chExt cx="787756" cy="78775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87781" cy="787781"/>
            </a:xfrm>
            <a:custGeom>
              <a:avLst/>
              <a:gdLst/>
              <a:ahLst/>
              <a:cxnLst/>
              <a:rect r="r" b="b" t="t" l="l"/>
              <a:pathLst>
                <a:path h="787781" w="787781">
                  <a:moveTo>
                    <a:pt x="0" y="393827"/>
                  </a:moveTo>
                  <a:cubicBezTo>
                    <a:pt x="0" y="176403"/>
                    <a:pt x="176403" y="0"/>
                    <a:pt x="393827" y="0"/>
                  </a:cubicBezTo>
                  <a:cubicBezTo>
                    <a:pt x="611251" y="0"/>
                    <a:pt x="787781" y="176403"/>
                    <a:pt x="787781" y="393827"/>
                  </a:cubicBezTo>
                  <a:cubicBezTo>
                    <a:pt x="787781" y="611251"/>
                    <a:pt x="611378" y="787781"/>
                    <a:pt x="393827" y="787781"/>
                  </a:cubicBezTo>
                  <a:cubicBezTo>
                    <a:pt x="176276" y="787781"/>
                    <a:pt x="0" y="611378"/>
                    <a:pt x="0" y="393827"/>
                  </a:cubicBezTo>
                  <a:close/>
                </a:path>
              </a:pathLst>
            </a:custGeom>
            <a:solidFill>
              <a:srgbClr val="259766"/>
            </a:solidFill>
            <a:ln w="14299" cap="sq">
              <a:solidFill>
                <a:srgbClr val="259766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8785108" y="2868882"/>
            <a:ext cx="576520" cy="521618"/>
            <a:chOff x="0" y="0"/>
            <a:chExt cx="768693" cy="69549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68697" cy="695487"/>
            </a:xfrm>
            <a:custGeom>
              <a:avLst/>
              <a:gdLst/>
              <a:ahLst/>
              <a:cxnLst/>
              <a:rect r="r" b="b" t="t" l="l"/>
              <a:pathLst>
                <a:path h="695487" w="768697">
                  <a:moveTo>
                    <a:pt x="0" y="0"/>
                  </a:moveTo>
                  <a:lnTo>
                    <a:pt x="768697" y="0"/>
                  </a:lnTo>
                  <a:lnTo>
                    <a:pt x="768697" y="695487"/>
                  </a:lnTo>
                  <a:lnTo>
                    <a:pt x="0" y="69548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6084" t="0" r="-66084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768693" cy="695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75"/>
                </a:lnSpc>
              </a:pPr>
              <a:r>
                <a:rPr lang="en-US" sz="1229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03</a:t>
              </a: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9544612" y="2836469"/>
            <a:ext cx="2104834" cy="357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7"/>
              </a:lnSpc>
            </a:pPr>
            <a:r>
              <a:rPr lang="en-US" sz="1681" b="true">
                <a:solidFill>
                  <a:srgbClr val="0B192D"/>
                </a:solidFill>
                <a:latin typeface="Aptos Bold"/>
                <a:ea typeface="Aptos Bold"/>
                <a:cs typeface="Aptos Bold"/>
                <a:sym typeface="Aptos Bold"/>
              </a:rPr>
              <a:t>INFRASTRUCTURE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544612" y="3312700"/>
            <a:ext cx="2104834" cy="1336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5"/>
              </a:lnSpc>
            </a:pPr>
            <a:r>
              <a:rPr lang="en-US" sz="1321">
                <a:solidFill>
                  <a:srgbClr val="465465"/>
                </a:solidFill>
                <a:latin typeface="Aptos"/>
                <a:ea typeface="Aptos"/>
                <a:cs typeface="Aptos"/>
                <a:sym typeface="Aptos"/>
              </a:rPr>
              <a:t>Dashboard monitoring</a:t>
            </a:r>
          </a:p>
          <a:p>
            <a:pPr algn="l">
              <a:lnSpc>
                <a:spcPts val="1585"/>
              </a:lnSpc>
            </a:pPr>
            <a:r>
              <a:rPr lang="en-US" sz="1321">
                <a:solidFill>
                  <a:srgbClr val="465465"/>
                </a:solidFill>
                <a:latin typeface="Aptos"/>
                <a:ea typeface="Aptos"/>
                <a:cs typeface="Aptos"/>
                <a:sym typeface="Aptos"/>
              </a:rPr>
              <a:t>Onboard computing</a:t>
            </a:r>
          </a:p>
          <a:p>
            <a:pPr algn="l">
              <a:lnSpc>
                <a:spcPts val="1585"/>
              </a:lnSpc>
            </a:pPr>
            <a:r>
              <a:rPr lang="en-US" sz="1321">
                <a:solidFill>
                  <a:srgbClr val="465465"/>
                </a:solidFill>
                <a:latin typeface="Aptos"/>
                <a:ea typeface="Aptos"/>
                <a:cs typeface="Aptos"/>
                <a:sym typeface="Aptos"/>
              </a:rPr>
              <a:t>Wireless communication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2399769" y="2118474"/>
            <a:ext cx="4026579" cy="306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0B192D"/>
                </a:solidFill>
                <a:latin typeface="Aptos Bold"/>
                <a:ea typeface="Aptos Bold"/>
                <a:cs typeface="Aptos Bold"/>
                <a:sym typeface="Aptos Bold"/>
              </a:rPr>
              <a:t>SCALABILITY ROADMAP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12415533" y="2902915"/>
            <a:ext cx="590817" cy="590817"/>
            <a:chOff x="0" y="0"/>
            <a:chExt cx="787756" cy="787756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87781" cy="787781"/>
            </a:xfrm>
            <a:custGeom>
              <a:avLst/>
              <a:gdLst/>
              <a:ahLst/>
              <a:cxnLst/>
              <a:rect r="r" b="b" t="t" l="l"/>
              <a:pathLst>
                <a:path h="787781" w="787781">
                  <a:moveTo>
                    <a:pt x="0" y="393827"/>
                  </a:moveTo>
                  <a:cubicBezTo>
                    <a:pt x="0" y="176403"/>
                    <a:pt x="176403" y="0"/>
                    <a:pt x="393827" y="0"/>
                  </a:cubicBezTo>
                  <a:cubicBezTo>
                    <a:pt x="611251" y="0"/>
                    <a:pt x="787781" y="176403"/>
                    <a:pt x="787781" y="393827"/>
                  </a:cubicBezTo>
                  <a:cubicBezTo>
                    <a:pt x="787781" y="611251"/>
                    <a:pt x="611378" y="787781"/>
                    <a:pt x="393827" y="787781"/>
                  </a:cubicBezTo>
                  <a:cubicBezTo>
                    <a:pt x="176276" y="787781"/>
                    <a:pt x="0" y="611378"/>
                    <a:pt x="0" y="393827"/>
                  </a:cubicBezTo>
                  <a:close/>
                </a:path>
              </a:pathLst>
            </a:custGeom>
            <a:solidFill>
              <a:srgbClr val="00A6D2"/>
            </a:solidFill>
            <a:ln w="14299" cap="sq">
              <a:solidFill>
                <a:srgbClr val="00A6D2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2422686" y="2923794"/>
            <a:ext cx="576520" cy="521618"/>
            <a:chOff x="0" y="0"/>
            <a:chExt cx="768693" cy="69549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68697" cy="695487"/>
            </a:xfrm>
            <a:custGeom>
              <a:avLst/>
              <a:gdLst/>
              <a:ahLst/>
              <a:cxnLst/>
              <a:rect r="r" b="b" t="t" l="l"/>
              <a:pathLst>
                <a:path h="695487" w="768697">
                  <a:moveTo>
                    <a:pt x="0" y="0"/>
                  </a:moveTo>
                  <a:lnTo>
                    <a:pt x="768697" y="0"/>
                  </a:lnTo>
                  <a:lnTo>
                    <a:pt x="768697" y="695487"/>
                  </a:lnTo>
                  <a:lnTo>
                    <a:pt x="0" y="69548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6084" t="0" r="-66084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0"/>
              <a:ext cx="768693" cy="695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75"/>
                </a:lnSpc>
              </a:pPr>
              <a:r>
                <a:rPr lang="en-US" sz="1229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01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12262504" y="3724504"/>
            <a:ext cx="938060" cy="347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69"/>
              </a:lnSpc>
            </a:pPr>
            <a:r>
              <a:rPr lang="en-US" sz="1140" b="true">
                <a:solidFill>
                  <a:srgbClr val="0B192D"/>
                </a:solidFill>
                <a:latin typeface="Aptos Bold"/>
                <a:ea typeface="Aptos Bold"/>
                <a:cs typeface="Aptos Bold"/>
                <a:sym typeface="Aptos Bold"/>
              </a:rPr>
              <a:t>PROTOTYPE</a:t>
            </a:r>
          </a:p>
        </p:txBody>
      </p:sp>
      <p:sp>
        <p:nvSpPr>
          <p:cNvPr name="AutoShape 48" id="48"/>
          <p:cNvSpPr/>
          <p:nvPr/>
        </p:nvSpPr>
        <p:spPr>
          <a:xfrm rot="115320">
            <a:off x="12984670" y="3188799"/>
            <a:ext cx="852678" cy="0"/>
          </a:xfrm>
          <a:prstGeom prst="line">
            <a:avLst/>
          </a:prstGeom>
          <a:ln cap="rnd" w="19050">
            <a:solidFill>
              <a:srgbClr val="D7E0E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9" id="49"/>
          <p:cNvGrpSpPr/>
          <p:nvPr/>
        </p:nvGrpSpPr>
        <p:grpSpPr>
          <a:xfrm rot="0">
            <a:off x="13760758" y="2902915"/>
            <a:ext cx="590817" cy="590817"/>
            <a:chOff x="0" y="0"/>
            <a:chExt cx="787756" cy="787756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787781" cy="787781"/>
            </a:xfrm>
            <a:custGeom>
              <a:avLst/>
              <a:gdLst/>
              <a:ahLst/>
              <a:cxnLst/>
              <a:rect r="r" b="b" t="t" l="l"/>
              <a:pathLst>
                <a:path h="787781" w="787781">
                  <a:moveTo>
                    <a:pt x="0" y="393827"/>
                  </a:moveTo>
                  <a:cubicBezTo>
                    <a:pt x="0" y="176403"/>
                    <a:pt x="176403" y="0"/>
                    <a:pt x="393827" y="0"/>
                  </a:cubicBezTo>
                  <a:cubicBezTo>
                    <a:pt x="611251" y="0"/>
                    <a:pt x="787781" y="176403"/>
                    <a:pt x="787781" y="393827"/>
                  </a:cubicBezTo>
                  <a:cubicBezTo>
                    <a:pt x="787781" y="611251"/>
                    <a:pt x="611378" y="787781"/>
                    <a:pt x="393827" y="787781"/>
                  </a:cubicBezTo>
                  <a:cubicBezTo>
                    <a:pt x="176276" y="787781"/>
                    <a:pt x="0" y="611378"/>
                    <a:pt x="0" y="393827"/>
                  </a:cubicBezTo>
                  <a:close/>
                </a:path>
              </a:pathLst>
            </a:custGeom>
            <a:solidFill>
              <a:srgbClr val="00A6D2"/>
            </a:solidFill>
            <a:ln w="14299" cap="sq">
              <a:solidFill>
                <a:srgbClr val="00A6D2"/>
              </a:solidFill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13767902" y="2923794"/>
            <a:ext cx="576520" cy="521618"/>
            <a:chOff x="0" y="0"/>
            <a:chExt cx="768693" cy="69549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768697" cy="695487"/>
            </a:xfrm>
            <a:custGeom>
              <a:avLst/>
              <a:gdLst/>
              <a:ahLst/>
              <a:cxnLst/>
              <a:rect r="r" b="b" t="t" l="l"/>
              <a:pathLst>
                <a:path h="695487" w="768697">
                  <a:moveTo>
                    <a:pt x="0" y="0"/>
                  </a:moveTo>
                  <a:lnTo>
                    <a:pt x="768697" y="0"/>
                  </a:lnTo>
                  <a:lnTo>
                    <a:pt x="768697" y="695487"/>
                  </a:lnTo>
                  <a:lnTo>
                    <a:pt x="0" y="69548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6084" t="0" r="-66084" b="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0"/>
              <a:ext cx="768693" cy="695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75"/>
                </a:lnSpc>
              </a:pPr>
              <a:r>
                <a:rPr lang="en-US" sz="1229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02</a:t>
              </a:r>
            </a:p>
          </p:txBody>
        </p:sp>
      </p:grpSp>
      <p:sp>
        <p:nvSpPr>
          <p:cNvPr name="TextBox 54" id="54"/>
          <p:cNvSpPr txBox="true"/>
          <p:nvPr/>
        </p:nvSpPr>
        <p:spPr>
          <a:xfrm rot="0">
            <a:off x="13607720" y="3724504"/>
            <a:ext cx="938060" cy="347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69"/>
              </a:lnSpc>
            </a:pPr>
            <a:r>
              <a:rPr lang="en-US" sz="1140" b="true">
                <a:solidFill>
                  <a:srgbClr val="0B192D"/>
                </a:solidFill>
                <a:latin typeface="Aptos Bold"/>
                <a:ea typeface="Aptos Bold"/>
                <a:cs typeface="Aptos Bold"/>
                <a:sym typeface="Aptos Bold"/>
              </a:rPr>
              <a:t>D15 FLEET</a:t>
            </a:r>
          </a:p>
        </p:txBody>
      </p:sp>
      <p:sp>
        <p:nvSpPr>
          <p:cNvPr name="AutoShape 55" id="55"/>
          <p:cNvSpPr/>
          <p:nvPr/>
        </p:nvSpPr>
        <p:spPr>
          <a:xfrm rot="115320">
            <a:off x="14329886" y="3188799"/>
            <a:ext cx="852678" cy="0"/>
          </a:xfrm>
          <a:prstGeom prst="line">
            <a:avLst/>
          </a:prstGeom>
          <a:ln cap="rnd" w="19050">
            <a:solidFill>
              <a:srgbClr val="D7E0E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6" id="56"/>
          <p:cNvGrpSpPr/>
          <p:nvPr/>
        </p:nvGrpSpPr>
        <p:grpSpPr>
          <a:xfrm rot="0">
            <a:off x="15105974" y="2902915"/>
            <a:ext cx="590817" cy="590817"/>
            <a:chOff x="0" y="0"/>
            <a:chExt cx="787756" cy="78775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787781" cy="787781"/>
            </a:xfrm>
            <a:custGeom>
              <a:avLst/>
              <a:gdLst/>
              <a:ahLst/>
              <a:cxnLst/>
              <a:rect r="r" b="b" t="t" l="l"/>
              <a:pathLst>
                <a:path h="787781" w="787781">
                  <a:moveTo>
                    <a:pt x="0" y="393827"/>
                  </a:moveTo>
                  <a:cubicBezTo>
                    <a:pt x="0" y="176403"/>
                    <a:pt x="176403" y="0"/>
                    <a:pt x="393827" y="0"/>
                  </a:cubicBezTo>
                  <a:cubicBezTo>
                    <a:pt x="611251" y="0"/>
                    <a:pt x="787781" y="176403"/>
                    <a:pt x="787781" y="393827"/>
                  </a:cubicBezTo>
                  <a:cubicBezTo>
                    <a:pt x="787781" y="611251"/>
                    <a:pt x="611378" y="787781"/>
                    <a:pt x="393827" y="787781"/>
                  </a:cubicBezTo>
                  <a:cubicBezTo>
                    <a:pt x="176276" y="787781"/>
                    <a:pt x="0" y="611378"/>
                    <a:pt x="0" y="393827"/>
                  </a:cubicBezTo>
                  <a:close/>
                </a:path>
              </a:pathLst>
            </a:custGeom>
            <a:solidFill>
              <a:srgbClr val="E8772D"/>
            </a:solidFill>
            <a:ln w="14299" cap="sq">
              <a:solidFill>
                <a:srgbClr val="E8772D"/>
              </a:solidFill>
              <a:prstDash val="solid"/>
              <a:miter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15113127" y="2923794"/>
            <a:ext cx="576520" cy="521618"/>
            <a:chOff x="0" y="0"/>
            <a:chExt cx="768693" cy="69549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768697" cy="695487"/>
            </a:xfrm>
            <a:custGeom>
              <a:avLst/>
              <a:gdLst/>
              <a:ahLst/>
              <a:cxnLst/>
              <a:rect r="r" b="b" t="t" l="l"/>
              <a:pathLst>
                <a:path h="695487" w="768697">
                  <a:moveTo>
                    <a:pt x="0" y="0"/>
                  </a:moveTo>
                  <a:lnTo>
                    <a:pt x="768697" y="0"/>
                  </a:lnTo>
                  <a:lnTo>
                    <a:pt x="768697" y="695487"/>
                  </a:lnTo>
                  <a:lnTo>
                    <a:pt x="0" y="69548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6084" t="0" r="-66084" b="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0"/>
              <a:ext cx="768693" cy="695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75"/>
                </a:lnSpc>
              </a:pPr>
              <a:r>
                <a:rPr lang="en-US" sz="1229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03</a:t>
              </a:r>
            </a:p>
          </p:txBody>
        </p:sp>
      </p:grpSp>
      <p:sp>
        <p:nvSpPr>
          <p:cNvPr name="TextBox 61" id="61"/>
          <p:cNvSpPr txBox="true"/>
          <p:nvPr/>
        </p:nvSpPr>
        <p:spPr>
          <a:xfrm rot="0">
            <a:off x="14952945" y="3724504"/>
            <a:ext cx="938060" cy="347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69"/>
              </a:lnSpc>
            </a:pPr>
            <a:r>
              <a:rPr lang="en-US" sz="1140" b="true">
                <a:solidFill>
                  <a:srgbClr val="0B192D"/>
                </a:solidFill>
                <a:latin typeface="Aptos Bold"/>
                <a:ea typeface="Aptos Bold"/>
                <a:cs typeface="Aptos Bold"/>
                <a:sym typeface="Aptos Bold"/>
              </a:rPr>
              <a:t>D30 FLEET</a:t>
            </a:r>
          </a:p>
        </p:txBody>
      </p:sp>
      <p:sp>
        <p:nvSpPr>
          <p:cNvPr name="AutoShape 62" id="62"/>
          <p:cNvSpPr/>
          <p:nvPr/>
        </p:nvSpPr>
        <p:spPr>
          <a:xfrm rot="115320">
            <a:off x="15675112" y="3188799"/>
            <a:ext cx="852678" cy="0"/>
          </a:xfrm>
          <a:prstGeom prst="line">
            <a:avLst/>
          </a:prstGeom>
          <a:ln cap="rnd" w="19050">
            <a:solidFill>
              <a:srgbClr val="D7E0E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3" id="63"/>
          <p:cNvGrpSpPr/>
          <p:nvPr/>
        </p:nvGrpSpPr>
        <p:grpSpPr>
          <a:xfrm rot="0">
            <a:off x="16451189" y="2902915"/>
            <a:ext cx="590817" cy="590817"/>
            <a:chOff x="0" y="0"/>
            <a:chExt cx="787756" cy="787756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787781" cy="787781"/>
            </a:xfrm>
            <a:custGeom>
              <a:avLst/>
              <a:gdLst/>
              <a:ahLst/>
              <a:cxnLst/>
              <a:rect r="r" b="b" t="t" l="l"/>
              <a:pathLst>
                <a:path h="787781" w="787781">
                  <a:moveTo>
                    <a:pt x="0" y="393827"/>
                  </a:moveTo>
                  <a:cubicBezTo>
                    <a:pt x="0" y="176403"/>
                    <a:pt x="176403" y="0"/>
                    <a:pt x="393827" y="0"/>
                  </a:cubicBezTo>
                  <a:cubicBezTo>
                    <a:pt x="611251" y="0"/>
                    <a:pt x="787781" y="176403"/>
                    <a:pt x="787781" y="393827"/>
                  </a:cubicBezTo>
                  <a:cubicBezTo>
                    <a:pt x="787781" y="611251"/>
                    <a:pt x="611378" y="787781"/>
                    <a:pt x="393827" y="787781"/>
                  </a:cubicBezTo>
                  <a:cubicBezTo>
                    <a:pt x="176276" y="787781"/>
                    <a:pt x="0" y="611378"/>
                    <a:pt x="0" y="393827"/>
                  </a:cubicBezTo>
                  <a:close/>
                </a:path>
              </a:pathLst>
            </a:custGeom>
            <a:solidFill>
              <a:srgbClr val="259766"/>
            </a:solidFill>
            <a:ln w="14299" cap="sq">
              <a:solidFill>
                <a:srgbClr val="259766"/>
              </a:solidFill>
              <a:prstDash val="solid"/>
              <a:miter/>
            </a:ln>
          </p:spPr>
        </p:sp>
      </p:grpSp>
      <p:grpSp>
        <p:nvGrpSpPr>
          <p:cNvPr name="Group 65" id="65"/>
          <p:cNvGrpSpPr/>
          <p:nvPr/>
        </p:nvGrpSpPr>
        <p:grpSpPr>
          <a:xfrm rot="0">
            <a:off x="16458343" y="2923794"/>
            <a:ext cx="576520" cy="521618"/>
            <a:chOff x="0" y="0"/>
            <a:chExt cx="768693" cy="69549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768697" cy="695487"/>
            </a:xfrm>
            <a:custGeom>
              <a:avLst/>
              <a:gdLst/>
              <a:ahLst/>
              <a:cxnLst/>
              <a:rect r="r" b="b" t="t" l="l"/>
              <a:pathLst>
                <a:path h="695487" w="768697">
                  <a:moveTo>
                    <a:pt x="0" y="0"/>
                  </a:moveTo>
                  <a:lnTo>
                    <a:pt x="768697" y="0"/>
                  </a:lnTo>
                  <a:lnTo>
                    <a:pt x="768697" y="695487"/>
                  </a:lnTo>
                  <a:lnTo>
                    <a:pt x="0" y="69548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6084" t="0" r="-66084" b="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0"/>
              <a:ext cx="768693" cy="695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75"/>
                </a:lnSpc>
              </a:pPr>
              <a:r>
                <a:rPr lang="en-US" sz="1229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04</a:t>
              </a:r>
            </a:p>
          </p:txBody>
        </p:sp>
      </p:grpSp>
      <p:sp>
        <p:nvSpPr>
          <p:cNvPr name="TextBox 68" id="68"/>
          <p:cNvSpPr txBox="true"/>
          <p:nvPr/>
        </p:nvSpPr>
        <p:spPr>
          <a:xfrm rot="0">
            <a:off x="16298161" y="3724504"/>
            <a:ext cx="938060" cy="347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69"/>
              </a:lnSpc>
            </a:pPr>
            <a:r>
              <a:rPr lang="en-US" sz="1140" b="true">
                <a:solidFill>
                  <a:srgbClr val="0B192D"/>
                </a:solidFill>
                <a:latin typeface="Aptos Bold"/>
                <a:ea typeface="Aptos Bold"/>
                <a:cs typeface="Aptos Bold"/>
                <a:sym typeface="Aptos Bold"/>
              </a:rPr>
              <a:t>D50+ FLEET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4390151" y="4236596"/>
            <a:ext cx="2448001" cy="316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31"/>
              </a:lnSpc>
            </a:pPr>
            <a:r>
              <a:rPr lang="en-US" sz="1275" b="true">
                <a:solidFill>
                  <a:srgbClr val="465465"/>
                </a:solidFill>
                <a:latin typeface="Aptos Bold"/>
                <a:ea typeface="Aptos Bold"/>
                <a:cs typeface="Aptos Bold"/>
                <a:sym typeface="Aptos Bold"/>
              </a:rPr>
              <a:t>Large-scale deployment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006592" y="5303072"/>
            <a:ext cx="4301109" cy="306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0B192D"/>
                </a:solidFill>
                <a:latin typeface="Aptos Bold"/>
                <a:ea typeface="Aptos Bold"/>
                <a:cs typeface="Aptos Bold"/>
                <a:sym typeface="Aptos Bold"/>
              </a:rPr>
              <a:t>CHALLENGES → MITIGATION</a:t>
            </a:r>
          </a:p>
        </p:txBody>
      </p:sp>
      <p:grpSp>
        <p:nvGrpSpPr>
          <p:cNvPr name="Group 71" id="71"/>
          <p:cNvGrpSpPr/>
          <p:nvPr/>
        </p:nvGrpSpPr>
        <p:grpSpPr>
          <a:xfrm rot="0">
            <a:off x="953243" y="5757596"/>
            <a:ext cx="8114024" cy="660406"/>
            <a:chOff x="0" y="0"/>
            <a:chExt cx="10818698" cy="880542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0818749" cy="880618"/>
            </a:xfrm>
            <a:custGeom>
              <a:avLst/>
              <a:gdLst/>
              <a:ahLst/>
              <a:cxnLst/>
              <a:rect r="r" b="b" t="t" l="l"/>
              <a:pathLst>
                <a:path h="880618" w="10818749">
                  <a:moveTo>
                    <a:pt x="0" y="70485"/>
                  </a:moveTo>
                  <a:cubicBezTo>
                    <a:pt x="0" y="31496"/>
                    <a:pt x="31496" y="0"/>
                    <a:pt x="70485" y="0"/>
                  </a:cubicBezTo>
                  <a:lnTo>
                    <a:pt x="10748264" y="0"/>
                  </a:lnTo>
                  <a:cubicBezTo>
                    <a:pt x="10787126" y="0"/>
                    <a:pt x="10818749" y="31496"/>
                    <a:pt x="10818749" y="70485"/>
                  </a:cubicBezTo>
                  <a:lnTo>
                    <a:pt x="10818749" y="810133"/>
                  </a:lnTo>
                  <a:cubicBezTo>
                    <a:pt x="10818749" y="848995"/>
                    <a:pt x="10787253" y="880618"/>
                    <a:pt x="10748264" y="880618"/>
                  </a:cubicBezTo>
                  <a:lnTo>
                    <a:pt x="70485" y="880618"/>
                  </a:lnTo>
                  <a:cubicBezTo>
                    <a:pt x="31496" y="880491"/>
                    <a:pt x="0" y="848995"/>
                    <a:pt x="0" y="810133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7E0E9"/>
              </a:solidFill>
              <a:prstDash val="solid"/>
              <a:miter/>
            </a:ln>
          </p:spPr>
        </p:sp>
      </p:grpSp>
      <p:grpSp>
        <p:nvGrpSpPr>
          <p:cNvPr name="Group 73" id="73"/>
          <p:cNvGrpSpPr/>
          <p:nvPr/>
        </p:nvGrpSpPr>
        <p:grpSpPr>
          <a:xfrm rot="0">
            <a:off x="1173347" y="5799258"/>
            <a:ext cx="590817" cy="590817"/>
            <a:chOff x="0" y="0"/>
            <a:chExt cx="787756" cy="787756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787781" cy="787781"/>
            </a:xfrm>
            <a:custGeom>
              <a:avLst/>
              <a:gdLst/>
              <a:ahLst/>
              <a:cxnLst/>
              <a:rect r="r" b="b" t="t" l="l"/>
              <a:pathLst>
                <a:path h="787781" w="787781">
                  <a:moveTo>
                    <a:pt x="0" y="393827"/>
                  </a:moveTo>
                  <a:cubicBezTo>
                    <a:pt x="0" y="176403"/>
                    <a:pt x="176403" y="0"/>
                    <a:pt x="393827" y="0"/>
                  </a:cubicBezTo>
                  <a:cubicBezTo>
                    <a:pt x="611251" y="0"/>
                    <a:pt x="787781" y="176403"/>
                    <a:pt x="787781" y="393827"/>
                  </a:cubicBezTo>
                  <a:cubicBezTo>
                    <a:pt x="787781" y="611251"/>
                    <a:pt x="611378" y="787781"/>
                    <a:pt x="393827" y="787781"/>
                  </a:cubicBezTo>
                  <a:cubicBezTo>
                    <a:pt x="176276" y="787781"/>
                    <a:pt x="0" y="611378"/>
                    <a:pt x="0" y="393827"/>
                  </a:cubicBezTo>
                  <a:close/>
                </a:path>
              </a:pathLst>
            </a:custGeom>
            <a:solidFill>
              <a:srgbClr val="E8772D"/>
            </a:solidFill>
            <a:ln w="14299" cap="sq">
              <a:solidFill>
                <a:srgbClr val="E8772D"/>
              </a:solidFill>
              <a:prstDash val="solid"/>
              <a:miter/>
            </a:ln>
          </p:spPr>
        </p:sp>
      </p:grpSp>
      <p:grpSp>
        <p:nvGrpSpPr>
          <p:cNvPr name="Group 75" id="75"/>
          <p:cNvGrpSpPr/>
          <p:nvPr/>
        </p:nvGrpSpPr>
        <p:grpSpPr>
          <a:xfrm rot="0">
            <a:off x="1180500" y="5820127"/>
            <a:ext cx="576520" cy="521618"/>
            <a:chOff x="0" y="0"/>
            <a:chExt cx="768693" cy="69549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768697" cy="695487"/>
            </a:xfrm>
            <a:custGeom>
              <a:avLst/>
              <a:gdLst/>
              <a:ahLst/>
              <a:cxnLst/>
              <a:rect r="r" b="b" t="t" l="l"/>
              <a:pathLst>
                <a:path h="695487" w="768697">
                  <a:moveTo>
                    <a:pt x="0" y="0"/>
                  </a:moveTo>
                  <a:lnTo>
                    <a:pt x="768697" y="0"/>
                  </a:lnTo>
                  <a:lnTo>
                    <a:pt x="768697" y="695487"/>
                  </a:lnTo>
                  <a:lnTo>
                    <a:pt x="0" y="69548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6084" t="0" r="-66084" b="0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0"/>
              <a:ext cx="768693" cy="695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75"/>
                </a:lnSpc>
              </a:pPr>
              <a:r>
                <a:rPr lang="en-US" sz="1229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01</a:t>
              </a:r>
            </a:p>
          </p:txBody>
        </p:sp>
      </p:grpSp>
      <p:sp>
        <p:nvSpPr>
          <p:cNvPr name="TextBox 78" id="78"/>
          <p:cNvSpPr txBox="true"/>
          <p:nvPr/>
        </p:nvSpPr>
        <p:spPr>
          <a:xfrm rot="0">
            <a:off x="1994916" y="5907053"/>
            <a:ext cx="2722540" cy="306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5"/>
              </a:lnSpc>
            </a:pPr>
            <a:r>
              <a:rPr lang="en-US" sz="1229" b="true">
                <a:solidFill>
                  <a:srgbClr val="0B192D"/>
                </a:solidFill>
                <a:latin typeface="Aptos Bold"/>
                <a:ea typeface="Aptos Bold"/>
                <a:cs typeface="Aptos Bold"/>
                <a:sym typeface="Aptos Bold"/>
              </a:rPr>
              <a:t>Battery limitation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4822622" y="5907053"/>
            <a:ext cx="251727" cy="306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11"/>
              </a:lnSpc>
            </a:pPr>
            <a:r>
              <a:rPr lang="en-US" sz="1426" b="true">
                <a:solidFill>
                  <a:srgbClr val="E8772D"/>
                </a:solidFill>
                <a:latin typeface="Aptos Bold"/>
                <a:ea typeface="Aptos Bold"/>
                <a:cs typeface="Aptos Bold"/>
                <a:sym typeface="Aptos Bold"/>
              </a:rPr>
              <a:t>→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5261877" y="5907053"/>
            <a:ext cx="3408874" cy="306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3"/>
              </a:lnSpc>
            </a:pPr>
            <a:r>
              <a:rPr lang="en-US" sz="1185">
                <a:solidFill>
                  <a:srgbClr val="465465"/>
                </a:solidFill>
                <a:latin typeface="Aptos"/>
                <a:ea typeface="Aptos"/>
                <a:cs typeface="Aptos"/>
                <a:sym typeface="Aptos"/>
              </a:rPr>
              <a:t>Smart Battery Management</a:t>
            </a:r>
          </a:p>
        </p:txBody>
      </p:sp>
      <p:grpSp>
        <p:nvGrpSpPr>
          <p:cNvPr name="Group 81" id="81"/>
          <p:cNvGrpSpPr/>
          <p:nvPr/>
        </p:nvGrpSpPr>
        <p:grpSpPr>
          <a:xfrm rot="0">
            <a:off x="953243" y="6457664"/>
            <a:ext cx="8114024" cy="660406"/>
            <a:chOff x="0" y="0"/>
            <a:chExt cx="10818698" cy="880542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0818749" cy="880618"/>
            </a:xfrm>
            <a:custGeom>
              <a:avLst/>
              <a:gdLst/>
              <a:ahLst/>
              <a:cxnLst/>
              <a:rect r="r" b="b" t="t" l="l"/>
              <a:pathLst>
                <a:path h="880618" w="10818749">
                  <a:moveTo>
                    <a:pt x="0" y="70485"/>
                  </a:moveTo>
                  <a:cubicBezTo>
                    <a:pt x="0" y="31496"/>
                    <a:pt x="31496" y="0"/>
                    <a:pt x="70485" y="0"/>
                  </a:cubicBezTo>
                  <a:lnTo>
                    <a:pt x="10748264" y="0"/>
                  </a:lnTo>
                  <a:cubicBezTo>
                    <a:pt x="10787126" y="0"/>
                    <a:pt x="10818749" y="31496"/>
                    <a:pt x="10818749" y="70485"/>
                  </a:cubicBezTo>
                  <a:lnTo>
                    <a:pt x="10818749" y="810133"/>
                  </a:lnTo>
                  <a:cubicBezTo>
                    <a:pt x="10818749" y="848995"/>
                    <a:pt x="10787253" y="880618"/>
                    <a:pt x="10748264" y="880618"/>
                  </a:cubicBezTo>
                  <a:lnTo>
                    <a:pt x="70485" y="880618"/>
                  </a:lnTo>
                  <a:cubicBezTo>
                    <a:pt x="31496" y="880491"/>
                    <a:pt x="0" y="848995"/>
                    <a:pt x="0" y="810133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7E0E9"/>
              </a:solidFill>
              <a:prstDash val="solid"/>
              <a:miter/>
            </a:ln>
          </p:spPr>
        </p:sp>
      </p:grpSp>
      <p:grpSp>
        <p:nvGrpSpPr>
          <p:cNvPr name="Group 83" id="83"/>
          <p:cNvGrpSpPr/>
          <p:nvPr/>
        </p:nvGrpSpPr>
        <p:grpSpPr>
          <a:xfrm rot="0">
            <a:off x="1173347" y="6499317"/>
            <a:ext cx="590817" cy="590817"/>
            <a:chOff x="0" y="0"/>
            <a:chExt cx="787756" cy="787756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787781" cy="787781"/>
            </a:xfrm>
            <a:custGeom>
              <a:avLst/>
              <a:gdLst/>
              <a:ahLst/>
              <a:cxnLst/>
              <a:rect r="r" b="b" t="t" l="l"/>
              <a:pathLst>
                <a:path h="787781" w="787781">
                  <a:moveTo>
                    <a:pt x="0" y="393827"/>
                  </a:moveTo>
                  <a:cubicBezTo>
                    <a:pt x="0" y="176403"/>
                    <a:pt x="176403" y="0"/>
                    <a:pt x="393827" y="0"/>
                  </a:cubicBezTo>
                  <a:cubicBezTo>
                    <a:pt x="611251" y="0"/>
                    <a:pt x="787781" y="176403"/>
                    <a:pt x="787781" y="393827"/>
                  </a:cubicBezTo>
                  <a:cubicBezTo>
                    <a:pt x="787781" y="611251"/>
                    <a:pt x="611378" y="787781"/>
                    <a:pt x="393827" y="787781"/>
                  </a:cubicBezTo>
                  <a:cubicBezTo>
                    <a:pt x="176276" y="787781"/>
                    <a:pt x="0" y="611378"/>
                    <a:pt x="0" y="393827"/>
                  </a:cubicBezTo>
                  <a:close/>
                </a:path>
              </a:pathLst>
            </a:custGeom>
            <a:solidFill>
              <a:srgbClr val="007AB4"/>
            </a:solidFill>
            <a:ln w="14299" cap="sq">
              <a:solidFill>
                <a:srgbClr val="007AB4"/>
              </a:solidFill>
              <a:prstDash val="solid"/>
              <a:miter/>
            </a:ln>
          </p:spPr>
        </p:sp>
      </p:grpSp>
      <p:grpSp>
        <p:nvGrpSpPr>
          <p:cNvPr name="Group 85" id="85"/>
          <p:cNvGrpSpPr/>
          <p:nvPr/>
        </p:nvGrpSpPr>
        <p:grpSpPr>
          <a:xfrm rot="0">
            <a:off x="1180500" y="6520196"/>
            <a:ext cx="576520" cy="521618"/>
            <a:chOff x="0" y="0"/>
            <a:chExt cx="768693" cy="69549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768697" cy="695487"/>
            </a:xfrm>
            <a:custGeom>
              <a:avLst/>
              <a:gdLst/>
              <a:ahLst/>
              <a:cxnLst/>
              <a:rect r="r" b="b" t="t" l="l"/>
              <a:pathLst>
                <a:path h="695487" w="768697">
                  <a:moveTo>
                    <a:pt x="0" y="0"/>
                  </a:moveTo>
                  <a:lnTo>
                    <a:pt x="768697" y="0"/>
                  </a:lnTo>
                  <a:lnTo>
                    <a:pt x="768697" y="695487"/>
                  </a:lnTo>
                  <a:lnTo>
                    <a:pt x="0" y="69548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6084" t="0" r="-66084" b="0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0"/>
              <a:ext cx="768693" cy="695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75"/>
                </a:lnSpc>
              </a:pPr>
              <a:r>
                <a:rPr lang="en-US" sz="1229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02</a:t>
              </a:r>
            </a:p>
          </p:txBody>
        </p:sp>
      </p:grpSp>
      <p:sp>
        <p:nvSpPr>
          <p:cNvPr name="TextBox 88" id="88"/>
          <p:cNvSpPr txBox="true"/>
          <p:nvPr/>
        </p:nvSpPr>
        <p:spPr>
          <a:xfrm rot="0">
            <a:off x="1994916" y="6607112"/>
            <a:ext cx="2722540" cy="306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5"/>
              </a:lnSpc>
            </a:pPr>
            <a:r>
              <a:rPr lang="en-US" sz="1229" b="true">
                <a:solidFill>
                  <a:srgbClr val="0B192D"/>
                </a:solidFill>
                <a:latin typeface="Aptos Bold"/>
                <a:ea typeface="Aptos Bold"/>
                <a:cs typeface="Aptos Bold"/>
                <a:sym typeface="Aptos Bold"/>
              </a:rPr>
              <a:t>Communication loss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4822622" y="6607112"/>
            <a:ext cx="251727" cy="306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11"/>
              </a:lnSpc>
            </a:pPr>
            <a:r>
              <a:rPr lang="en-US" sz="1426" b="true">
                <a:solidFill>
                  <a:srgbClr val="007AB4"/>
                </a:solidFill>
                <a:latin typeface="Aptos Bold"/>
                <a:ea typeface="Aptos Bold"/>
                <a:cs typeface="Aptos Bold"/>
                <a:sym typeface="Aptos Bold"/>
              </a:rPr>
              <a:t>→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5261877" y="6607112"/>
            <a:ext cx="3408874" cy="306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3"/>
              </a:lnSpc>
            </a:pPr>
            <a:r>
              <a:rPr lang="en-US" sz="1185">
                <a:solidFill>
                  <a:srgbClr val="465465"/>
                </a:solidFill>
                <a:latin typeface="Aptos"/>
                <a:ea typeface="Aptos"/>
                <a:cs typeface="Aptos"/>
                <a:sym typeface="Aptos"/>
              </a:rPr>
              <a:t>Adaptive Communication Network</a:t>
            </a:r>
          </a:p>
        </p:txBody>
      </p:sp>
      <p:grpSp>
        <p:nvGrpSpPr>
          <p:cNvPr name="Group 91" id="91"/>
          <p:cNvGrpSpPr/>
          <p:nvPr/>
        </p:nvGrpSpPr>
        <p:grpSpPr>
          <a:xfrm rot="0">
            <a:off x="953243" y="7157723"/>
            <a:ext cx="8114024" cy="660406"/>
            <a:chOff x="0" y="0"/>
            <a:chExt cx="10818698" cy="880542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10818749" cy="880618"/>
            </a:xfrm>
            <a:custGeom>
              <a:avLst/>
              <a:gdLst/>
              <a:ahLst/>
              <a:cxnLst/>
              <a:rect r="r" b="b" t="t" l="l"/>
              <a:pathLst>
                <a:path h="880618" w="10818749">
                  <a:moveTo>
                    <a:pt x="0" y="70485"/>
                  </a:moveTo>
                  <a:cubicBezTo>
                    <a:pt x="0" y="31496"/>
                    <a:pt x="31496" y="0"/>
                    <a:pt x="70485" y="0"/>
                  </a:cubicBezTo>
                  <a:lnTo>
                    <a:pt x="10748264" y="0"/>
                  </a:lnTo>
                  <a:cubicBezTo>
                    <a:pt x="10787126" y="0"/>
                    <a:pt x="10818749" y="31496"/>
                    <a:pt x="10818749" y="70485"/>
                  </a:cubicBezTo>
                  <a:lnTo>
                    <a:pt x="10818749" y="810133"/>
                  </a:lnTo>
                  <a:cubicBezTo>
                    <a:pt x="10818749" y="848995"/>
                    <a:pt x="10787253" y="880618"/>
                    <a:pt x="10748264" y="880618"/>
                  </a:cubicBezTo>
                  <a:lnTo>
                    <a:pt x="70485" y="880618"/>
                  </a:lnTo>
                  <a:cubicBezTo>
                    <a:pt x="31496" y="880491"/>
                    <a:pt x="0" y="848995"/>
                    <a:pt x="0" y="810133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7E0E9"/>
              </a:solidFill>
              <a:prstDash val="solid"/>
              <a:miter/>
            </a:ln>
          </p:spPr>
        </p:sp>
      </p:grpSp>
      <p:grpSp>
        <p:nvGrpSpPr>
          <p:cNvPr name="Group 93" id="93"/>
          <p:cNvGrpSpPr/>
          <p:nvPr/>
        </p:nvGrpSpPr>
        <p:grpSpPr>
          <a:xfrm rot="0">
            <a:off x="1173347" y="7199386"/>
            <a:ext cx="590817" cy="590817"/>
            <a:chOff x="0" y="0"/>
            <a:chExt cx="787756" cy="787756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787781" cy="787781"/>
            </a:xfrm>
            <a:custGeom>
              <a:avLst/>
              <a:gdLst/>
              <a:ahLst/>
              <a:cxnLst/>
              <a:rect r="r" b="b" t="t" l="l"/>
              <a:pathLst>
                <a:path h="787781" w="787781">
                  <a:moveTo>
                    <a:pt x="0" y="393827"/>
                  </a:moveTo>
                  <a:cubicBezTo>
                    <a:pt x="0" y="176403"/>
                    <a:pt x="176403" y="0"/>
                    <a:pt x="393827" y="0"/>
                  </a:cubicBezTo>
                  <a:cubicBezTo>
                    <a:pt x="611251" y="0"/>
                    <a:pt x="787781" y="176403"/>
                    <a:pt x="787781" y="393827"/>
                  </a:cubicBezTo>
                  <a:cubicBezTo>
                    <a:pt x="787781" y="611251"/>
                    <a:pt x="611378" y="787781"/>
                    <a:pt x="393827" y="787781"/>
                  </a:cubicBezTo>
                  <a:cubicBezTo>
                    <a:pt x="176276" y="787781"/>
                    <a:pt x="0" y="611378"/>
                    <a:pt x="0" y="393827"/>
                  </a:cubicBezTo>
                  <a:close/>
                </a:path>
              </a:pathLst>
            </a:custGeom>
            <a:solidFill>
              <a:srgbClr val="259766"/>
            </a:solidFill>
            <a:ln w="14299" cap="sq">
              <a:solidFill>
                <a:srgbClr val="259766"/>
              </a:solidFill>
              <a:prstDash val="solid"/>
              <a:miter/>
            </a:ln>
          </p:spPr>
        </p:sp>
      </p:grpSp>
      <p:grpSp>
        <p:nvGrpSpPr>
          <p:cNvPr name="Group 95" id="95"/>
          <p:cNvGrpSpPr/>
          <p:nvPr/>
        </p:nvGrpSpPr>
        <p:grpSpPr>
          <a:xfrm rot="0">
            <a:off x="1180500" y="7220255"/>
            <a:ext cx="576520" cy="521618"/>
            <a:chOff x="0" y="0"/>
            <a:chExt cx="768693" cy="69549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768697" cy="695487"/>
            </a:xfrm>
            <a:custGeom>
              <a:avLst/>
              <a:gdLst/>
              <a:ahLst/>
              <a:cxnLst/>
              <a:rect r="r" b="b" t="t" l="l"/>
              <a:pathLst>
                <a:path h="695487" w="768697">
                  <a:moveTo>
                    <a:pt x="0" y="0"/>
                  </a:moveTo>
                  <a:lnTo>
                    <a:pt x="768697" y="0"/>
                  </a:lnTo>
                  <a:lnTo>
                    <a:pt x="768697" y="695487"/>
                  </a:lnTo>
                  <a:lnTo>
                    <a:pt x="0" y="69548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6084" t="0" r="-66084" b="0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0"/>
              <a:ext cx="768693" cy="695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75"/>
                </a:lnSpc>
              </a:pPr>
              <a:r>
                <a:rPr lang="en-US" sz="1229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03</a:t>
              </a:r>
            </a:p>
          </p:txBody>
        </p:sp>
      </p:grpSp>
      <p:sp>
        <p:nvSpPr>
          <p:cNvPr name="TextBox 98" id="98"/>
          <p:cNvSpPr txBox="true"/>
          <p:nvPr/>
        </p:nvSpPr>
        <p:spPr>
          <a:xfrm rot="0">
            <a:off x="1994916" y="7307180"/>
            <a:ext cx="2722540" cy="306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5"/>
              </a:lnSpc>
            </a:pPr>
            <a:r>
              <a:rPr lang="en-US" sz="1229" b="true">
                <a:solidFill>
                  <a:srgbClr val="0B192D"/>
                </a:solidFill>
                <a:latin typeface="Aptos Bold"/>
                <a:ea typeface="Aptos Bold"/>
                <a:cs typeface="Aptos Bold"/>
                <a:sym typeface="Aptos Bold"/>
              </a:rPr>
              <a:t>GPS errors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4822622" y="7307180"/>
            <a:ext cx="251727" cy="306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11"/>
              </a:lnSpc>
            </a:pPr>
            <a:r>
              <a:rPr lang="en-US" sz="1426" b="true">
                <a:solidFill>
                  <a:srgbClr val="259766"/>
                </a:solidFill>
                <a:latin typeface="Aptos Bold"/>
                <a:ea typeface="Aptos Bold"/>
                <a:cs typeface="Aptos Bold"/>
                <a:sym typeface="Aptos Bold"/>
              </a:rPr>
              <a:t>→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5261877" y="7307180"/>
            <a:ext cx="3408874" cy="306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3"/>
              </a:lnSpc>
            </a:pPr>
            <a:r>
              <a:rPr lang="en-US" sz="1185">
                <a:solidFill>
                  <a:srgbClr val="465465"/>
                </a:solidFill>
                <a:latin typeface="Aptos"/>
                <a:ea typeface="Aptos"/>
                <a:cs typeface="Aptos"/>
                <a:sym typeface="Aptos"/>
              </a:rPr>
              <a:t>Multi-Sensor Verification</a:t>
            </a:r>
          </a:p>
        </p:txBody>
      </p:sp>
      <p:grpSp>
        <p:nvGrpSpPr>
          <p:cNvPr name="Group 101" id="101"/>
          <p:cNvGrpSpPr/>
          <p:nvPr/>
        </p:nvGrpSpPr>
        <p:grpSpPr>
          <a:xfrm rot="0">
            <a:off x="953243" y="7857792"/>
            <a:ext cx="8114024" cy="660406"/>
            <a:chOff x="0" y="0"/>
            <a:chExt cx="10818698" cy="880542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10818749" cy="880618"/>
            </a:xfrm>
            <a:custGeom>
              <a:avLst/>
              <a:gdLst/>
              <a:ahLst/>
              <a:cxnLst/>
              <a:rect r="r" b="b" t="t" l="l"/>
              <a:pathLst>
                <a:path h="880618" w="10818749">
                  <a:moveTo>
                    <a:pt x="0" y="70485"/>
                  </a:moveTo>
                  <a:cubicBezTo>
                    <a:pt x="0" y="31496"/>
                    <a:pt x="31496" y="0"/>
                    <a:pt x="70485" y="0"/>
                  </a:cubicBezTo>
                  <a:lnTo>
                    <a:pt x="10748264" y="0"/>
                  </a:lnTo>
                  <a:cubicBezTo>
                    <a:pt x="10787126" y="0"/>
                    <a:pt x="10818749" y="31496"/>
                    <a:pt x="10818749" y="70485"/>
                  </a:cubicBezTo>
                  <a:lnTo>
                    <a:pt x="10818749" y="810133"/>
                  </a:lnTo>
                  <a:cubicBezTo>
                    <a:pt x="10818749" y="848995"/>
                    <a:pt x="10787253" y="880618"/>
                    <a:pt x="10748264" y="880618"/>
                  </a:cubicBezTo>
                  <a:lnTo>
                    <a:pt x="70485" y="880618"/>
                  </a:lnTo>
                  <a:cubicBezTo>
                    <a:pt x="31496" y="880491"/>
                    <a:pt x="0" y="848995"/>
                    <a:pt x="0" y="810133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7E0E9"/>
              </a:solidFill>
              <a:prstDash val="solid"/>
              <a:miter/>
            </a:ln>
          </p:spPr>
        </p:sp>
      </p:grpSp>
      <p:grpSp>
        <p:nvGrpSpPr>
          <p:cNvPr name="Group 103" id="103"/>
          <p:cNvGrpSpPr/>
          <p:nvPr/>
        </p:nvGrpSpPr>
        <p:grpSpPr>
          <a:xfrm rot="0">
            <a:off x="1173347" y="7899444"/>
            <a:ext cx="590817" cy="590817"/>
            <a:chOff x="0" y="0"/>
            <a:chExt cx="787756" cy="787756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787781" cy="787781"/>
            </a:xfrm>
            <a:custGeom>
              <a:avLst/>
              <a:gdLst/>
              <a:ahLst/>
              <a:cxnLst/>
              <a:rect r="r" b="b" t="t" l="l"/>
              <a:pathLst>
                <a:path h="787781" w="787781">
                  <a:moveTo>
                    <a:pt x="0" y="393827"/>
                  </a:moveTo>
                  <a:cubicBezTo>
                    <a:pt x="0" y="176403"/>
                    <a:pt x="176403" y="0"/>
                    <a:pt x="393827" y="0"/>
                  </a:cubicBezTo>
                  <a:cubicBezTo>
                    <a:pt x="611251" y="0"/>
                    <a:pt x="787781" y="176403"/>
                    <a:pt x="787781" y="393827"/>
                  </a:cubicBezTo>
                  <a:cubicBezTo>
                    <a:pt x="787781" y="611251"/>
                    <a:pt x="611378" y="787781"/>
                    <a:pt x="393827" y="787781"/>
                  </a:cubicBezTo>
                  <a:cubicBezTo>
                    <a:pt x="176276" y="787781"/>
                    <a:pt x="0" y="611378"/>
                    <a:pt x="0" y="393827"/>
                  </a:cubicBezTo>
                  <a:close/>
                </a:path>
              </a:pathLst>
            </a:custGeom>
            <a:solidFill>
              <a:srgbClr val="E8772D"/>
            </a:solidFill>
            <a:ln w="14299" cap="sq">
              <a:solidFill>
                <a:srgbClr val="E8772D"/>
              </a:solidFill>
              <a:prstDash val="solid"/>
              <a:miter/>
            </a:ln>
          </p:spPr>
        </p:sp>
      </p:grpSp>
      <p:grpSp>
        <p:nvGrpSpPr>
          <p:cNvPr name="Group 105" id="105"/>
          <p:cNvGrpSpPr/>
          <p:nvPr/>
        </p:nvGrpSpPr>
        <p:grpSpPr>
          <a:xfrm rot="0">
            <a:off x="1180500" y="7920323"/>
            <a:ext cx="576520" cy="521618"/>
            <a:chOff x="0" y="0"/>
            <a:chExt cx="768693" cy="695490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768697" cy="695487"/>
            </a:xfrm>
            <a:custGeom>
              <a:avLst/>
              <a:gdLst/>
              <a:ahLst/>
              <a:cxnLst/>
              <a:rect r="r" b="b" t="t" l="l"/>
              <a:pathLst>
                <a:path h="695487" w="768697">
                  <a:moveTo>
                    <a:pt x="0" y="0"/>
                  </a:moveTo>
                  <a:lnTo>
                    <a:pt x="768697" y="0"/>
                  </a:lnTo>
                  <a:lnTo>
                    <a:pt x="768697" y="695487"/>
                  </a:lnTo>
                  <a:lnTo>
                    <a:pt x="0" y="69548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6084" t="0" r="-66084" b="0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0"/>
              <a:ext cx="768693" cy="695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75"/>
                </a:lnSpc>
              </a:pPr>
              <a:r>
                <a:rPr lang="en-US" sz="1229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04</a:t>
              </a:r>
            </a:p>
          </p:txBody>
        </p:sp>
      </p:grpSp>
      <p:sp>
        <p:nvSpPr>
          <p:cNvPr name="TextBox 108" id="108"/>
          <p:cNvSpPr txBox="true"/>
          <p:nvPr/>
        </p:nvSpPr>
        <p:spPr>
          <a:xfrm rot="0">
            <a:off x="1994916" y="8007239"/>
            <a:ext cx="2722540" cy="306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5"/>
              </a:lnSpc>
            </a:pPr>
            <a:r>
              <a:rPr lang="en-US" sz="1229" b="true">
                <a:solidFill>
                  <a:srgbClr val="0B192D"/>
                </a:solidFill>
                <a:latin typeface="Aptos Bold"/>
                <a:ea typeface="Aptos Bold"/>
                <a:cs typeface="Aptos Bold"/>
                <a:sym typeface="Aptos Bold"/>
              </a:rPr>
              <a:t>Weather conditions</a:t>
            </a:r>
          </a:p>
        </p:txBody>
      </p:sp>
      <p:sp>
        <p:nvSpPr>
          <p:cNvPr name="TextBox 109" id="109"/>
          <p:cNvSpPr txBox="true"/>
          <p:nvPr/>
        </p:nvSpPr>
        <p:spPr>
          <a:xfrm rot="0">
            <a:off x="4822622" y="8007239"/>
            <a:ext cx="251727" cy="306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11"/>
              </a:lnSpc>
            </a:pPr>
            <a:r>
              <a:rPr lang="en-US" sz="1426" b="true">
                <a:solidFill>
                  <a:srgbClr val="E8772D"/>
                </a:solidFill>
                <a:latin typeface="Aptos Bold"/>
                <a:ea typeface="Aptos Bold"/>
                <a:cs typeface="Aptos Bold"/>
                <a:sym typeface="Aptos Bold"/>
              </a:rPr>
              <a:t>→</a:t>
            </a:r>
          </a:p>
        </p:txBody>
      </p:sp>
      <p:sp>
        <p:nvSpPr>
          <p:cNvPr name="TextBox 110" id="110"/>
          <p:cNvSpPr txBox="true"/>
          <p:nvPr/>
        </p:nvSpPr>
        <p:spPr>
          <a:xfrm rot="0">
            <a:off x="5261877" y="8007239"/>
            <a:ext cx="3408874" cy="306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3"/>
              </a:lnSpc>
            </a:pPr>
            <a:r>
              <a:rPr lang="en-US" sz="1185">
                <a:solidFill>
                  <a:srgbClr val="465465"/>
                </a:solidFill>
                <a:latin typeface="Aptos"/>
                <a:ea typeface="Aptos"/>
                <a:cs typeface="Aptos"/>
                <a:sym typeface="Aptos"/>
              </a:rPr>
              <a:t>Adaptive Mission Planning</a:t>
            </a:r>
          </a:p>
        </p:txBody>
      </p:sp>
      <p:grpSp>
        <p:nvGrpSpPr>
          <p:cNvPr name="Group 111" id="111"/>
          <p:cNvGrpSpPr/>
          <p:nvPr/>
        </p:nvGrpSpPr>
        <p:grpSpPr>
          <a:xfrm rot="0">
            <a:off x="953243" y="8557851"/>
            <a:ext cx="8114024" cy="660406"/>
            <a:chOff x="0" y="0"/>
            <a:chExt cx="10818698" cy="880542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10818749" cy="880618"/>
            </a:xfrm>
            <a:custGeom>
              <a:avLst/>
              <a:gdLst/>
              <a:ahLst/>
              <a:cxnLst/>
              <a:rect r="r" b="b" t="t" l="l"/>
              <a:pathLst>
                <a:path h="880618" w="10818749">
                  <a:moveTo>
                    <a:pt x="0" y="70485"/>
                  </a:moveTo>
                  <a:cubicBezTo>
                    <a:pt x="0" y="31496"/>
                    <a:pt x="31496" y="0"/>
                    <a:pt x="70485" y="0"/>
                  </a:cubicBezTo>
                  <a:lnTo>
                    <a:pt x="10748264" y="0"/>
                  </a:lnTo>
                  <a:cubicBezTo>
                    <a:pt x="10787126" y="0"/>
                    <a:pt x="10818749" y="31496"/>
                    <a:pt x="10818749" y="70485"/>
                  </a:cubicBezTo>
                  <a:lnTo>
                    <a:pt x="10818749" y="810133"/>
                  </a:lnTo>
                  <a:cubicBezTo>
                    <a:pt x="10818749" y="848995"/>
                    <a:pt x="10787253" y="880618"/>
                    <a:pt x="10748264" y="880618"/>
                  </a:cubicBezTo>
                  <a:lnTo>
                    <a:pt x="70485" y="880618"/>
                  </a:lnTo>
                  <a:cubicBezTo>
                    <a:pt x="31496" y="880491"/>
                    <a:pt x="0" y="848995"/>
                    <a:pt x="0" y="810133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7E0E9"/>
              </a:solidFill>
              <a:prstDash val="solid"/>
              <a:miter/>
            </a:ln>
          </p:spPr>
        </p:sp>
      </p:grpSp>
      <p:grpSp>
        <p:nvGrpSpPr>
          <p:cNvPr name="Group 113" id="113"/>
          <p:cNvGrpSpPr/>
          <p:nvPr/>
        </p:nvGrpSpPr>
        <p:grpSpPr>
          <a:xfrm rot="0">
            <a:off x="1173347" y="8599503"/>
            <a:ext cx="590817" cy="590817"/>
            <a:chOff x="0" y="0"/>
            <a:chExt cx="787756" cy="787756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787781" cy="787781"/>
            </a:xfrm>
            <a:custGeom>
              <a:avLst/>
              <a:gdLst/>
              <a:ahLst/>
              <a:cxnLst/>
              <a:rect r="r" b="b" t="t" l="l"/>
              <a:pathLst>
                <a:path h="787781" w="787781">
                  <a:moveTo>
                    <a:pt x="0" y="393827"/>
                  </a:moveTo>
                  <a:cubicBezTo>
                    <a:pt x="0" y="176403"/>
                    <a:pt x="176403" y="0"/>
                    <a:pt x="393827" y="0"/>
                  </a:cubicBezTo>
                  <a:cubicBezTo>
                    <a:pt x="611251" y="0"/>
                    <a:pt x="787781" y="176403"/>
                    <a:pt x="787781" y="393827"/>
                  </a:cubicBezTo>
                  <a:cubicBezTo>
                    <a:pt x="787781" y="611251"/>
                    <a:pt x="611378" y="787781"/>
                    <a:pt x="393827" y="787781"/>
                  </a:cubicBezTo>
                  <a:cubicBezTo>
                    <a:pt x="176276" y="787781"/>
                    <a:pt x="0" y="611378"/>
                    <a:pt x="0" y="393827"/>
                  </a:cubicBezTo>
                  <a:close/>
                </a:path>
              </a:pathLst>
            </a:custGeom>
            <a:solidFill>
              <a:srgbClr val="CD4448"/>
            </a:solidFill>
            <a:ln w="14299" cap="sq">
              <a:solidFill>
                <a:srgbClr val="CD4448"/>
              </a:solidFill>
              <a:prstDash val="solid"/>
              <a:miter/>
            </a:ln>
          </p:spPr>
        </p:sp>
      </p:grpSp>
      <p:grpSp>
        <p:nvGrpSpPr>
          <p:cNvPr name="Group 115" id="115"/>
          <p:cNvGrpSpPr/>
          <p:nvPr/>
        </p:nvGrpSpPr>
        <p:grpSpPr>
          <a:xfrm rot="0">
            <a:off x="1180500" y="8620382"/>
            <a:ext cx="576520" cy="521618"/>
            <a:chOff x="0" y="0"/>
            <a:chExt cx="768693" cy="695490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768697" cy="695487"/>
            </a:xfrm>
            <a:custGeom>
              <a:avLst/>
              <a:gdLst/>
              <a:ahLst/>
              <a:cxnLst/>
              <a:rect r="r" b="b" t="t" l="l"/>
              <a:pathLst>
                <a:path h="695487" w="768697">
                  <a:moveTo>
                    <a:pt x="0" y="0"/>
                  </a:moveTo>
                  <a:lnTo>
                    <a:pt x="768697" y="0"/>
                  </a:lnTo>
                  <a:lnTo>
                    <a:pt x="768697" y="695487"/>
                  </a:lnTo>
                  <a:lnTo>
                    <a:pt x="0" y="69548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6084" t="0" r="-66084" b="0"/>
              </a:stretch>
            </a:blipFill>
          </p:spPr>
        </p:sp>
        <p:sp>
          <p:nvSpPr>
            <p:cNvPr name="TextBox 117" id="117"/>
            <p:cNvSpPr txBox="true"/>
            <p:nvPr/>
          </p:nvSpPr>
          <p:spPr>
            <a:xfrm>
              <a:off x="0" y="0"/>
              <a:ext cx="768693" cy="695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75"/>
                </a:lnSpc>
              </a:pPr>
              <a:r>
                <a:rPr lang="en-US" sz="1229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05</a:t>
              </a:r>
            </a:p>
          </p:txBody>
        </p:sp>
      </p:grpSp>
      <p:sp>
        <p:nvSpPr>
          <p:cNvPr name="TextBox 118" id="118"/>
          <p:cNvSpPr txBox="true"/>
          <p:nvPr/>
        </p:nvSpPr>
        <p:spPr>
          <a:xfrm rot="0">
            <a:off x="1994916" y="8707307"/>
            <a:ext cx="2722540" cy="306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5"/>
              </a:lnSpc>
            </a:pPr>
            <a:r>
              <a:rPr lang="en-US" sz="1229" b="true">
                <a:solidFill>
                  <a:srgbClr val="0B192D"/>
                </a:solidFill>
                <a:latin typeface="Aptos Bold"/>
                <a:ea typeface="Aptos Bold"/>
                <a:cs typeface="Aptos Bold"/>
                <a:sym typeface="Aptos Bold"/>
              </a:rPr>
              <a:t>False detection</a:t>
            </a:r>
          </a:p>
        </p:txBody>
      </p:sp>
      <p:sp>
        <p:nvSpPr>
          <p:cNvPr name="TextBox 119" id="119"/>
          <p:cNvSpPr txBox="true"/>
          <p:nvPr/>
        </p:nvSpPr>
        <p:spPr>
          <a:xfrm rot="0">
            <a:off x="4822622" y="8707307"/>
            <a:ext cx="251727" cy="306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11"/>
              </a:lnSpc>
            </a:pPr>
            <a:r>
              <a:rPr lang="en-US" sz="1426" b="true">
                <a:solidFill>
                  <a:srgbClr val="CD4448"/>
                </a:solidFill>
                <a:latin typeface="Aptos Bold"/>
                <a:ea typeface="Aptos Bold"/>
                <a:cs typeface="Aptos Bold"/>
                <a:sym typeface="Aptos Bold"/>
              </a:rPr>
              <a:t>→</a:t>
            </a:r>
          </a:p>
        </p:txBody>
      </p:sp>
      <p:sp>
        <p:nvSpPr>
          <p:cNvPr name="TextBox 120" id="120"/>
          <p:cNvSpPr txBox="true"/>
          <p:nvPr/>
        </p:nvSpPr>
        <p:spPr>
          <a:xfrm rot="0">
            <a:off x="5261877" y="8707307"/>
            <a:ext cx="3408874" cy="306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3"/>
              </a:lnSpc>
            </a:pPr>
            <a:r>
              <a:rPr lang="en-US" sz="1185">
                <a:solidFill>
                  <a:srgbClr val="465465"/>
                </a:solidFill>
                <a:latin typeface="Aptos"/>
                <a:ea typeface="Aptos"/>
                <a:cs typeface="Aptos"/>
                <a:sym typeface="Aptos"/>
              </a:rPr>
              <a:t>Rover &amp; Human Verification</a:t>
            </a:r>
          </a:p>
        </p:txBody>
      </p:sp>
      <p:sp>
        <p:nvSpPr>
          <p:cNvPr name="TextBox 121" id="121"/>
          <p:cNvSpPr txBox="true"/>
          <p:nvPr/>
        </p:nvSpPr>
        <p:spPr>
          <a:xfrm rot="0">
            <a:off x="9654426" y="5303072"/>
            <a:ext cx="4026579" cy="306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0B192D"/>
                </a:solidFill>
                <a:latin typeface="Aptos Bold"/>
                <a:ea typeface="Aptos Bold"/>
                <a:cs typeface="Aptos Bold"/>
                <a:sym typeface="Aptos Bold"/>
              </a:rPr>
              <a:t>EXPECTED IMPACT</a:t>
            </a:r>
          </a:p>
        </p:txBody>
      </p:sp>
      <p:grpSp>
        <p:nvGrpSpPr>
          <p:cNvPr name="Group 122" id="122"/>
          <p:cNvGrpSpPr/>
          <p:nvPr/>
        </p:nvGrpSpPr>
        <p:grpSpPr>
          <a:xfrm rot="0">
            <a:off x="9601076" y="5757596"/>
            <a:ext cx="7290416" cy="1085936"/>
            <a:chOff x="0" y="0"/>
            <a:chExt cx="9720555" cy="1447914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9720580" cy="1447927"/>
            </a:xfrm>
            <a:custGeom>
              <a:avLst/>
              <a:gdLst/>
              <a:ahLst/>
              <a:cxnLst/>
              <a:rect r="r" b="b" t="t" l="l"/>
              <a:pathLst>
                <a:path h="1447927" w="9720580">
                  <a:moveTo>
                    <a:pt x="0" y="115824"/>
                  </a:moveTo>
                  <a:cubicBezTo>
                    <a:pt x="0" y="51816"/>
                    <a:pt x="51816" y="0"/>
                    <a:pt x="115824" y="0"/>
                  </a:cubicBezTo>
                  <a:lnTo>
                    <a:pt x="9604756" y="0"/>
                  </a:lnTo>
                  <a:cubicBezTo>
                    <a:pt x="9668764" y="0"/>
                    <a:pt x="9720580" y="51816"/>
                    <a:pt x="9720580" y="115824"/>
                  </a:cubicBezTo>
                  <a:lnTo>
                    <a:pt x="9720580" y="1332103"/>
                  </a:lnTo>
                  <a:cubicBezTo>
                    <a:pt x="9720580" y="1396111"/>
                    <a:pt x="9668764" y="1447927"/>
                    <a:pt x="9604756" y="1447927"/>
                  </a:cubicBezTo>
                  <a:lnTo>
                    <a:pt x="115824" y="1447927"/>
                  </a:lnTo>
                  <a:cubicBezTo>
                    <a:pt x="51816" y="1447927"/>
                    <a:pt x="0" y="1396111"/>
                    <a:pt x="0" y="1332103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7E0E9"/>
              </a:solidFill>
              <a:prstDash val="solid"/>
              <a:miter/>
            </a:ln>
          </p:spPr>
        </p:sp>
      </p:grpSp>
      <p:grpSp>
        <p:nvGrpSpPr>
          <p:cNvPr name="Group 124" id="124"/>
          <p:cNvGrpSpPr/>
          <p:nvPr/>
        </p:nvGrpSpPr>
        <p:grpSpPr>
          <a:xfrm rot="0">
            <a:off x="9821189" y="5991425"/>
            <a:ext cx="590817" cy="590817"/>
            <a:chOff x="0" y="0"/>
            <a:chExt cx="787756" cy="787756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787781" cy="787781"/>
            </a:xfrm>
            <a:custGeom>
              <a:avLst/>
              <a:gdLst/>
              <a:ahLst/>
              <a:cxnLst/>
              <a:rect r="r" b="b" t="t" l="l"/>
              <a:pathLst>
                <a:path h="787781" w="787781">
                  <a:moveTo>
                    <a:pt x="0" y="393827"/>
                  </a:moveTo>
                  <a:cubicBezTo>
                    <a:pt x="0" y="176403"/>
                    <a:pt x="176403" y="0"/>
                    <a:pt x="393827" y="0"/>
                  </a:cubicBezTo>
                  <a:cubicBezTo>
                    <a:pt x="611251" y="0"/>
                    <a:pt x="787781" y="176403"/>
                    <a:pt x="787781" y="393827"/>
                  </a:cubicBezTo>
                  <a:cubicBezTo>
                    <a:pt x="787781" y="611251"/>
                    <a:pt x="611378" y="787781"/>
                    <a:pt x="393827" y="787781"/>
                  </a:cubicBezTo>
                  <a:cubicBezTo>
                    <a:pt x="176276" y="787781"/>
                    <a:pt x="0" y="611378"/>
                    <a:pt x="0" y="393827"/>
                  </a:cubicBezTo>
                  <a:close/>
                </a:path>
              </a:pathLst>
            </a:custGeom>
            <a:solidFill>
              <a:srgbClr val="00A6D2"/>
            </a:solidFill>
            <a:ln w="14299" cap="sq">
              <a:solidFill>
                <a:srgbClr val="00A6D2"/>
              </a:solidFill>
              <a:prstDash val="solid"/>
              <a:miter/>
            </a:ln>
          </p:spPr>
        </p:sp>
      </p:grpSp>
      <p:grpSp>
        <p:nvGrpSpPr>
          <p:cNvPr name="Group 126" id="126"/>
          <p:cNvGrpSpPr/>
          <p:nvPr/>
        </p:nvGrpSpPr>
        <p:grpSpPr>
          <a:xfrm rot="0">
            <a:off x="9828333" y="6012304"/>
            <a:ext cx="576520" cy="521618"/>
            <a:chOff x="0" y="0"/>
            <a:chExt cx="768693" cy="695490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768697" cy="695487"/>
            </a:xfrm>
            <a:custGeom>
              <a:avLst/>
              <a:gdLst/>
              <a:ahLst/>
              <a:cxnLst/>
              <a:rect r="r" b="b" t="t" l="l"/>
              <a:pathLst>
                <a:path h="695487" w="768697">
                  <a:moveTo>
                    <a:pt x="0" y="0"/>
                  </a:moveTo>
                  <a:lnTo>
                    <a:pt x="768697" y="0"/>
                  </a:lnTo>
                  <a:lnTo>
                    <a:pt x="768697" y="695487"/>
                  </a:lnTo>
                  <a:lnTo>
                    <a:pt x="0" y="69548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6084" t="0" r="-66084" b="0"/>
              </a:stretch>
            </a:blipFill>
          </p:spPr>
        </p:sp>
        <p:sp>
          <p:nvSpPr>
            <p:cNvPr name="TextBox 128" id="128"/>
            <p:cNvSpPr txBox="true"/>
            <p:nvPr/>
          </p:nvSpPr>
          <p:spPr>
            <a:xfrm>
              <a:off x="0" y="0"/>
              <a:ext cx="768693" cy="695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75"/>
                </a:lnSpc>
              </a:pPr>
              <a:r>
                <a:rPr lang="en-US" sz="1229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01</a:t>
              </a:r>
            </a:p>
          </p:txBody>
        </p:sp>
      </p:grpSp>
      <p:sp>
        <p:nvSpPr>
          <p:cNvPr name="TextBox 129" id="129"/>
          <p:cNvSpPr txBox="true"/>
          <p:nvPr/>
        </p:nvSpPr>
        <p:spPr>
          <a:xfrm rot="0">
            <a:off x="10638101" y="6124661"/>
            <a:ext cx="1624403" cy="265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5"/>
              </a:lnSpc>
            </a:pPr>
            <a:r>
              <a:rPr lang="en-US" sz="1321" b="true">
                <a:solidFill>
                  <a:srgbClr val="0B192D"/>
                </a:solidFill>
                <a:latin typeface="Aptos Bold"/>
                <a:ea typeface="Aptos Bold"/>
                <a:cs typeface="Aptos Bold"/>
                <a:sym typeface="Aptos Bold"/>
              </a:rPr>
              <a:t>SOCIAL</a:t>
            </a:r>
          </a:p>
        </p:txBody>
      </p:sp>
      <p:sp>
        <p:nvSpPr>
          <p:cNvPr name="TextBox 130" id="130"/>
          <p:cNvSpPr txBox="true"/>
          <p:nvPr/>
        </p:nvSpPr>
        <p:spPr>
          <a:xfrm rot="0">
            <a:off x="12234478" y="6012304"/>
            <a:ext cx="4191295" cy="649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15"/>
              </a:lnSpc>
            </a:pPr>
            <a:r>
              <a:rPr lang="en-US" sz="1095">
                <a:solidFill>
                  <a:srgbClr val="465465"/>
                </a:solidFill>
                <a:latin typeface="Aptos"/>
                <a:ea typeface="Aptos"/>
                <a:cs typeface="Aptos"/>
                <a:sym typeface="Aptos"/>
              </a:rPr>
              <a:t>Faster rescue operations</a:t>
            </a:r>
          </a:p>
          <a:p>
            <a:pPr algn="l">
              <a:lnSpc>
                <a:spcPts val="1315"/>
              </a:lnSpc>
            </a:pPr>
            <a:r>
              <a:rPr lang="en-US" sz="1095">
                <a:solidFill>
                  <a:srgbClr val="465465"/>
                </a:solidFill>
                <a:latin typeface="Aptos"/>
                <a:ea typeface="Aptos"/>
                <a:cs typeface="Aptos"/>
                <a:sym typeface="Aptos"/>
              </a:rPr>
              <a:t>Improved survivor localization</a:t>
            </a:r>
          </a:p>
          <a:p>
            <a:pPr algn="l">
              <a:lnSpc>
                <a:spcPts val="1315"/>
              </a:lnSpc>
            </a:pPr>
            <a:r>
              <a:rPr lang="en-US" sz="1095">
                <a:solidFill>
                  <a:srgbClr val="465465"/>
                </a:solidFill>
                <a:latin typeface="Aptos"/>
                <a:ea typeface="Aptos"/>
                <a:cs typeface="Aptos"/>
                <a:sym typeface="Aptos"/>
              </a:rPr>
              <a:t>Increased rescue efficiency</a:t>
            </a:r>
          </a:p>
          <a:p>
            <a:pPr algn="l">
              <a:lnSpc>
                <a:spcPts val="1315"/>
              </a:lnSpc>
            </a:pPr>
            <a:r>
              <a:rPr lang="en-US" sz="1095">
                <a:solidFill>
                  <a:srgbClr val="465465"/>
                </a:solidFill>
                <a:latin typeface="Aptos"/>
                <a:ea typeface="Aptos"/>
                <a:cs typeface="Aptos"/>
                <a:sym typeface="Aptos"/>
              </a:rPr>
              <a:t>Reduced risk to responders</a:t>
            </a:r>
          </a:p>
        </p:txBody>
      </p:sp>
      <p:grpSp>
        <p:nvGrpSpPr>
          <p:cNvPr name="Group 131" id="131"/>
          <p:cNvGrpSpPr/>
          <p:nvPr/>
        </p:nvGrpSpPr>
        <p:grpSpPr>
          <a:xfrm rot="0">
            <a:off x="9601076" y="6938096"/>
            <a:ext cx="7290416" cy="1085936"/>
            <a:chOff x="0" y="0"/>
            <a:chExt cx="9720555" cy="1447914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9720580" cy="1447927"/>
            </a:xfrm>
            <a:custGeom>
              <a:avLst/>
              <a:gdLst/>
              <a:ahLst/>
              <a:cxnLst/>
              <a:rect r="r" b="b" t="t" l="l"/>
              <a:pathLst>
                <a:path h="1447927" w="9720580">
                  <a:moveTo>
                    <a:pt x="0" y="115824"/>
                  </a:moveTo>
                  <a:cubicBezTo>
                    <a:pt x="0" y="51816"/>
                    <a:pt x="51816" y="0"/>
                    <a:pt x="115824" y="0"/>
                  </a:cubicBezTo>
                  <a:lnTo>
                    <a:pt x="9604756" y="0"/>
                  </a:lnTo>
                  <a:cubicBezTo>
                    <a:pt x="9668764" y="0"/>
                    <a:pt x="9720580" y="51816"/>
                    <a:pt x="9720580" y="115824"/>
                  </a:cubicBezTo>
                  <a:lnTo>
                    <a:pt x="9720580" y="1332103"/>
                  </a:lnTo>
                  <a:cubicBezTo>
                    <a:pt x="9720580" y="1396111"/>
                    <a:pt x="9668764" y="1447927"/>
                    <a:pt x="9604756" y="1447927"/>
                  </a:cubicBezTo>
                  <a:lnTo>
                    <a:pt x="115824" y="1447927"/>
                  </a:lnTo>
                  <a:cubicBezTo>
                    <a:pt x="51816" y="1447927"/>
                    <a:pt x="0" y="1396111"/>
                    <a:pt x="0" y="1332103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7E0E9"/>
              </a:solidFill>
              <a:prstDash val="solid"/>
              <a:miter/>
            </a:ln>
          </p:spPr>
        </p:sp>
      </p:grpSp>
      <p:grpSp>
        <p:nvGrpSpPr>
          <p:cNvPr name="Group 133" id="133"/>
          <p:cNvGrpSpPr/>
          <p:nvPr/>
        </p:nvGrpSpPr>
        <p:grpSpPr>
          <a:xfrm rot="0">
            <a:off x="9821189" y="7171925"/>
            <a:ext cx="590817" cy="590817"/>
            <a:chOff x="0" y="0"/>
            <a:chExt cx="787756" cy="787756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787781" cy="787781"/>
            </a:xfrm>
            <a:custGeom>
              <a:avLst/>
              <a:gdLst/>
              <a:ahLst/>
              <a:cxnLst/>
              <a:rect r="r" b="b" t="t" l="l"/>
              <a:pathLst>
                <a:path h="787781" w="787781">
                  <a:moveTo>
                    <a:pt x="0" y="393827"/>
                  </a:moveTo>
                  <a:cubicBezTo>
                    <a:pt x="0" y="176403"/>
                    <a:pt x="176403" y="0"/>
                    <a:pt x="393827" y="0"/>
                  </a:cubicBezTo>
                  <a:cubicBezTo>
                    <a:pt x="611251" y="0"/>
                    <a:pt x="787781" y="176403"/>
                    <a:pt x="787781" y="393827"/>
                  </a:cubicBezTo>
                  <a:cubicBezTo>
                    <a:pt x="787781" y="611251"/>
                    <a:pt x="611378" y="787781"/>
                    <a:pt x="393827" y="787781"/>
                  </a:cubicBezTo>
                  <a:cubicBezTo>
                    <a:pt x="176276" y="787781"/>
                    <a:pt x="0" y="611378"/>
                    <a:pt x="0" y="393827"/>
                  </a:cubicBezTo>
                  <a:close/>
                </a:path>
              </a:pathLst>
            </a:custGeom>
            <a:solidFill>
              <a:srgbClr val="E8772D"/>
            </a:solidFill>
            <a:ln w="14299" cap="sq">
              <a:solidFill>
                <a:srgbClr val="E8772D"/>
              </a:solidFill>
              <a:prstDash val="solid"/>
              <a:miter/>
            </a:ln>
          </p:spPr>
        </p:sp>
      </p:grpSp>
      <p:grpSp>
        <p:nvGrpSpPr>
          <p:cNvPr name="Group 135" id="135"/>
          <p:cNvGrpSpPr/>
          <p:nvPr/>
        </p:nvGrpSpPr>
        <p:grpSpPr>
          <a:xfrm rot="0">
            <a:off x="9828333" y="7192804"/>
            <a:ext cx="576520" cy="521618"/>
            <a:chOff x="0" y="0"/>
            <a:chExt cx="768693" cy="695490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768697" cy="695487"/>
            </a:xfrm>
            <a:custGeom>
              <a:avLst/>
              <a:gdLst/>
              <a:ahLst/>
              <a:cxnLst/>
              <a:rect r="r" b="b" t="t" l="l"/>
              <a:pathLst>
                <a:path h="695487" w="768697">
                  <a:moveTo>
                    <a:pt x="0" y="0"/>
                  </a:moveTo>
                  <a:lnTo>
                    <a:pt x="768697" y="0"/>
                  </a:lnTo>
                  <a:lnTo>
                    <a:pt x="768697" y="695487"/>
                  </a:lnTo>
                  <a:lnTo>
                    <a:pt x="0" y="69548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6084" t="0" r="-66084" b="0"/>
              </a:stretch>
            </a:blipFill>
          </p:spPr>
        </p:sp>
        <p:sp>
          <p:nvSpPr>
            <p:cNvPr name="TextBox 137" id="137"/>
            <p:cNvSpPr txBox="true"/>
            <p:nvPr/>
          </p:nvSpPr>
          <p:spPr>
            <a:xfrm>
              <a:off x="0" y="0"/>
              <a:ext cx="768693" cy="695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75"/>
                </a:lnSpc>
              </a:pPr>
              <a:r>
                <a:rPr lang="en-US" sz="1229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02</a:t>
              </a:r>
            </a:p>
          </p:txBody>
        </p:sp>
      </p:grpSp>
      <p:sp>
        <p:nvSpPr>
          <p:cNvPr name="TextBox 138" id="138"/>
          <p:cNvSpPr txBox="true"/>
          <p:nvPr/>
        </p:nvSpPr>
        <p:spPr>
          <a:xfrm rot="0">
            <a:off x="10538779" y="7348357"/>
            <a:ext cx="1624403" cy="265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5"/>
              </a:lnSpc>
            </a:pPr>
            <a:r>
              <a:rPr lang="en-US" sz="1321" b="true">
                <a:solidFill>
                  <a:srgbClr val="0B192D"/>
                </a:solidFill>
                <a:latin typeface="Aptos Bold"/>
                <a:ea typeface="Aptos Bold"/>
                <a:cs typeface="Aptos Bold"/>
                <a:sym typeface="Aptos Bold"/>
              </a:rPr>
              <a:t>ECONOMIC</a:t>
            </a:r>
          </a:p>
        </p:txBody>
      </p:sp>
      <p:sp>
        <p:nvSpPr>
          <p:cNvPr name="TextBox 139" id="139"/>
          <p:cNvSpPr txBox="true"/>
          <p:nvPr/>
        </p:nvSpPr>
        <p:spPr>
          <a:xfrm rot="0">
            <a:off x="12234478" y="7220255"/>
            <a:ext cx="4191295" cy="649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15"/>
              </a:lnSpc>
            </a:pPr>
            <a:r>
              <a:rPr lang="en-US" sz="1095">
                <a:solidFill>
                  <a:srgbClr val="465465"/>
                </a:solidFill>
                <a:latin typeface="Aptos"/>
                <a:ea typeface="Aptos"/>
                <a:cs typeface="Aptos"/>
                <a:sym typeface="Aptos"/>
              </a:rPr>
              <a:t>Efficient resource utilization</a:t>
            </a:r>
          </a:p>
          <a:p>
            <a:pPr algn="l">
              <a:lnSpc>
                <a:spcPts val="1315"/>
              </a:lnSpc>
            </a:pPr>
            <a:r>
              <a:rPr lang="en-US" sz="1095">
                <a:solidFill>
                  <a:srgbClr val="465465"/>
                </a:solidFill>
                <a:latin typeface="Aptos"/>
                <a:ea typeface="Aptos"/>
                <a:cs typeface="Aptos"/>
                <a:sym typeface="Aptos"/>
              </a:rPr>
              <a:t>Faster operational decisions</a:t>
            </a:r>
          </a:p>
          <a:p>
            <a:pPr algn="l">
              <a:lnSpc>
                <a:spcPts val="1315"/>
              </a:lnSpc>
            </a:pPr>
            <a:r>
              <a:rPr lang="en-US" sz="1095">
                <a:solidFill>
                  <a:srgbClr val="465465"/>
                </a:solidFill>
                <a:latin typeface="Aptos"/>
                <a:ea typeface="Aptos"/>
                <a:cs typeface="Aptos"/>
                <a:sym typeface="Aptos"/>
              </a:rPr>
              <a:t>Reduced search effort</a:t>
            </a:r>
          </a:p>
        </p:txBody>
      </p:sp>
      <p:grpSp>
        <p:nvGrpSpPr>
          <p:cNvPr name="Group 140" id="140"/>
          <p:cNvGrpSpPr/>
          <p:nvPr/>
        </p:nvGrpSpPr>
        <p:grpSpPr>
          <a:xfrm rot="0">
            <a:off x="9601076" y="8118596"/>
            <a:ext cx="7290416" cy="1085936"/>
            <a:chOff x="0" y="0"/>
            <a:chExt cx="9720555" cy="1447914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9720580" cy="1447927"/>
            </a:xfrm>
            <a:custGeom>
              <a:avLst/>
              <a:gdLst/>
              <a:ahLst/>
              <a:cxnLst/>
              <a:rect r="r" b="b" t="t" l="l"/>
              <a:pathLst>
                <a:path h="1447927" w="9720580">
                  <a:moveTo>
                    <a:pt x="0" y="115824"/>
                  </a:moveTo>
                  <a:cubicBezTo>
                    <a:pt x="0" y="51816"/>
                    <a:pt x="51816" y="0"/>
                    <a:pt x="115824" y="0"/>
                  </a:cubicBezTo>
                  <a:lnTo>
                    <a:pt x="9604756" y="0"/>
                  </a:lnTo>
                  <a:cubicBezTo>
                    <a:pt x="9668764" y="0"/>
                    <a:pt x="9720580" y="51816"/>
                    <a:pt x="9720580" y="115824"/>
                  </a:cubicBezTo>
                  <a:lnTo>
                    <a:pt x="9720580" y="1332103"/>
                  </a:lnTo>
                  <a:cubicBezTo>
                    <a:pt x="9720580" y="1396111"/>
                    <a:pt x="9668764" y="1447927"/>
                    <a:pt x="9604756" y="1447927"/>
                  </a:cubicBezTo>
                  <a:lnTo>
                    <a:pt x="115824" y="1447927"/>
                  </a:lnTo>
                  <a:cubicBezTo>
                    <a:pt x="51816" y="1447927"/>
                    <a:pt x="0" y="1396111"/>
                    <a:pt x="0" y="1332103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7E0E9"/>
              </a:solidFill>
              <a:prstDash val="solid"/>
              <a:miter/>
            </a:ln>
          </p:spPr>
        </p:sp>
      </p:grpSp>
      <p:grpSp>
        <p:nvGrpSpPr>
          <p:cNvPr name="Group 142" id="142"/>
          <p:cNvGrpSpPr/>
          <p:nvPr/>
        </p:nvGrpSpPr>
        <p:grpSpPr>
          <a:xfrm rot="0">
            <a:off x="9821189" y="8352425"/>
            <a:ext cx="590817" cy="590817"/>
            <a:chOff x="0" y="0"/>
            <a:chExt cx="787756" cy="787756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0" y="0"/>
              <a:ext cx="787781" cy="787781"/>
            </a:xfrm>
            <a:custGeom>
              <a:avLst/>
              <a:gdLst/>
              <a:ahLst/>
              <a:cxnLst/>
              <a:rect r="r" b="b" t="t" l="l"/>
              <a:pathLst>
                <a:path h="787781" w="787781">
                  <a:moveTo>
                    <a:pt x="0" y="393827"/>
                  </a:moveTo>
                  <a:cubicBezTo>
                    <a:pt x="0" y="176403"/>
                    <a:pt x="176403" y="0"/>
                    <a:pt x="393827" y="0"/>
                  </a:cubicBezTo>
                  <a:cubicBezTo>
                    <a:pt x="611251" y="0"/>
                    <a:pt x="787781" y="176403"/>
                    <a:pt x="787781" y="393827"/>
                  </a:cubicBezTo>
                  <a:cubicBezTo>
                    <a:pt x="787781" y="611251"/>
                    <a:pt x="611378" y="787781"/>
                    <a:pt x="393827" y="787781"/>
                  </a:cubicBezTo>
                  <a:cubicBezTo>
                    <a:pt x="176276" y="787781"/>
                    <a:pt x="0" y="611378"/>
                    <a:pt x="0" y="393827"/>
                  </a:cubicBezTo>
                  <a:close/>
                </a:path>
              </a:pathLst>
            </a:custGeom>
            <a:solidFill>
              <a:srgbClr val="259766"/>
            </a:solidFill>
            <a:ln w="14299" cap="sq">
              <a:solidFill>
                <a:srgbClr val="259766"/>
              </a:solidFill>
              <a:prstDash val="solid"/>
              <a:miter/>
            </a:ln>
          </p:spPr>
        </p:sp>
      </p:grpSp>
      <p:grpSp>
        <p:nvGrpSpPr>
          <p:cNvPr name="Group 144" id="144"/>
          <p:cNvGrpSpPr/>
          <p:nvPr/>
        </p:nvGrpSpPr>
        <p:grpSpPr>
          <a:xfrm rot="0">
            <a:off x="9828333" y="8373304"/>
            <a:ext cx="576520" cy="521618"/>
            <a:chOff x="0" y="0"/>
            <a:chExt cx="768693" cy="695490"/>
          </a:xfrm>
        </p:grpSpPr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768697" cy="695487"/>
            </a:xfrm>
            <a:custGeom>
              <a:avLst/>
              <a:gdLst/>
              <a:ahLst/>
              <a:cxnLst/>
              <a:rect r="r" b="b" t="t" l="l"/>
              <a:pathLst>
                <a:path h="695487" w="768697">
                  <a:moveTo>
                    <a:pt x="0" y="0"/>
                  </a:moveTo>
                  <a:lnTo>
                    <a:pt x="768697" y="0"/>
                  </a:lnTo>
                  <a:lnTo>
                    <a:pt x="768697" y="695487"/>
                  </a:lnTo>
                  <a:lnTo>
                    <a:pt x="0" y="69548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6084" t="0" r="-66084" b="0"/>
              </a:stretch>
            </a:blipFill>
          </p:spPr>
        </p:sp>
        <p:sp>
          <p:nvSpPr>
            <p:cNvPr name="TextBox 146" id="146"/>
            <p:cNvSpPr txBox="true"/>
            <p:nvPr/>
          </p:nvSpPr>
          <p:spPr>
            <a:xfrm>
              <a:off x="0" y="0"/>
              <a:ext cx="768693" cy="695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75"/>
                </a:lnSpc>
              </a:pPr>
              <a:r>
                <a:rPr lang="en-US" sz="1229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03</a:t>
              </a:r>
            </a:p>
          </p:txBody>
        </p:sp>
      </p:grpSp>
      <p:sp>
        <p:nvSpPr>
          <p:cNvPr name="TextBox 147" id="147"/>
          <p:cNvSpPr txBox="true"/>
          <p:nvPr/>
        </p:nvSpPr>
        <p:spPr>
          <a:xfrm rot="0">
            <a:off x="10538779" y="8490261"/>
            <a:ext cx="1624403" cy="265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5"/>
              </a:lnSpc>
            </a:pPr>
            <a:r>
              <a:rPr lang="en-US" sz="1321" b="true">
                <a:solidFill>
                  <a:srgbClr val="0B192D"/>
                </a:solidFill>
                <a:latin typeface="Aptos Bold"/>
                <a:ea typeface="Aptos Bold"/>
                <a:cs typeface="Aptos Bold"/>
                <a:sym typeface="Aptos Bold"/>
              </a:rPr>
              <a:t>ENVIRONMENTAL</a:t>
            </a:r>
          </a:p>
        </p:txBody>
      </p:sp>
      <p:sp>
        <p:nvSpPr>
          <p:cNvPr name="TextBox 148" id="148"/>
          <p:cNvSpPr txBox="true"/>
          <p:nvPr/>
        </p:nvSpPr>
        <p:spPr>
          <a:xfrm rot="0">
            <a:off x="12255927" y="8352425"/>
            <a:ext cx="4191295" cy="649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15"/>
              </a:lnSpc>
            </a:pPr>
            <a:r>
              <a:rPr lang="en-US" sz="1095">
                <a:solidFill>
                  <a:srgbClr val="465465"/>
                </a:solidFill>
                <a:latin typeface="Aptos"/>
                <a:ea typeface="Aptos"/>
                <a:cs typeface="Aptos"/>
                <a:sym typeface="Aptos"/>
              </a:rPr>
              <a:t>Smart disaster monitoring</a:t>
            </a:r>
          </a:p>
          <a:p>
            <a:pPr algn="l">
              <a:lnSpc>
                <a:spcPts val="1315"/>
              </a:lnSpc>
            </a:pPr>
            <a:r>
              <a:rPr lang="en-US" sz="1095">
                <a:solidFill>
                  <a:srgbClr val="465465"/>
                </a:solidFill>
                <a:latin typeface="Aptos"/>
                <a:ea typeface="Aptos"/>
                <a:cs typeface="Aptos"/>
                <a:sym typeface="Aptos"/>
              </a:rPr>
              <a:t>Reduced unnecessary deployment</a:t>
            </a:r>
          </a:p>
          <a:p>
            <a:pPr algn="l">
              <a:lnSpc>
                <a:spcPts val="1315"/>
              </a:lnSpc>
            </a:pPr>
            <a:r>
              <a:rPr lang="en-US" sz="1095">
                <a:solidFill>
                  <a:srgbClr val="465465"/>
                </a:solidFill>
                <a:latin typeface="Aptos"/>
                <a:ea typeface="Aptos"/>
                <a:cs typeface="Aptos"/>
                <a:sym typeface="Aptos"/>
              </a:rPr>
              <a:t>Better situational awareness</a:t>
            </a:r>
          </a:p>
        </p:txBody>
      </p:sp>
      <p:sp>
        <p:nvSpPr>
          <p:cNvPr name="AutoShape 149" id="149"/>
          <p:cNvSpPr/>
          <p:nvPr/>
        </p:nvSpPr>
        <p:spPr>
          <a:xfrm rot="3180">
            <a:off x="925792" y="9631394"/>
            <a:ext cx="16446151" cy="0"/>
          </a:xfrm>
          <a:prstGeom prst="line">
            <a:avLst/>
          </a:prstGeom>
          <a:ln cap="rnd" w="9525">
            <a:solidFill>
              <a:srgbClr val="D7E0E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50" id="150"/>
          <p:cNvSpPr txBox="true"/>
          <p:nvPr/>
        </p:nvSpPr>
        <p:spPr>
          <a:xfrm rot="0">
            <a:off x="979141" y="9764258"/>
            <a:ext cx="7870060" cy="210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70"/>
              </a:lnSpc>
            </a:pPr>
            <a:r>
              <a:rPr lang="en-US" sz="975" b="true">
                <a:solidFill>
                  <a:srgbClr val="697788"/>
                </a:solidFill>
                <a:latin typeface="Aptos Bold"/>
                <a:ea typeface="Aptos Bold"/>
                <a:cs typeface="Aptos Bold"/>
                <a:sym typeface="Aptos Bold"/>
              </a:rPr>
              <a:t>SKYRESCUE INNOVATORS  •  SMART INDIA HACKATHON 2025</a:t>
            </a:r>
          </a:p>
        </p:txBody>
      </p:sp>
      <p:grpSp>
        <p:nvGrpSpPr>
          <p:cNvPr name="Group 151" id="151"/>
          <p:cNvGrpSpPr/>
          <p:nvPr/>
        </p:nvGrpSpPr>
        <p:grpSpPr>
          <a:xfrm rot="0">
            <a:off x="14613363" y="-331251"/>
            <a:ext cx="3313652" cy="1684306"/>
            <a:chOff x="0" y="0"/>
            <a:chExt cx="4418203" cy="2245741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0" y="0"/>
              <a:ext cx="4418203" cy="2245741"/>
            </a:xfrm>
            <a:custGeom>
              <a:avLst/>
              <a:gdLst/>
              <a:ahLst/>
              <a:cxnLst/>
              <a:rect r="r" b="b" t="t" l="l"/>
              <a:pathLst>
                <a:path h="2245741" w="4418203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9512" r="0" b="-9512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630" y="-7630"/>
            <a:ext cx="18317089" cy="10310298"/>
            <a:chOff x="0" y="0"/>
            <a:chExt cx="24422786" cy="137470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22736" cy="13747114"/>
            </a:xfrm>
            <a:custGeom>
              <a:avLst/>
              <a:gdLst/>
              <a:ahLst/>
              <a:cxnLst/>
              <a:rect r="r" b="b" t="t" l="l"/>
              <a:pathLst>
                <a:path h="13747114" w="24422736">
                  <a:moveTo>
                    <a:pt x="0" y="0"/>
                  </a:moveTo>
                  <a:lnTo>
                    <a:pt x="24422736" y="0"/>
                  </a:lnTo>
                  <a:lnTo>
                    <a:pt x="24422736" y="13747114"/>
                  </a:lnTo>
                  <a:lnTo>
                    <a:pt x="0" y="13747114"/>
                  </a:lnTo>
                  <a:close/>
                </a:path>
              </a:pathLst>
            </a:custGeom>
            <a:solidFill>
              <a:srgbClr val="F8FAFD"/>
            </a:solidFill>
            <a:ln w="15252" cap="sq">
              <a:solidFill>
                <a:srgbClr val="F8FAFD"/>
              </a:solidFill>
              <a:prstDash val="solid"/>
              <a:miter/>
            </a:ln>
          </p:spPr>
        </p:sp>
      </p:grpSp>
      <p:sp>
        <p:nvSpPr>
          <p:cNvPr name="TextBox 4" id="4"/>
          <p:cNvSpPr txBox="true"/>
          <p:nvPr/>
        </p:nvSpPr>
        <p:spPr>
          <a:xfrm rot="0">
            <a:off x="979141" y="461743"/>
            <a:ext cx="5673785" cy="316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 b="true">
                <a:solidFill>
                  <a:srgbClr val="007AB4"/>
                </a:solidFill>
                <a:latin typeface="Aptos Bold"/>
                <a:ea typeface="Aptos Bold"/>
                <a:cs typeface="Aptos Bold"/>
                <a:sym typeface="Aptos Bold"/>
              </a:rPr>
              <a:t>05 • FUTURE &amp; CLOSE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79141" y="896798"/>
            <a:ext cx="14733422" cy="649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3"/>
              </a:lnSpc>
            </a:pPr>
            <a:r>
              <a:rPr lang="en-US" sz="3602" b="true">
                <a:solidFill>
                  <a:srgbClr val="0B192D"/>
                </a:solidFill>
                <a:latin typeface="Aptos Bold"/>
                <a:ea typeface="Aptos Bold"/>
                <a:cs typeface="Aptos Bold"/>
                <a:sym typeface="Aptos Bold"/>
              </a:rPr>
              <a:t>A practical roadmap for smarter disaster response</a:t>
            </a:r>
          </a:p>
        </p:txBody>
      </p:sp>
      <p:sp>
        <p:nvSpPr>
          <p:cNvPr name="AutoShape 6" id="6"/>
          <p:cNvSpPr/>
          <p:nvPr/>
        </p:nvSpPr>
        <p:spPr>
          <a:xfrm rot="3960">
            <a:off x="923877" y="1711081"/>
            <a:ext cx="16449961" cy="0"/>
          </a:xfrm>
          <a:prstGeom prst="line">
            <a:avLst/>
          </a:prstGeom>
          <a:ln cap="rnd" w="9525">
            <a:solidFill>
              <a:srgbClr val="D7E0E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006592" y="2118474"/>
            <a:ext cx="3340237" cy="306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0B192D"/>
                </a:solidFill>
                <a:latin typeface="Aptos Bold"/>
                <a:ea typeface="Aptos Bold"/>
                <a:cs typeface="Aptos Bold"/>
                <a:sym typeface="Aptos Bold"/>
              </a:rPr>
              <a:t>FUTURE SCOPE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53243" y="2627909"/>
            <a:ext cx="3831279" cy="2238985"/>
            <a:chOff x="0" y="0"/>
            <a:chExt cx="5108372" cy="298531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108448" cy="2985389"/>
            </a:xfrm>
            <a:custGeom>
              <a:avLst/>
              <a:gdLst/>
              <a:ahLst/>
              <a:cxnLst/>
              <a:rect r="r" b="b" t="t" l="l"/>
              <a:pathLst>
                <a:path h="2985389" w="5108448">
                  <a:moveTo>
                    <a:pt x="0" y="238887"/>
                  </a:moveTo>
                  <a:cubicBezTo>
                    <a:pt x="0" y="106934"/>
                    <a:pt x="106934" y="0"/>
                    <a:pt x="238887" y="0"/>
                  </a:cubicBezTo>
                  <a:lnTo>
                    <a:pt x="4869561" y="0"/>
                  </a:lnTo>
                  <a:cubicBezTo>
                    <a:pt x="5001514" y="0"/>
                    <a:pt x="5108448" y="106934"/>
                    <a:pt x="5108448" y="238887"/>
                  </a:cubicBezTo>
                  <a:lnTo>
                    <a:pt x="5108448" y="2746502"/>
                  </a:lnTo>
                  <a:cubicBezTo>
                    <a:pt x="5108448" y="2878455"/>
                    <a:pt x="5001514" y="2985389"/>
                    <a:pt x="4869561" y="2985389"/>
                  </a:cubicBezTo>
                  <a:lnTo>
                    <a:pt x="238887" y="2985389"/>
                  </a:lnTo>
                  <a:cubicBezTo>
                    <a:pt x="106934" y="2985262"/>
                    <a:pt x="0" y="2878328"/>
                    <a:pt x="0" y="2746502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7E0E9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953243" y="2627909"/>
            <a:ext cx="90745" cy="2238985"/>
            <a:chOff x="0" y="0"/>
            <a:chExt cx="120993" cy="298531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1031" cy="2985262"/>
            </a:xfrm>
            <a:custGeom>
              <a:avLst/>
              <a:gdLst/>
              <a:ahLst/>
              <a:cxnLst/>
              <a:rect r="r" b="b" t="t" l="l"/>
              <a:pathLst>
                <a:path h="2985262" w="121031">
                  <a:moveTo>
                    <a:pt x="0" y="0"/>
                  </a:moveTo>
                  <a:lnTo>
                    <a:pt x="121031" y="0"/>
                  </a:lnTo>
                  <a:lnTo>
                    <a:pt x="121031" y="2985262"/>
                  </a:lnTo>
                  <a:lnTo>
                    <a:pt x="0" y="2985262"/>
                  </a:lnTo>
                  <a:close/>
                </a:path>
              </a:pathLst>
            </a:custGeom>
            <a:solidFill>
              <a:srgbClr val="00A6D2"/>
            </a:solidFill>
            <a:ln w="15252" cap="sq">
              <a:solidFill>
                <a:srgbClr val="00A6D2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228258" y="2875464"/>
            <a:ext cx="590817" cy="590817"/>
            <a:chOff x="0" y="0"/>
            <a:chExt cx="787756" cy="78775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87781" cy="787781"/>
            </a:xfrm>
            <a:custGeom>
              <a:avLst/>
              <a:gdLst/>
              <a:ahLst/>
              <a:cxnLst/>
              <a:rect r="r" b="b" t="t" l="l"/>
              <a:pathLst>
                <a:path h="787781" w="787781">
                  <a:moveTo>
                    <a:pt x="0" y="393827"/>
                  </a:moveTo>
                  <a:cubicBezTo>
                    <a:pt x="0" y="176403"/>
                    <a:pt x="176403" y="0"/>
                    <a:pt x="393827" y="0"/>
                  </a:cubicBezTo>
                  <a:cubicBezTo>
                    <a:pt x="611251" y="0"/>
                    <a:pt x="787781" y="176403"/>
                    <a:pt x="787781" y="393827"/>
                  </a:cubicBezTo>
                  <a:cubicBezTo>
                    <a:pt x="787781" y="611251"/>
                    <a:pt x="611378" y="787781"/>
                    <a:pt x="393827" y="787781"/>
                  </a:cubicBezTo>
                  <a:cubicBezTo>
                    <a:pt x="176276" y="787781"/>
                    <a:pt x="0" y="611378"/>
                    <a:pt x="0" y="393827"/>
                  </a:cubicBezTo>
                  <a:close/>
                </a:path>
              </a:pathLst>
            </a:custGeom>
            <a:solidFill>
              <a:srgbClr val="00A6D2"/>
            </a:solidFill>
            <a:ln w="14299" cap="sq">
              <a:solidFill>
                <a:srgbClr val="00A6D2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235402" y="2896343"/>
            <a:ext cx="576520" cy="521618"/>
            <a:chOff x="0" y="0"/>
            <a:chExt cx="768693" cy="69549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68697" cy="695487"/>
            </a:xfrm>
            <a:custGeom>
              <a:avLst/>
              <a:gdLst/>
              <a:ahLst/>
              <a:cxnLst/>
              <a:rect r="r" b="b" t="t" l="l"/>
              <a:pathLst>
                <a:path h="695487" w="768697">
                  <a:moveTo>
                    <a:pt x="0" y="0"/>
                  </a:moveTo>
                  <a:lnTo>
                    <a:pt x="768697" y="0"/>
                  </a:lnTo>
                  <a:lnTo>
                    <a:pt x="768697" y="695487"/>
                  </a:lnTo>
                  <a:lnTo>
                    <a:pt x="0" y="69548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6084" t="0" r="-66084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768693" cy="695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75"/>
                </a:lnSpc>
              </a:pPr>
              <a:r>
                <a:rPr lang="en-US" sz="1229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01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994916" y="2863920"/>
            <a:ext cx="2489187" cy="357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7"/>
              </a:lnSpc>
            </a:pPr>
            <a:r>
              <a:rPr lang="en-US" sz="1681" b="true">
                <a:solidFill>
                  <a:srgbClr val="0B192D"/>
                </a:solidFill>
                <a:latin typeface="Aptos Bold"/>
                <a:ea typeface="Aptos Bold"/>
                <a:cs typeface="Aptos Bold"/>
                <a:sym typeface="Aptos Bold"/>
              </a:rPr>
              <a:t>ADVANCED THERMAL AI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953730" y="3466281"/>
            <a:ext cx="2489187" cy="1363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5"/>
              </a:lnSpc>
            </a:pPr>
            <a:r>
              <a:rPr lang="en-US" sz="1321">
                <a:solidFill>
                  <a:srgbClr val="465465"/>
                </a:solidFill>
                <a:latin typeface="Aptos"/>
                <a:ea typeface="Aptos"/>
                <a:cs typeface="Aptos"/>
                <a:sym typeface="Aptos"/>
              </a:rPr>
              <a:t>Next-generation infrared detection models for improved survivor identification in complex environments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5098713" y="2627909"/>
            <a:ext cx="3831279" cy="2238985"/>
            <a:chOff x="0" y="0"/>
            <a:chExt cx="5108372" cy="298531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108448" cy="2985389"/>
            </a:xfrm>
            <a:custGeom>
              <a:avLst/>
              <a:gdLst/>
              <a:ahLst/>
              <a:cxnLst/>
              <a:rect r="r" b="b" t="t" l="l"/>
              <a:pathLst>
                <a:path h="2985389" w="5108448">
                  <a:moveTo>
                    <a:pt x="0" y="238887"/>
                  </a:moveTo>
                  <a:cubicBezTo>
                    <a:pt x="0" y="106934"/>
                    <a:pt x="106934" y="0"/>
                    <a:pt x="238887" y="0"/>
                  </a:cubicBezTo>
                  <a:lnTo>
                    <a:pt x="4869561" y="0"/>
                  </a:lnTo>
                  <a:cubicBezTo>
                    <a:pt x="5001514" y="0"/>
                    <a:pt x="5108448" y="106934"/>
                    <a:pt x="5108448" y="238887"/>
                  </a:cubicBezTo>
                  <a:lnTo>
                    <a:pt x="5108448" y="2746502"/>
                  </a:lnTo>
                  <a:cubicBezTo>
                    <a:pt x="5108448" y="2878455"/>
                    <a:pt x="5001514" y="2985389"/>
                    <a:pt x="4869561" y="2985389"/>
                  </a:cubicBezTo>
                  <a:lnTo>
                    <a:pt x="238887" y="2985389"/>
                  </a:lnTo>
                  <a:cubicBezTo>
                    <a:pt x="106934" y="2985262"/>
                    <a:pt x="0" y="2878328"/>
                    <a:pt x="0" y="2746502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7E0E9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5098713" y="2627909"/>
            <a:ext cx="90745" cy="2238985"/>
            <a:chOff x="0" y="0"/>
            <a:chExt cx="120993" cy="298531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1031" cy="2985262"/>
            </a:xfrm>
            <a:custGeom>
              <a:avLst/>
              <a:gdLst/>
              <a:ahLst/>
              <a:cxnLst/>
              <a:rect r="r" b="b" t="t" l="l"/>
              <a:pathLst>
                <a:path h="2985262" w="121031">
                  <a:moveTo>
                    <a:pt x="0" y="0"/>
                  </a:moveTo>
                  <a:lnTo>
                    <a:pt x="121031" y="0"/>
                  </a:lnTo>
                  <a:lnTo>
                    <a:pt x="121031" y="2985262"/>
                  </a:lnTo>
                  <a:lnTo>
                    <a:pt x="0" y="2985262"/>
                  </a:lnTo>
                  <a:close/>
                </a:path>
              </a:pathLst>
            </a:custGeom>
            <a:solidFill>
              <a:srgbClr val="E8772D"/>
            </a:solidFill>
            <a:ln w="15252" cap="sq">
              <a:solidFill>
                <a:srgbClr val="E8772D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5373729" y="2875464"/>
            <a:ext cx="590817" cy="590817"/>
            <a:chOff x="0" y="0"/>
            <a:chExt cx="787756" cy="78775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87781" cy="787781"/>
            </a:xfrm>
            <a:custGeom>
              <a:avLst/>
              <a:gdLst/>
              <a:ahLst/>
              <a:cxnLst/>
              <a:rect r="r" b="b" t="t" l="l"/>
              <a:pathLst>
                <a:path h="787781" w="787781">
                  <a:moveTo>
                    <a:pt x="0" y="393827"/>
                  </a:moveTo>
                  <a:cubicBezTo>
                    <a:pt x="0" y="176403"/>
                    <a:pt x="176403" y="0"/>
                    <a:pt x="393827" y="0"/>
                  </a:cubicBezTo>
                  <a:cubicBezTo>
                    <a:pt x="611251" y="0"/>
                    <a:pt x="787781" y="176403"/>
                    <a:pt x="787781" y="393827"/>
                  </a:cubicBezTo>
                  <a:cubicBezTo>
                    <a:pt x="787781" y="611251"/>
                    <a:pt x="611378" y="787781"/>
                    <a:pt x="393827" y="787781"/>
                  </a:cubicBezTo>
                  <a:cubicBezTo>
                    <a:pt x="176276" y="787781"/>
                    <a:pt x="0" y="611378"/>
                    <a:pt x="0" y="393827"/>
                  </a:cubicBezTo>
                  <a:close/>
                </a:path>
              </a:pathLst>
            </a:custGeom>
            <a:solidFill>
              <a:srgbClr val="E8772D"/>
            </a:solidFill>
            <a:ln w="14299" cap="sq">
              <a:solidFill>
                <a:srgbClr val="E8772D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5380873" y="2896343"/>
            <a:ext cx="576520" cy="521618"/>
            <a:chOff x="0" y="0"/>
            <a:chExt cx="768693" cy="69549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68697" cy="695487"/>
            </a:xfrm>
            <a:custGeom>
              <a:avLst/>
              <a:gdLst/>
              <a:ahLst/>
              <a:cxnLst/>
              <a:rect r="r" b="b" t="t" l="l"/>
              <a:pathLst>
                <a:path h="695487" w="768697">
                  <a:moveTo>
                    <a:pt x="0" y="0"/>
                  </a:moveTo>
                  <a:lnTo>
                    <a:pt x="768697" y="0"/>
                  </a:lnTo>
                  <a:lnTo>
                    <a:pt x="768697" y="695487"/>
                  </a:lnTo>
                  <a:lnTo>
                    <a:pt x="0" y="69548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6084" t="0" r="-66084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768693" cy="695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75"/>
                </a:lnSpc>
              </a:pPr>
              <a:r>
                <a:rPr lang="en-US" sz="1229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02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6140386" y="2863920"/>
            <a:ext cx="2489187" cy="357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7"/>
              </a:lnSpc>
            </a:pPr>
            <a:r>
              <a:rPr lang="en-US" sz="1681" b="true">
                <a:solidFill>
                  <a:srgbClr val="0B192D"/>
                </a:solidFill>
                <a:latin typeface="Aptos Bold"/>
                <a:ea typeface="Aptos Bold"/>
                <a:cs typeface="Aptos Bold"/>
                <a:sym typeface="Aptos Bold"/>
              </a:rPr>
              <a:t>MULTI-AGENT COORDINATION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141958" y="3466281"/>
            <a:ext cx="2489187" cy="1363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5"/>
              </a:lnSpc>
            </a:pPr>
            <a:r>
              <a:rPr lang="en-US" sz="1321">
                <a:solidFill>
                  <a:srgbClr val="465465"/>
                </a:solidFill>
                <a:latin typeface="Aptos"/>
                <a:ea typeface="Aptos"/>
                <a:cs typeface="Aptos"/>
                <a:sym typeface="Aptos"/>
              </a:rPr>
              <a:t>Autonomous fleet coordination and human-in-the-loop control for large-scale multi-agent deployment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9244184" y="2627909"/>
            <a:ext cx="3831279" cy="2238985"/>
            <a:chOff x="0" y="0"/>
            <a:chExt cx="5108372" cy="298531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108448" cy="2985389"/>
            </a:xfrm>
            <a:custGeom>
              <a:avLst/>
              <a:gdLst/>
              <a:ahLst/>
              <a:cxnLst/>
              <a:rect r="r" b="b" t="t" l="l"/>
              <a:pathLst>
                <a:path h="2985389" w="5108448">
                  <a:moveTo>
                    <a:pt x="0" y="238887"/>
                  </a:moveTo>
                  <a:cubicBezTo>
                    <a:pt x="0" y="106934"/>
                    <a:pt x="106934" y="0"/>
                    <a:pt x="238887" y="0"/>
                  </a:cubicBezTo>
                  <a:lnTo>
                    <a:pt x="4869561" y="0"/>
                  </a:lnTo>
                  <a:cubicBezTo>
                    <a:pt x="5001514" y="0"/>
                    <a:pt x="5108448" y="106934"/>
                    <a:pt x="5108448" y="238887"/>
                  </a:cubicBezTo>
                  <a:lnTo>
                    <a:pt x="5108448" y="2746502"/>
                  </a:lnTo>
                  <a:cubicBezTo>
                    <a:pt x="5108448" y="2878455"/>
                    <a:pt x="5001514" y="2985389"/>
                    <a:pt x="4869561" y="2985389"/>
                  </a:cubicBezTo>
                  <a:lnTo>
                    <a:pt x="238887" y="2985389"/>
                  </a:lnTo>
                  <a:cubicBezTo>
                    <a:pt x="106934" y="2985262"/>
                    <a:pt x="0" y="2878328"/>
                    <a:pt x="0" y="2746502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7E0E9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9244184" y="2627909"/>
            <a:ext cx="90745" cy="2238985"/>
            <a:chOff x="0" y="0"/>
            <a:chExt cx="120993" cy="298531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21031" cy="2985262"/>
            </a:xfrm>
            <a:custGeom>
              <a:avLst/>
              <a:gdLst/>
              <a:ahLst/>
              <a:cxnLst/>
              <a:rect r="r" b="b" t="t" l="l"/>
              <a:pathLst>
                <a:path h="2985262" w="121031">
                  <a:moveTo>
                    <a:pt x="0" y="0"/>
                  </a:moveTo>
                  <a:lnTo>
                    <a:pt x="121031" y="0"/>
                  </a:lnTo>
                  <a:lnTo>
                    <a:pt x="121031" y="2985262"/>
                  </a:lnTo>
                  <a:lnTo>
                    <a:pt x="0" y="2985262"/>
                  </a:lnTo>
                  <a:close/>
                </a:path>
              </a:pathLst>
            </a:custGeom>
            <a:solidFill>
              <a:srgbClr val="259766"/>
            </a:solidFill>
            <a:ln w="15252" cap="sq">
              <a:solidFill>
                <a:srgbClr val="259766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9519199" y="2875464"/>
            <a:ext cx="590817" cy="590817"/>
            <a:chOff x="0" y="0"/>
            <a:chExt cx="787756" cy="78775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87781" cy="787781"/>
            </a:xfrm>
            <a:custGeom>
              <a:avLst/>
              <a:gdLst/>
              <a:ahLst/>
              <a:cxnLst/>
              <a:rect r="r" b="b" t="t" l="l"/>
              <a:pathLst>
                <a:path h="787781" w="787781">
                  <a:moveTo>
                    <a:pt x="0" y="393827"/>
                  </a:moveTo>
                  <a:cubicBezTo>
                    <a:pt x="0" y="176403"/>
                    <a:pt x="176403" y="0"/>
                    <a:pt x="393827" y="0"/>
                  </a:cubicBezTo>
                  <a:cubicBezTo>
                    <a:pt x="611251" y="0"/>
                    <a:pt x="787781" y="176403"/>
                    <a:pt x="787781" y="393827"/>
                  </a:cubicBezTo>
                  <a:cubicBezTo>
                    <a:pt x="787781" y="611251"/>
                    <a:pt x="611378" y="787781"/>
                    <a:pt x="393827" y="787781"/>
                  </a:cubicBezTo>
                  <a:cubicBezTo>
                    <a:pt x="176276" y="787781"/>
                    <a:pt x="0" y="611378"/>
                    <a:pt x="0" y="393827"/>
                  </a:cubicBezTo>
                  <a:close/>
                </a:path>
              </a:pathLst>
            </a:custGeom>
            <a:solidFill>
              <a:srgbClr val="259766"/>
            </a:solidFill>
            <a:ln w="14299" cap="sq">
              <a:solidFill>
                <a:srgbClr val="259766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9526343" y="2896343"/>
            <a:ext cx="576520" cy="521618"/>
            <a:chOff x="0" y="0"/>
            <a:chExt cx="768693" cy="69549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68697" cy="695487"/>
            </a:xfrm>
            <a:custGeom>
              <a:avLst/>
              <a:gdLst/>
              <a:ahLst/>
              <a:cxnLst/>
              <a:rect r="r" b="b" t="t" l="l"/>
              <a:pathLst>
                <a:path h="695487" w="768697">
                  <a:moveTo>
                    <a:pt x="0" y="0"/>
                  </a:moveTo>
                  <a:lnTo>
                    <a:pt x="768697" y="0"/>
                  </a:lnTo>
                  <a:lnTo>
                    <a:pt x="768697" y="695487"/>
                  </a:lnTo>
                  <a:lnTo>
                    <a:pt x="0" y="69548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6084" t="0" r="-66084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768693" cy="695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75"/>
                </a:lnSpc>
              </a:pPr>
              <a:r>
                <a:rPr lang="en-US" sz="1229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03</a:t>
              </a: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10285857" y="2863920"/>
            <a:ext cx="2489187" cy="357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7"/>
              </a:lnSpc>
            </a:pPr>
            <a:r>
              <a:rPr lang="en-US" sz="1681" b="true">
                <a:solidFill>
                  <a:srgbClr val="0B192D"/>
                </a:solidFill>
                <a:latin typeface="Aptos Bold"/>
                <a:ea typeface="Aptos Bold"/>
                <a:cs typeface="Aptos Bold"/>
                <a:sym typeface="Aptos Bold"/>
              </a:rPr>
              <a:t>IMPROVED 3D MAPPING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0285857" y="3340151"/>
            <a:ext cx="2489187" cy="1363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5"/>
              </a:lnSpc>
            </a:pPr>
            <a:r>
              <a:rPr lang="en-US" sz="1321">
                <a:solidFill>
                  <a:srgbClr val="465465"/>
                </a:solidFill>
                <a:latin typeface="Aptos"/>
                <a:ea typeface="Aptos"/>
                <a:cs typeface="Aptos"/>
                <a:sym typeface="Aptos"/>
              </a:rPr>
              <a:t>Long-endurance UAV systems with enhanced GIS mapping and disaster prediction support capabilities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006592" y="5261896"/>
            <a:ext cx="4026579" cy="306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0B192D"/>
                </a:solidFill>
                <a:latin typeface="Aptos Bold"/>
                <a:ea typeface="Aptos Bold"/>
                <a:cs typeface="Aptos Bold"/>
                <a:sym typeface="Aptos Bold"/>
              </a:rPr>
              <a:t>DEVELOPMENT ROADMAP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953243" y="5730145"/>
            <a:ext cx="3831279" cy="1415377"/>
            <a:chOff x="0" y="0"/>
            <a:chExt cx="5108372" cy="1887169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108448" cy="1887220"/>
            </a:xfrm>
            <a:custGeom>
              <a:avLst/>
              <a:gdLst/>
              <a:ahLst/>
              <a:cxnLst/>
              <a:rect r="r" b="b" t="t" l="l"/>
              <a:pathLst>
                <a:path h="1887220" w="5108448">
                  <a:moveTo>
                    <a:pt x="0" y="151003"/>
                  </a:moveTo>
                  <a:cubicBezTo>
                    <a:pt x="0" y="67564"/>
                    <a:pt x="67564" y="0"/>
                    <a:pt x="151003" y="0"/>
                  </a:cubicBezTo>
                  <a:lnTo>
                    <a:pt x="4957445" y="0"/>
                  </a:lnTo>
                  <a:cubicBezTo>
                    <a:pt x="5040884" y="0"/>
                    <a:pt x="5108448" y="67564"/>
                    <a:pt x="5108448" y="151003"/>
                  </a:cubicBezTo>
                  <a:lnTo>
                    <a:pt x="5108448" y="1736217"/>
                  </a:lnTo>
                  <a:cubicBezTo>
                    <a:pt x="5108448" y="1819656"/>
                    <a:pt x="5040884" y="1887220"/>
                    <a:pt x="4957445" y="1887220"/>
                  </a:cubicBezTo>
                  <a:lnTo>
                    <a:pt x="151003" y="1887220"/>
                  </a:lnTo>
                  <a:cubicBezTo>
                    <a:pt x="67564" y="1887220"/>
                    <a:pt x="0" y="1819529"/>
                    <a:pt x="0" y="1736217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7E0E9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173347" y="6128699"/>
            <a:ext cx="590817" cy="590817"/>
            <a:chOff x="0" y="0"/>
            <a:chExt cx="787756" cy="78775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87781" cy="787781"/>
            </a:xfrm>
            <a:custGeom>
              <a:avLst/>
              <a:gdLst/>
              <a:ahLst/>
              <a:cxnLst/>
              <a:rect r="r" b="b" t="t" l="l"/>
              <a:pathLst>
                <a:path h="787781" w="787781">
                  <a:moveTo>
                    <a:pt x="0" y="393827"/>
                  </a:moveTo>
                  <a:cubicBezTo>
                    <a:pt x="0" y="176403"/>
                    <a:pt x="176403" y="0"/>
                    <a:pt x="393827" y="0"/>
                  </a:cubicBezTo>
                  <a:cubicBezTo>
                    <a:pt x="611251" y="0"/>
                    <a:pt x="787781" y="176403"/>
                    <a:pt x="787781" y="393827"/>
                  </a:cubicBezTo>
                  <a:cubicBezTo>
                    <a:pt x="787781" y="611251"/>
                    <a:pt x="611378" y="787781"/>
                    <a:pt x="393827" y="787781"/>
                  </a:cubicBezTo>
                  <a:cubicBezTo>
                    <a:pt x="176276" y="787781"/>
                    <a:pt x="0" y="611378"/>
                    <a:pt x="0" y="393827"/>
                  </a:cubicBezTo>
                  <a:close/>
                </a:path>
              </a:pathLst>
            </a:custGeom>
            <a:solidFill>
              <a:srgbClr val="00A6D2"/>
            </a:solidFill>
            <a:ln w="14299" cap="sq">
              <a:solidFill>
                <a:srgbClr val="00A6D2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1180500" y="6149569"/>
            <a:ext cx="576520" cy="521618"/>
            <a:chOff x="0" y="0"/>
            <a:chExt cx="768693" cy="69549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768697" cy="695487"/>
            </a:xfrm>
            <a:custGeom>
              <a:avLst/>
              <a:gdLst/>
              <a:ahLst/>
              <a:cxnLst/>
              <a:rect r="r" b="b" t="t" l="l"/>
              <a:pathLst>
                <a:path h="695487" w="768697">
                  <a:moveTo>
                    <a:pt x="0" y="0"/>
                  </a:moveTo>
                  <a:lnTo>
                    <a:pt x="768697" y="0"/>
                  </a:lnTo>
                  <a:lnTo>
                    <a:pt x="768697" y="695487"/>
                  </a:lnTo>
                  <a:lnTo>
                    <a:pt x="0" y="69548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6084" t="0" r="-66084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0"/>
              <a:ext cx="768693" cy="695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75"/>
                </a:lnSpc>
              </a:pPr>
              <a:r>
                <a:rPr lang="en-US" sz="1229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01</a:t>
              </a:r>
            </a:p>
          </p:txBody>
        </p:sp>
      </p:grpSp>
      <p:sp>
        <p:nvSpPr>
          <p:cNvPr name="TextBox 49" id="49"/>
          <p:cNvSpPr txBox="true"/>
          <p:nvPr/>
        </p:nvSpPr>
        <p:spPr>
          <a:xfrm rot="0">
            <a:off x="1994916" y="5975690"/>
            <a:ext cx="2448001" cy="347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5"/>
              </a:lnSpc>
            </a:pPr>
            <a:r>
              <a:rPr lang="en-US" sz="1229" b="true">
                <a:solidFill>
                  <a:srgbClr val="0B192D"/>
                </a:solidFill>
                <a:latin typeface="Aptos Bold"/>
                <a:ea typeface="Aptos Bold"/>
                <a:cs typeface="Aptos Bold"/>
                <a:sym typeface="Aptos Bold"/>
              </a:rPr>
              <a:t>PROTOTYPE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908033" y="6410377"/>
            <a:ext cx="3236052" cy="514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6"/>
              </a:lnSpc>
            </a:pPr>
            <a:r>
              <a:rPr lang="en-US" sz="1389">
                <a:solidFill>
                  <a:srgbClr val="465465"/>
                </a:solidFill>
                <a:latin typeface="Aptos"/>
                <a:ea typeface="Aptos"/>
                <a:cs typeface="Aptos"/>
                <a:sym typeface="Aptos"/>
              </a:rPr>
              <a:t>Build initial AI thermal prototype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5098713" y="5730145"/>
            <a:ext cx="3831279" cy="1415377"/>
            <a:chOff x="0" y="0"/>
            <a:chExt cx="5108372" cy="1887169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108448" cy="1887220"/>
            </a:xfrm>
            <a:custGeom>
              <a:avLst/>
              <a:gdLst/>
              <a:ahLst/>
              <a:cxnLst/>
              <a:rect r="r" b="b" t="t" l="l"/>
              <a:pathLst>
                <a:path h="1887220" w="5108448">
                  <a:moveTo>
                    <a:pt x="0" y="151003"/>
                  </a:moveTo>
                  <a:cubicBezTo>
                    <a:pt x="0" y="67564"/>
                    <a:pt x="67564" y="0"/>
                    <a:pt x="151003" y="0"/>
                  </a:cubicBezTo>
                  <a:lnTo>
                    <a:pt x="4957445" y="0"/>
                  </a:lnTo>
                  <a:cubicBezTo>
                    <a:pt x="5040884" y="0"/>
                    <a:pt x="5108448" y="67564"/>
                    <a:pt x="5108448" y="151003"/>
                  </a:cubicBezTo>
                  <a:lnTo>
                    <a:pt x="5108448" y="1736217"/>
                  </a:lnTo>
                  <a:cubicBezTo>
                    <a:pt x="5108448" y="1819656"/>
                    <a:pt x="5040884" y="1887220"/>
                    <a:pt x="4957445" y="1887220"/>
                  </a:cubicBezTo>
                  <a:lnTo>
                    <a:pt x="151003" y="1887220"/>
                  </a:lnTo>
                  <a:cubicBezTo>
                    <a:pt x="67564" y="1887220"/>
                    <a:pt x="0" y="1819529"/>
                    <a:pt x="0" y="1736217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7E0E9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5318817" y="6128699"/>
            <a:ext cx="590817" cy="590817"/>
            <a:chOff x="0" y="0"/>
            <a:chExt cx="787756" cy="78775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787781" cy="787781"/>
            </a:xfrm>
            <a:custGeom>
              <a:avLst/>
              <a:gdLst/>
              <a:ahLst/>
              <a:cxnLst/>
              <a:rect r="r" b="b" t="t" l="l"/>
              <a:pathLst>
                <a:path h="787781" w="787781">
                  <a:moveTo>
                    <a:pt x="0" y="393827"/>
                  </a:moveTo>
                  <a:cubicBezTo>
                    <a:pt x="0" y="176403"/>
                    <a:pt x="176403" y="0"/>
                    <a:pt x="393827" y="0"/>
                  </a:cubicBezTo>
                  <a:cubicBezTo>
                    <a:pt x="611251" y="0"/>
                    <a:pt x="787781" y="176403"/>
                    <a:pt x="787781" y="393827"/>
                  </a:cubicBezTo>
                  <a:cubicBezTo>
                    <a:pt x="787781" y="611251"/>
                    <a:pt x="611378" y="787781"/>
                    <a:pt x="393827" y="787781"/>
                  </a:cubicBezTo>
                  <a:cubicBezTo>
                    <a:pt x="176276" y="787781"/>
                    <a:pt x="0" y="611378"/>
                    <a:pt x="0" y="393827"/>
                  </a:cubicBezTo>
                  <a:close/>
                </a:path>
              </a:pathLst>
            </a:custGeom>
            <a:solidFill>
              <a:srgbClr val="E8772D"/>
            </a:solidFill>
            <a:ln w="14299" cap="sq">
              <a:solidFill>
                <a:srgbClr val="E8772D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5325970" y="6149569"/>
            <a:ext cx="576520" cy="521618"/>
            <a:chOff x="0" y="0"/>
            <a:chExt cx="768693" cy="69549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768697" cy="695487"/>
            </a:xfrm>
            <a:custGeom>
              <a:avLst/>
              <a:gdLst/>
              <a:ahLst/>
              <a:cxnLst/>
              <a:rect r="r" b="b" t="t" l="l"/>
              <a:pathLst>
                <a:path h="695487" w="768697">
                  <a:moveTo>
                    <a:pt x="0" y="0"/>
                  </a:moveTo>
                  <a:lnTo>
                    <a:pt x="768697" y="0"/>
                  </a:lnTo>
                  <a:lnTo>
                    <a:pt x="768697" y="695487"/>
                  </a:lnTo>
                  <a:lnTo>
                    <a:pt x="0" y="69548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6084" t="0" r="-66084" b="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0"/>
              <a:ext cx="768693" cy="695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75"/>
                </a:lnSpc>
              </a:pPr>
              <a:r>
                <a:rPr lang="en-US" sz="1229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02</a:t>
              </a:r>
            </a:p>
          </p:txBody>
        </p:sp>
      </p:grpSp>
      <p:sp>
        <p:nvSpPr>
          <p:cNvPr name="TextBox 58" id="58"/>
          <p:cNvSpPr txBox="true"/>
          <p:nvPr/>
        </p:nvSpPr>
        <p:spPr>
          <a:xfrm rot="0">
            <a:off x="6140386" y="5975690"/>
            <a:ext cx="2448001" cy="347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5"/>
              </a:lnSpc>
            </a:pPr>
            <a:r>
              <a:rPr lang="en-US" sz="1229" b="true">
                <a:solidFill>
                  <a:srgbClr val="0B192D"/>
                </a:solidFill>
                <a:latin typeface="Aptos Bold"/>
                <a:ea typeface="Aptos Bold"/>
                <a:cs typeface="Aptos Bold"/>
                <a:sym typeface="Aptos Bold"/>
              </a:rPr>
              <a:t>CONTROLLED TESTING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5957392" y="6317732"/>
            <a:ext cx="3196519" cy="517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46"/>
              </a:lnSpc>
            </a:pPr>
            <a:r>
              <a:rPr lang="en-US" sz="1372">
                <a:solidFill>
                  <a:srgbClr val="465465"/>
                </a:solidFill>
                <a:latin typeface="Aptos"/>
                <a:ea typeface="Aptos"/>
                <a:cs typeface="Aptos"/>
                <a:sym typeface="Aptos"/>
              </a:rPr>
              <a:t>Laboratory trials with safety oversight</a:t>
            </a:r>
          </a:p>
        </p:txBody>
      </p:sp>
      <p:grpSp>
        <p:nvGrpSpPr>
          <p:cNvPr name="Group 60" id="60"/>
          <p:cNvGrpSpPr/>
          <p:nvPr/>
        </p:nvGrpSpPr>
        <p:grpSpPr>
          <a:xfrm rot="0">
            <a:off x="9244184" y="5730145"/>
            <a:ext cx="3831279" cy="1415377"/>
            <a:chOff x="0" y="0"/>
            <a:chExt cx="5108372" cy="1887169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108448" cy="1887220"/>
            </a:xfrm>
            <a:custGeom>
              <a:avLst/>
              <a:gdLst/>
              <a:ahLst/>
              <a:cxnLst/>
              <a:rect r="r" b="b" t="t" l="l"/>
              <a:pathLst>
                <a:path h="1887220" w="5108448">
                  <a:moveTo>
                    <a:pt x="0" y="151003"/>
                  </a:moveTo>
                  <a:cubicBezTo>
                    <a:pt x="0" y="67564"/>
                    <a:pt x="67564" y="0"/>
                    <a:pt x="151003" y="0"/>
                  </a:cubicBezTo>
                  <a:lnTo>
                    <a:pt x="4957445" y="0"/>
                  </a:lnTo>
                  <a:cubicBezTo>
                    <a:pt x="5040884" y="0"/>
                    <a:pt x="5108448" y="67564"/>
                    <a:pt x="5108448" y="151003"/>
                  </a:cubicBezTo>
                  <a:lnTo>
                    <a:pt x="5108448" y="1736217"/>
                  </a:lnTo>
                  <a:cubicBezTo>
                    <a:pt x="5108448" y="1819656"/>
                    <a:pt x="5040884" y="1887220"/>
                    <a:pt x="4957445" y="1887220"/>
                  </a:cubicBezTo>
                  <a:lnTo>
                    <a:pt x="151003" y="1887220"/>
                  </a:lnTo>
                  <a:cubicBezTo>
                    <a:pt x="67564" y="1887220"/>
                    <a:pt x="0" y="1819529"/>
                    <a:pt x="0" y="1736217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7E0E9"/>
              </a:solidFill>
              <a:prstDash val="solid"/>
              <a:miter/>
            </a:ln>
          </p:spPr>
        </p:sp>
      </p:grpSp>
      <p:grpSp>
        <p:nvGrpSpPr>
          <p:cNvPr name="Group 62" id="62"/>
          <p:cNvGrpSpPr/>
          <p:nvPr/>
        </p:nvGrpSpPr>
        <p:grpSpPr>
          <a:xfrm rot="0">
            <a:off x="9464288" y="6128699"/>
            <a:ext cx="590817" cy="590817"/>
            <a:chOff x="0" y="0"/>
            <a:chExt cx="787756" cy="787756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787781" cy="787781"/>
            </a:xfrm>
            <a:custGeom>
              <a:avLst/>
              <a:gdLst/>
              <a:ahLst/>
              <a:cxnLst/>
              <a:rect r="r" b="b" t="t" l="l"/>
              <a:pathLst>
                <a:path h="787781" w="787781">
                  <a:moveTo>
                    <a:pt x="0" y="393827"/>
                  </a:moveTo>
                  <a:cubicBezTo>
                    <a:pt x="0" y="176403"/>
                    <a:pt x="176403" y="0"/>
                    <a:pt x="393827" y="0"/>
                  </a:cubicBezTo>
                  <a:cubicBezTo>
                    <a:pt x="611251" y="0"/>
                    <a:pt x="787781" y="176403"/>
                    <a:pt x="787781" y="393827"/>
                  </a:cubicBezTo>
                  <a:cubicBezTo>
                    <a:pt x="787781" y="611251"/>
                    <a:pt x="611378" y="787781"/>
                    <a:pt x="393827" y="787781"/>
                  </a:cubicBezTo>
                  <a:cubicBezTo>
                    <a:pt x="176276" y="787781"/>
                    <a:pt x="0" y="611378"/>
                    <a:pt x="0" y="393827"/>
                  </a:cubicBezTo>
                  <a:close/>
                </a:path>
              </a:pathLst>
            </a:custGeom>
            <a:solidFill>
              <a:srgbClr val="259766"/>
            </a:solidFill>
            <a:ln w="14299" cap="sq">
              <a:solidFill>
                <a:srgbClr val="259766"/>
              </a:solidFill>
              <a:prstDash val="solid"/>
              <a:miter/>
            </a:ln>
          </p:spPr>
        </p:sp>
      </p:grpSp>
      <p:grpSp>
        <p:nvGrpSpPr>
          <p:cNvPr name="Group 64" id="64"/>
          <p:cNvGrpSpPr/>
          <p:nvPr/>
        </p:nvGrpSpPr>
        <p:grpSpPr>
          <a:xfrm rot="0">
            <a:off x="9471441" y="6149569"/>
            <a:ext cx="576520" cy="521618"/>
            <a:chOff x="0" y="0"/>
            <a:chExt cx="768693" cy="69549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768697" cy="695487"/>
            </a:xfrm>
            <a:custGeom>
              <a:avLst/>
              <a:gdLst/>
              <a:ahLst/>
              <a:cxnLst/>
              <a:rect r="r" b="b" t="t" l="l"/>
              <a:pathLst>
                <a:path h="695487" w="768697">
                  <a:moveTo>
                    <a:pt x="0" y="0"/>
                  </a:moveTo>
                  <a:lnTo>
                    <a:pt x="768697" y="0"/>
                  </a:lnTo>
                  <a:lnTo>
                    <a:pt x="768697" y="695487"/>
                  </a:lnTo>
                  <a:lnTo>
                    <a:pt x="0" y="69548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6084" t="0" r="-66084" b="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0"/>
              <a:ext cx="768693" cy="695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75"/>
                </a:lnSpc>
              </a:pPr>
              <a:r>
                <a:rPr lang="en-US" sz="1229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03</a:t>
              </a:r>
            </a:p>
          </p:txBody>
        </p:sp>
      </p:grpSp>
      <p:sp>
        <p:nvSpPr>
          <p:cNvPr name="TextBox 67" id="67"/>
          <p:cNvSpPr txBox="true"/>
          <p:nvPr/>
        </p:nvSpPr>
        <p:spPr>
          <a:xfrm rot="0">
            <a:off x="10285857" y="5975690"/>
            <a:ext cx="2448001" cy="347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5"/>
              </a:lnSpc>
            </a:pPr>
            <a:r>
              <a:rPr lang="en-US" sz="1229" b="true">
                <a:solidFill>
                  <a:srgbClr val="0B192D"/>
                </a:solidFill>
                <a:latin typeface="Aptos Bold"/>
                <a:ea typeface="Aptos Bold"/>
                <a:cs typeface="Aptos Bold"/>
                <a:sym typeface="Aptos Bold"/>
              </a:rPr>
              <a:t>FIELD TESTING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0115036" y="6327257"/>
            <a:ext cx="3392062" cy="538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47"/>
              </a:lnSpc>
            </a:pPr>
            <a:r>
              <a:rPr lang="en-US" sz="1456">
                <a:solidFill>
                  <a:srgbClr val="465465"/>
                </a:solidFill>
                <a:latin typeface="Aptos"/>
                <a:ea typeface="Aptos"/>
                <a:cs typeface="Aptos"/>
                <a:sym typeface="Aptos"/>
              </a:rPr>
              <a:t>Real-world scenarios with operators</a:t>
            </a:r>
          </a:p>
        </p:txBody>
      </p:sp>
      <p:grpSp>
        <p:nvGrpSpPr>
          <p:cNvPr name="Group 69" id="69"/>
          <p:cNvGrpSpPr/>
          <p:nvPr/>
        </p:nvGrpSpPr>
        <p:grpSpPr>
          <a:xfrm rot="0">
            <a:off x="13389654" y="5730145"/>
            <a:ext cx="3831279" cy="1415377"/>
            <a:chOff x="0" y="0"/>
            <a:chExt cx="5108372" cy="1887169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5108448" cy="1887220"/>
            </a:xfrm>
            <a:custGeom>
              <a:avLst/>
              <a:gdLst/>
              <a:ahLst/>
              <a:cxnLst/>
              <a:rect r="r" b="b" t="t" l="l"/>
              <a:pathLst>
                <a:path h="1887220" w="5108448">
                  <a:moveTo>
                    <a:pt x="0" y="151003"/>
                  </a:moveTo>
                  <a:cubicBezTo>
                    <a:pt x="0" y="67564"/>
                    <a:pt x="67564" y="0"/>
                    <a:pt x="151003" y="0"/>
                  </a:cubicBezTo>
                  <a:lnTo>
                    <a:pt x="4957445" y="0"/>
                  </a:lnTo>
                  <a:cubicBezTo>
                    <a:pt x="5040884" y="0"/>
                    <a:pt x="5108448" y="67564"/>
                    <a:pt x="5108448" y="151003"/>
                  </a:cubicBezTo>
                  <a:lnTo>
                    <a:pt x="5108448" y="1736217"/>
                  </a:lnTo>
                  <a:cubicBezTo>
                    <a:pt x="5108448" y="1819656"/>
                    <a:pt x="5040884" y="1887220"/>
                    <a:pt x="4957445" y="1887220"/>
                  </a:cubicBezTo>
                  <a:lnTo>
                    <a:pt x="151003" y="1887220"/>
                  </a:lnTo>
                  <a:cubicBezTo>
                    <a:pt x="67564" y="1887220"/>
                    <a:pt x="0" y="1819529"/>
                    <a:pt x="0" y="1736217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7E0E9"/>
              </a:solidFill>
              <a:prstDash val="solid"/>
              <a:miter/>
            </a:ln>
          </p:spPr>
        </p:sp>
      </p:grpSp>
      <p:grpSp>
        <p:nvGrpSpPr>
          <p:cNvPr name="Group 71" id="71"/>
          <p:cNvGrpSpPr/>
          <p:nvPr/>
        </p:nvGrpSpPr>
        <p:grpSpPr>
          <a:xfrm rot="0">
            <a:off x="13609758" y="6128699"/>
            <a:ext cx="590817" cy="590817"/>
            <a:chOff x="0" y="0"/>
            <a:chExt cx="787756" cy="787756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787781" cy="787781"/>
            </a:xfrm>
            <a:custGeom>
              <a:avLst/>
              <a:gdLst/>
              <a:ahLst/>
              <a:cxnLst/>
              <a:rect r="r" b="b" t="t" l="l"/>
              <a:pathLst>
                <a:path h="787781" w="787781">
                  <a:moveTo>
                    <a:pt x="0" y="393827"/>
                  </a:moveTo>
                  <a:cubicBezTo>
                    <a:pt x="0" y="176403"/>
                    <a:pt x="176403" y="0"/>
                    <a:pt x="393827" y="0"/>
                  </a:cubicBezTo>
                  <a:cubicBezTo>
                    <a:pt x="611251" y="0"/>
                    <a:pt x="787781" y="176403"/>
                    <a:pt x="787781" y="393827"/>
                  </a:cubicBezTo>
                  <a:cubicBezTo>
                    <a:pt x="787781" y="611251"/>
                    <a:pt x="611378" y="787781"/>
                    <a:pt x="393827" y="787781"/>
                  </a:cubicBezTo>
                  <a:cubicBezTo>
                    <a:pt x="176276" y="787781"/>
                    <a:pt x="0" y="611378"/>
                    <a:pt x="0" y="393827"/>
                  </a:cubicBezTo>
                  <a:close/>
                </a:path>
              </a:pathLst>
            </a:custGeom>
            <a:solidFill>
              <a:srgbClr val="0B192D"/>
            </a:solidFill>
            <a:ln w="14299" cap="sq">
              <a:solidFill>
                <a:srgbClr val="0B192D"/>
              </a:solidFill>
              <a:prstDash val="solid"/>
              <a:miter/>
            </a:ln>
          </p:spPr>
        </p:sp>
      </p:grpSp>
      <p:grpSp>
        <p:nvGrpSpPr>
          <p:cNvPr name="Group 73" id="73"/>
          <p:cNvGrpSpPr/>
          <p:nvPr/>
        </p:nvGrpSpPr>
        <p:grpSpPr>
          <a:xfrm rot="0">
            <a:off x="13616911" y="6149569"/>
            <a:ext cx="576520" cy="521618"/>
            <a:chOff x="0" y="0"/>
            <a:chExt cx="768693" cy="69549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768697" cy="695487"/>
            </a:xfrm>
            <a:custGeom>
              <a:avLst/>
              <a:gdLst/>
              <a:ahLst/>
              <a:cxnLst/>
              <a:rect r="r" b="b" t="t" l="l"/>
              <a:pathLst>
                <a:path h="695487" w="768697">
                  <a:moveTo>
                    <a:pt x="0" y="0"/>
                  </a:moveTo>
                  <a:lnTo>
                    <a:pt x="768697" y="0"/>
                  </a:lnTo>
                  <a:lnTo>
                    <a:pt x="768697" y="695487"/>
                  </a:lnTo>
                  <a:lnTo>
                    <a:pt x="0" y="69548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6084" t="0" r="-66084" b="0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0"/>
              <a:ext cx="768693" cy="695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75"/>
                </a:lnSpc>
              </a:pPr>
              <a:r>
                <a:rPr lang="en-US" sz="1229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04</a:t>
              </a:r>
            </a:p>
          </p:txBody>
        </p:sp>
      </p:grpSp>
      <p:sp>
        <p:nvSpPr>
          <p:cNvPr name="TextBox 76" id="76"/>
          <p:cNvSpPr txBox="true"/>
          <p:nvPr/>
        </p:nvSpPr>
        <p:spPr>
          <a:xfrm rot="0">
            <a:off x="14431327" y="5975690"/>
            <a:ext cx="2448001" cy="347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5"/>
              </a:lnSpc>
            </a:pPr>
            <a:r>
              <a:rPr lang="en-US" sz="1229" b="true">
                <a:solidFill>
                  <a:srgbClr val="0B192D"/>
                </a:solidFill>
                <a:latin typeface="Aptos Bold"/>
                <a:ea typeface="Aptos Bold"/>
                <a:cs typeface="Aptos Bold"/>
                <a:sym typeface="Aptos Bold"/>
              </a:rPr>
              <a:t>MULTI-AGENT DEPLOYMENT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14282661" y="6327257"/>
            <a:ext cx="2859805" cy="454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3"/>
              </a:lnSpc>
            </a:pPr>
            <a:r>
              <a:rPr lang="en-US" sz="1227">
                <a:solidFill>
                  <a:srgbClr val="465465"/>
                </a:solidFill>
                <a:latin typeface="Aptos"/>
                <a:ea typeface="Aptos"/>
                <a:cs typeface="Aptos"/>
                <a:sym typeface="Aptos"/>
              </a:rPr>
              <a:t>Coordinated fleet with human-in-loop</a:t>
            </a:r>
          </a:p>
        </p:txBody>
      </p:sp>
      <p:grpSp>
        <p:nvGrpSpPr>
          <p:cNvPr name="Group 78" id="78"/>
          <p:cNvGrpSpPr/>
          <p:nvPr/>
        </p:nvGrpSpPr>
        <p:grpSpPr>
          <a:xfrm rot="0">
            <a:off x="953243" y="7610704"/>
            <a:ext cx="8388553" cy="1278112"/>
            <a:chOff x="0" y="0"/>
            <a:chExt cx="11184738" cy="170415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1184636" cy="1704086"/>
            </a:xfrm>
            <a:custGeom>
              <a:avLst/>
              <a:gdLst/>
              <a:ahLst/>
              <a:cxnLst/>
              <a:rect r="r" b="b" t="t" l="l"/>
              <a:pathLst>
                <a:path h="1704086" w="11184636">
                  <a:moveTo>
                    <a:pt x="0" y="136271"/>
                  </a:moveTo>
                  <a:cubicBezTo>
                    <a:pt x="0" y="61087"/>
                    <a:pt x="61087" y="0"/>
                    <a:pt x="136271" y="0"/>
                  </a:cubicBezTo>
                  <a:lnTo>
                    <a:pt x="11048365" y="0"/>
                  </a:lnTo>
                  <a:cubicBezTo>
                    <a:pt x="11123676" y="0"/>
                    <a:pt x="11184636" y="61087"/>
                    <a:pt x="11184636" y="136271"/>
                  </a:cubicBezTo>
                  <a:lnTo>
                    <a:pt x="11184636" y="1567815"/>
                  </a:lnTo>
                  <a:cubicBezTo>
                    <a:pt x="11184636" y="1643126"/>
                    <a:pt x="11123549" y="1704086"/>
                    <a:pt x="11048365" y="1704086"/>
                  </a:cubicBezTo>
                  <a:lnTo>
                    <a:pt x="136271" y="1704086"/>
                  </a:lnTo>
                  <a:cubicBezTo>
                    <a:pt x="61087" y="1704086"/>
                    <a:pt x="0" y="1643126"/>
                    <a:pt x="0" y="1567815"/>
                  </a:cubicBezTo>
                  <a:close/>
                </a:path>
              </a:pathLst>
            </a:custGeom>
            <a:solidFill>
              <a:srgbClr val="0B192D"/>
            </a:solidFill>
            <a:ln w="15252" cap="sq">
              <a:solidFill>
                <a:srgbClr val="0B192D"/>
              </a:solidFill>
              <a:prstDash val="solid"/>
              <a:miter/>
            </a:ln>
          </p:spPr>
        </p:sp>
      </p:grpSp>
      <p:sp>
        <p:nvSpPr>
          <p:cNvPr name="TextBox 80" id="80"/>
          <p:cNvSpPr txBox="true"/>
          <p:nvPr/>
        </p:nvSpPr>
        <p:spPr>
          <a:xfrm rot="0">
            <a:off x="1281122" y="7860449"/>
            <a:ext cx="1487129" cy="274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 b="true">
                <a:solidFill>
                  <a:srgbClr val="00A6D2"/>
                </a:solidFill>
                <a:latin typeface="Aptos Bold"/>
                <a:ea typeface="Aptos Bold"/>
                <a:cs typeface="Aptos Bold"/>
                <a:sym typeface="Aptos Bold"/>
              </a:rPr>
              <a:t>TARGET USERS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2859700" y="7787611"/>
            <a:ext cx="5948315" cy="375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87"/>
              </a:lnSpc>
            </a:pPr>
            <a:r>
              <a:rPr lang="en-US" sz="1155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Disaster Response Teams • Government Agencies • Emergency Services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2859700" y="8305028"/>
            <a:ext cx="5948315" cy="283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97"/>
              </a:lnSpc>
            </a:pPr>
            <a:r>
              <a:rPr lang="en-US" sz="1080">
                <a:solidFill>
                  <a:srgbClr val="D3E0EF"/>
                </a:solidFill>
                <a:latin typeface="Aptos"/>
                <a:ea typeface="Aptos"/>
                <a:cs typeface="Aptos"/>
                <a:sym typeface="Aptos"/>
              </a:rPr>
              <a:t>Search &amp; Rescue Organizations • Humanitarian Relief Teams</a:t>
            </a:r>
          </a:p>
        </p:txBody>
      </p:sp>
      <p:grpSp>
        <p:nvGrpSpPr>
          <p:cNvPr name="Group 83" id="83"/>
          <p:cNvGrpSpPr/>
          <p:nvPr/>
        </p:nvGrpSpPr>
        <p:grpSpPr>
          <a:xfrm rot="0">
            <a:off x="9669713" y="7610704"/>
            <a:ext cx="7674759" cy="1278112"/>
            <a:chOff x="0" y="0"/>
            <a:chExt cx="10233012" cy="170415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0232898" cy="1704086"/>
            </a:xfrm>
            <a:custGeom>
              <a:avLst/>
              <a:gdLst/>
              <a:ahLst/>
              <a:cxnLst/>
              <a:rect r="r" b="b" t="t" l="l"/>
              <a:pathLst>
                <a:path h="1704086" w="10232898">
                  <a:moveTo>
                    <a:pt x="0" y="136271"/>
                  </a:moveTo>
                  <a:cubicBezTo>
                    <a:pt x="0" y="61087"/>
                    <a:pt x="61087" y="0"/>
                    <a:pt x="136271" y="0"/>
                  </a:cubicBezTo>
                  <a:lnTo>
                    <a:pt x="10096627" y="0"/>
                  </a:lnTo>
                  <a:cubicBezTo>
                    <a:pt x="10171938" y="0"/>
                    <a:pt x="10232898" y="61087"/>
                    <a:pt x="10232898" y="136271"/>
                  </a:cubicBezTo>
                  <a:lnTo>
                    <a:pt x="10232898" y="1567815"/>
                  </a:lnTo>
                  <a:cubicBezTo>
                    <a:pt x="10232898" y="1643126"/>
                    <a:pt x="10171811" y="1704086"/>
                    <a:pt x="10096627" y="1704086"/>
                  </a:cubicBezTo>
                  <a:lnTo>
                    <a:pt x="136271" y="1704086"/>
                  </a:lnTo>
                  <a:cubicBezTo>
                    <a:pt x="61087" y="1704086"/>
                    <a:pt x="0" y="1643126"/>
                    <a:pt x="0" y="1567815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7E0E9"/>
              </a:solidFill>
              <a:prstDash val="solid"/>
              <a:miter/>
            </a:ln>
          </p:spPr>
        </p:sp>
      </p:grpSp>
      <p:sp>
        <p:nvSpPr>
          <p:cNvPr name="TextBox 85" id="85"/>
          <p:cNvSpPr txBox="true"/>
          <p:nvPr/>
        </p:nvSpPr>
        <p:spPr>
          <a:xfrm rot="0">
            <a:off x="10038778" y="7832998"/>
            <a:ext cx="2722540" cy="302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5"/>
              </a:lnSpc>
            </a:pPr>
            <a:r>
              <a:rPr lang="en-US" sz="1379" b="true">
                <a:solidFill>
                  <a:srgbClr val="007AB4"/>
                </a:solidFill>
                <a:latin typeface="Aptos Bold"/>
                <a:ea typeface="Aptos Bold"/>
                <a:cs typeface="Aptos Bold"/>
                <a:sym typeface="Aptos Bold"/>
              </a:rPr>
              <a:t>AERORESCUE NEXUS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10038778" y="8285978"/>
            <a:ext cx="6703285" cy="316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 b="true">
                <a:solidFill>
                  <a:srgbClr val="0B192D"/>
                </a:solidFill>
                <a:latin typeface="Aptos Bold"/>
                <a:ea typeface="Aptos Bold"/>
                <a:cs typeface="Aptos Bold"/>
                <a:sym typeface="Aptos Bold"/>
              </a:rPr>
              <a:t>Search → Detect → Verify → Map → Deliver → Recover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9723063" y="9215190"/>
            <a:ext cx="7568070" cy="347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1"/>
              </a:lnSpc>
            </a:pPr>
            <a:r>
              <a:rPr lang="en-US" sz="1576" b="true">
                <a:solidFill>
                  <a:srgbClr val="0B192D"/>
                </a:solidFill>
                <a:latin typeface="Aptos Bold"/>
                <a:ea typeface="Aptos Bold"/>
                <a:cs typeface="Aptos Bold"/>
                <a:sym typeface="Aptos Bold"/>
              </a:rPr>
              <a:t>Making Disaster Response Faster • Safer • Smarter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1034044" y="9503454"/>
            <a:ext cx="16243363" cy="196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6"/>
              </a:lnSpc>
            </a:pPr>
            <a:r>
              <a:rPr lang="en-US" sz="855">
                <a:solidFill>
                  <a:srgbClr val="697788"/>
                </a:solidFill>
                <a:latin typeface="Aptos"/>
                <a:ea typeface="Aptos"/>
                <a:cs typeface="Aptos"/>
                <a:sym typeface="Aptos"/>
              </a:rPr>
              <a:t>References: NASA Earth Observation &amp; Disaster Management Resources • NDMA • UAV Search &amp; Rescue Research • Robotics &amp; Automation Research • AI-Based Human Detection Research</a:t>
            </a:r>
          </a:p>
        </p:txBody>
      </p:sp>
      <p:sp>
        <p:nvSpPr>
          <p:cNvPr name="AutoShape 89" id="89"/>
          <p:cNvSpPr/>
          <p:nvPr/>
        </p:nvSpPr>
        <p:spPr>
          <a:xfrm rot="3180">
            <a:off x="925792" y="9631394"/>
            <a:ext cx="16446151" cy="0"/>
          </a:xfrm>
          <a:prstGeom prst="line">
            <a:avLst/>
          </a:prstGeom>
          <a:ln cap="rnd" w="9525">
            <a:solidFill>
              <a:srgbClr val="D7E0E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0" id="90"/>
          <p:cNvSpPr txBox="true"/>
          <p:nvPr/>
        </p:nvSpPr>
        <p:spPr>
          <a:xfrm rot="0">
            <a:off x="979141" y="9764258"/>
            <a:ext cx="7870060" cy="210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70"/>
              </a:lnSpc>
            </a:pPr>
            <a:r>
              <a:rPr lang="en-US" sz="975" b="true">
                <a:solidFill>
                  <a:srgbClr val="697788"/>
                </a:solidFill>
                <a:latin typeface="Aptos Bold"/>
                <a:ea typeface="Aptos Bold"/>
                <a:cs typeface="Aptos Bold"/>
                <a:sym typeface="Aptos Bold"/>
              </a:rPr>
              <a:t>SKYRESCUE INNOVATORS  •  SMART INDIA HACKATHON 2025</a:t>
            </a:r>
          </a:p>
        </p:txBody>
      </p:sp>
      <p:grpSp>
        <p:nvGrpSpPr>
          <p:cNvPr name="Group 91" id="91"/>
          <p:cNvGrpSpPr/>
          <p:nvPr/>
        </p:nvGrpSpPr>
        <p:grpSpPr>
          <a:xfrm rot="0">
            <a:off x="14613363" y="-331251"/>
            <a:ext cx="3313652" cy="1684306"/>
            <a:chOff x="0" y="0"/>
            <a:chExt cx="4418203" cy="2245741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4418203" cy="2245741"/>
            </a:xfrm>
            <a:custGeom>
              <a:avLst/>
              <a:gdLst/>
              <a:ahLst/>
              <a:cxnLst/>
              <a:rect r="r" b="b" t="t" l="l"/>
              <a:pathLst>
                <a:path h="2245741" w="4418203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9512" r="0" b="-9512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DAHVVuVf6co</dc:identifier>
  <dcterms:modified xsi:type="dcterms:W3CDTF">2011-08-01T06:04:30Z</dcterms:modified>
  <cp:revision>1</cp:revision>
  <dc:title>SkyRescue_Innovators_SIH_2026.pptx</dc:title>
</cp:coreProperties>
</file>