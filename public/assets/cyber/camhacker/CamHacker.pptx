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3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0" y="256032"/>
            <a:ext cx="41148" cy="41148"/>
          </a:xfrm>
          <a:prstGeom prst="ellipse">
            <a:avLst/>
          </a:prstGeom>
          <a:solidFill>
            <a:srgbClr val="974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351008" y="420624"/>
            <a:ext cx="41148" cy="41148"/>
          </a:xfrm>
          <a:prstGeom prst="ellipse">
            <a:avLst/>
          </a:prstGeom>
          <a:solidFill>
            <a:srgbClr val="974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43616" y="256032"/>
            <a:ext cx="41148" cy="41148"/>
          </a:xfrm>
          <a:prstGeom prst="ellipse">
            <a:avLst/>
          </a:prstGeom>
          <a:solidFill>
            <a:srgbClr val="974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36224" y="420624"/>
            <a:ext cx="41148" cy="41148"/>
          </a:xfrm>
          <a:prstGeom prst="ellipse">
            <a:avLst/>
          </a:prstGeom>
          <a:solidFill>
            <a:srgbClr val="974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228832" y="256032"/>
            <a:ext cx="41148" cy="41148"/>
          </a:xfrm>
          <a:prstGeom prst="ellipse">
            <a:avLst/>
          </a:prstGeom>
          <a:solidFill>
            <a:srgbClr val="974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1480" y="320040"/>
            <a:ext cx="566928" cy="566928"/>
          </a:xfrm>
          <a:prstGeom prst="roundRect">
            <a:avLst/>
          </a:prstGeom>
          <a:solidFill>
            <a:srgbClr val="974BFF"/>
          </a:solidFill>
          <a:ln>
            <a:solidFill>
              <a:srgbClr val="974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320040"/>
            <a:ext cx="566928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8F6FF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20040"/>
            <a:ext cx="4572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DCCBFF"/>
                </a:solidFill>
                <a:latin typeface="Aptos"/>
              </a:rPr>
              <a:t>CYBERSECURITY PROJECT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612648"/>
            <a:ext cx="98755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8F6FF"/>
                </a:solidFill>
                <a:latin typeface="Bahnschrift SemiBold"/>
              </a:rPr>
              <a:t>CamHacker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43000" y="1261872"/>
            <a:ext cx="1828800" cy="41148"/>
          </a:xfrm>
          <a:prstGeom prst="rect">
            <a:avLst/>
          </a:prstGeom>
          <a:solidFill>
            <a:srgbClr val="974BFF"/>
          </a:solidFill>
          <a:ln>
            <a:solidFill>
              <a:srgbClr val="974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1417320"/>
            <a:ext cx="54864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DCCBFF"/>
                </a:solidFill>
                <a:latin typeface="Bahnschrift SemiBold"/>
              </a:rPr>
              <a:t>Camera Phishing Awareness Tool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011680"/>
            <a:ext cx="55778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50">
                <a:solidFill>
                  <a:srgbClr val="F8F6FF"/>
                </a:solidFill>
                <a:latin typeface="Aptos"/>
              </a:defRPr>
            </a:pPr>
            <a:r>
              <a:rPr>
                <a:latin typeface="Aptos"/>
              </a:rPr>
              <a:t>•  Demonstrates browser camera-permission risks</a:t>
            </a:r>
          </a:p>
          <a:p>
            <a:pPr>
              <a:spcAft>
                <a:spcPts val="800"/>
              </a:spcAft>
              <a:defRPr sz="1550">
                <a:solidFill>
                  <a:srgbClr val="F8F6FF"/>
                </a:solidFill>
                <a:latin typeface="Aptos"/>
              </a:defRPr>
            </a:pPr>
            <a:r>
              <a:rPr>
                <a:latin typeface="Aptos"/>
              </a:rPr>
              <a:t>•  Explains how phishing can manipulate user trust</a:t>
            </a:r>
          </a:p>
          <a:p>
            <a:pPr>
              <a:spcAft>
                <a:spcPts val="800"/>
              </a:spcAft>
              <a:defRPr sz="1550">
                <a:solidFill>
                  <a:srgbClr val="F8F6FF"/>
                </a:solidFill>
                <a:latin typeface="Aptos"/>
              </a:defRPr>
            </a:pPr>
            <a:r>
              <a:rPr>
                <a:latin typeface="Aptos"/>
              </a:rPr>
              <a:t>•  Designed for awareness and controlled demonstrations</a:t>
            </a:r>
          </a:p>
          <a:p>
            <a:pPr>
              <a:spcAft>
                <a:spcPts val="800"/>
              </a:spcAft>
              <a:defRPr sz="1550">
                <a:solidFill>
                  <a:srgbClr val="F8F6FF"/>
                </a:solidFill>
                <a:latin typeface="Aptos"/>
              </a:defRPr>
            </a:pPr>
            <a:r>
              <a:rPr>
                <a:latin typeface="Aptos"/>
              </a:rPr>
              <a:t>•  Use only in authorized environments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4709160"/>
            <a:ext cx="3063240" cy="640080"/>
          </a:xfrm>
          <a:prstGeom prst="roundRect">
            <a:avLst/>
          </a:prstGeom>
          <a:solidFill>
            <a:srgbClr val="180E34"/>
          </a:solidFill>
          <a:ln>
            <a:solidFill>
              <a:srgbClr val="974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0160" y="4773168"/>
            <a:ext cx="27889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8F6FF"/>
                </a:solidFill>
                <a:latin typeface="Aptos"/>
              </a:rPr>
              <a:t>PRESENTED BY  DINESH S</a:t>
            </a:r>
          </a:p>
        </p:txBody>
      </p:sp>
      <p:pic>
        <p:nvPicPr>
          <p:cNvPr id="16" name="Picture 15" descr="camera_asset_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371600"/>
            <a:ext cx="429768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3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0" y="256032"/>
            <a:ext cx="41148" cy="41148"/>
          </a:xfrm>
          <a:prstGeom prst="ellipse">
            <a:avLst/>
          </a:prstGeom>
          <a:solidFill>
            <a:srgbClr val="974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351008" y="420624"/>
            <a:ext cx="41148" cy="41148"/>
          </a:xfrm>
          <a:prstGeom prst="ellipse">
            <a:avLst/>
          </a:prstGeom>
          <a:solidFill>
            <a:srgbClr val="974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43616" y="256032"/>
            <a:ext cx="41148" cy="41148"/>
          </a:xfrm>
          <a:prstGeom prst="ellipse">
            <a:avLst/>
          </a:prstGeom>
          <a:solidFill>
            <a:srgbClr val="974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36224" y="420624"/>
            <a:ext cx="41148" cy="41148"/>
          </a:xfrm>
          <a:prstGeom prst="ellipse">
            <a:avLst/>
          </a:prstGeom>
          <a:solidFill>
            <a:srgbClr val="974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228832" y="256032"/>
            <a:ext cx="41148" cy="41148"/>
          </a:xfrm>
          <a:prstGeom prst="ellipse">
            <a:avLst/>
          </a:prstGeom>
          <a:solidFill>
            <a:srgbClr val="974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1480" y="320040"/>
            <a:ext cx="566928" cy="566928"/>
          </a:xfrm>
          <a:prstGeom prst="roundRect">
            <a:avLst/>
          </a:prstGeom>
          <a:solidFill>
            <a:srgbClr val="974BFF"/>
          </a:solidFill>
          <a:ln>
            <a:solidFill>
              <a:srgbClr val="974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320040"/>
            <a:ext cx="566928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8F6FF"/>
                </a:solidFill>
                <a:latin typeface="Aptos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20040"/>
            <a:ext cx="4572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DCCBFF"/>
                </a:solidFill>
                <a:latin typeface="Aptos"/>
              </a:rPr>
              <a:t>CONCEPT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612648"/>
            <a:ext cx="98755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8F6FF"/>
                </a:solidFill>
                <a:latin typeface="Bahnschrift SemiBold"/>
              </a:rPr>
              <a:t>What is CamHacker?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43000" y="1261872"/>
            <a:ext cx="1828800" cy="41148"/>
          </a:xfrm>
          <a:prstGeom prst="rect">
            <a:avLst/>
          </a:prstGeom>
          <a:solidFill>
            <a:srgbClr val="974BFF"/>
          </a:solidFill>
          <a:ln>
            <a:solidFill>
              <a:srgbClr val="974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laptop_asset_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0" y="1417320"/>
            <a:ext cx="4389120" cy="448056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1143000" y="1508760"/>
            <a:ext cx="5303520" cy="987552"/>
          </a:xfrm>
          <a:prstGeom prst="roundRect">
            <a:avLst/>
          </a:prstGeom>
          <a:solidFill>
            <a:srgbClr val="0F0A23"/>
          </a:solidFill>
          <a:ln>
            <a:solidFill>
              <a:srgbClr val="2D1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143000" y="1508760"/>
            <a:ext cx="64008" cy="987552"/>
          </a:xfrm>
          <a:prstGeom prst="roundRect">
            <a:avLst/>
          </a:prstGeom>
          <a:solidFill>
            <a:srgbClr val="974BFF"/>
          </a:solidFill>
          <a:ln>
            <a:solidFill>
              <a:srgbClr val="974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1618488"/>
            <a:ext cx="4892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8F6FF"/>
                </a:solidFill>
                <a:latin typeface="Aptos"/>
              </a:rPr>
              <a:t>Awareness Tool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1984248"/>
            <a:ext cx="489204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B7AED2"/>
                </a:solidFill>
                <a:latin typeface="Aptos"/>
              </a:rPr>
              <a:t>A controlled demonstration of camera-phishing and browser permission risks.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43000" y="2697480"/>
            <a:ext cx="5303520" cy="987552"/>
          </a:xfrm>
          <a:prstGeom prst="roundRect">
            <a:avLst/>
          </a:prstGeom>
          <a:solidFill>
            <a:srgbClr val="0F0A23"/>
          </a:solidFill>
          <a:ln>
            <a:solidFill>
              <a:srgbClr val="2D1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143000" y="2697480"/>
            <a:ext cx="64008" cy="987552"/>
          </a:xfrm>
          <a:prstGeom prst="roundRect">
            <a:avLst/>
          </a:prstGeom>
          <a:solidFill>
            <a:srgbClr val="4BCDFF"/>
          </a:solidFill>
          <a:ln>
            <a:solidFill>
              <a:srgbClr val="4BC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71600" y="2807208"/>
            <a:ext cx="4892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8F6FF"/>
                </a:solidFill>
                <a:latin typeface="Aptos"/>
              </a:rPr>
              <a:t>Permission Demonstration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172968"/>
            <a:ext cx="489204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B7AED2"/>
                </a:solidFill>
                <a:latin typeface="Aptos"/>
              </a:rPr>
              <a:t>Shows how a web page can request camera access and why users must verify the request.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3886200"/>
            <a:ext cx="5303520" cy="987552"/>
          </a:xfrm>
          <a:prstGeom prst="roundRect">
            <a:avLst/>
          </a:prstGeom>
          <a:solidFill>
            <a:srgbClr val="0F0A23"/>
          </a:solidFill>
          <a:ln>
            <a:solidFill>
              <a:srgbClr val="2D1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143000" y="3886200"/>
            <a:ext cx="64008" cy="987552"/>
          </a:xfrm>
          <a:prstGeom prst="roundRect">
            <a:avLst/>
          </a:prstGeom>
          <a:solidFill>
            <a:srgbClr val="5DE18B"/>
          </a:solidFill>
          <a:ln>
            <a:solidFill>
              <a:srgbClr val="5DE1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71600" y="3995928"/>
            <a:ext cx="4892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8F6FF"/>
                </a:solidFill>
                <a:latin typeface="Aptos"/>
              </a:rPr>
              <a:t>Privacy Focus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361688"/>
            <a:ext cx="489204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B7AED2"/>
                </a:solidFill>
                <a:latin typeface="Aptos"/>
              </a:rPr>
              <a:t>Highlights careful links, trusted domains and browser permission controls.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3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0" y="256032"/>
            <a:ext cx="41148" cy="41148"/>
          </a:xfrm>
          <a:prstGeom prst="ellipse">
            <a:avLst/>
          </a:prstGeom>
          <a:solidFill>
            <a:srgbClr val="974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351008" y="420624"/>
            <a:ext cx="41148" cy="41148"/>
          </a:xfrm>
          <a:prstGeom prst="ellipse">
            <a:avLst/>
          </a:prstGeom>
          <a:solidFill>
            <a:srgbClr val="974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43616" y="256032"/>
            <a:ext cx="41148" cy="41148"/>
          </a:xfrm>
          <a:prstGeom prst="ellipse">
            <a:avLst/>
          </a:prstGeom>
          <a:solidFill>
            <a:srgbClr val="974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36224" y="420624"/>
            <a:ext cx="41148" cy="41148"/>
          </a:xfrm>
          <a:prstGeom prst="ellipse">
            <a:avLst/>
          </a:prstGeom>
          <a:solidFill>
            <a:srgbClr val="974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228832" y="256032"/>
            <a:ext cx="41148" cy="41148"/>
          </a:xfrm>
          <a:prstGeom prst="ellipse">
            <a:avLst/>
          </a:prstGeom>
          <a:solidFill>
            <a:srgbClr val="974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1480" y="320040"/>
            <a:ext cx="566928" cy="566928"/>
          </a:xfrm>
          <a:prstGeom prst="roundRect">
            <a:avLst/>
          </a:prstGeom>
          <a:solidFill>
            <a:srgbClr val="974BFF"/>
          </a:solidFill>
          <a:ln>
            <a:solidFill>
              <a:srgbClr val="974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320040"/>
            <a:ext cx="566928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8F6FF"/>
                </a:solidFill>
                <a:latin typeface="Aptos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20040"/>
            <a:ext cx="4572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DCCBFF"/>
                </a:solidFill>
                <a:latin typeface="Aptos"/>
              </a:rPr>
              <a:t>TECHNICAL STACK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612648"/>
            <a:ext cx="98755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8F6FF"/>
                </a:solidFill>
                <a:latin typeface="Bahnschrift SemiBold"/>
              </a:rPr>
              <a:t>Tools &amp; Technologies Used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43000" y="1261872"/>
            <a:ext cx="1828800" cy="41148"/>
          </a:xfrm>
          <a:prstGeom prst="rect">
            <a:avLst/>
          </a:prstGeom>
          <a:solidFill>
            <a:srgbClr val="974BFF"/>
          </a:solidFill>
          <a:ln>
            <a:solidFill>
              <a:srgbClr val="974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143000" y="1508760"/>
            <a:ext cx="3154680" cy="1143000"/>
          </a:xfrm>
          <a:prstGeom prst="roundRect">
            <a:avLst/>
          </a:prstGeom>
          <a:solidFill>
            <a:srgbClr val="0F0A23"/>
          </a:solidFill>
          <a:ln>
            <a:solidFill>
              <a:srgbClr val="2D1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143000" y="1508760"/>
            <a:ext cx="64008" cy="1143000"/>
          </a:xfrm>
          <a:prstGeom prst="roundRect">
            <a:avLst/>
          </a:prstGeom>
          <a:solidFill>
            <a:srgbClr val="974BFF"/>
          </a:solidFill>
          <a:ln>
            <a:solidFill>
              <a:srgbClr val="974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1618488"/>
            <a:ext cx="2743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8F6FF"/>
                </a:solidFill>
                <a:latin typeface="Aptos"/>
              </a:rPr>
              <a:t>Bash / Shell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1984248"/>
            <a:ext cx="2743200" cy="576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B7AED2"/>
                </a:solidFill>
                <a:latin typeface="Aptos"/>
              </a:rPr>
              <a:t>Automation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00600" y="1508760"/>
            <a:ext cx="3154680" cy="1143000"/>
          </a:xfrm>
          <a:prstGeom prst="roundRect">
            <a:avLst/>
          </a:prstGeom>
          <a:solidFill>
            <a:srgbClr val="0F0A23"/>
          </a:solidFill>
          <a:ln>
            <a:solidFill>
              <a:srgbClr val="2D1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800600" y="1508760"/>
            <a:ext cx="64008" cy="1143000"/>
          </a:xfrm>
          <a:prstGeom prst="roundRect">
            <a:avLst/>
          </a:prstGeom>
          <a:solidFill>
            <a:srgbClr val="974BFF"/>
          </a:solidFill>
          <a:ln>
            <a:solidFill>
              <a:srgbClr val="974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0" y="1618488"/>
            <a:ext cx="2743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8F6FF"/>
                </a:solidFill>
                <a:latin typeface="Aptos"/>
              </a:rPr>
              <a:t>PHP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1984248"/>
            <a:ext cx="2743200" cy="576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B7AED2"/>
                </a:solidFill>
                <a:latin typeface="Aptos"/>
              </a:rPr>
              <a:t>Server-side components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58200" y="1508760"/>
            <a:ext cx="3154680" cy="1143000"/>
          </a:xfrm>
          <a:prstGeom prst="roundRect">
            <a:avLst/>
          </a:prstGeom>
          <a:solidFill>
            <a:srgbClr val="0F0A23"/>
          </a:solidFill>
          <a:ln>
            <a:solidFill>
              <a:srgbClr val="2D1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458200" y="1508760"/>
            <a:ext cx="64008" cy="1143000"/>
          </a:xfrm>
          <a:prstGeom prst="roundRect">
            <a:avLst/>
          </a:prstGeom>
          <a:solidFill>
            <a:srgbClr val="974BFF"/>
          </a:solidFill>
          <a:ln>
            <a:solidFill>
              <a:srgbClr val="974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0" y="1618488"/>
            <a:ext cx="2743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8F6FF"/>
                </a:solidFill>
                <a:latin typeface="Aptos"/>
              </a:rPr>
              <a:t>HTML &amp; CSS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1984248"/>
            <a:ext cx="2743200" cy="576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B7AED2"/>
                </a:solidFill>
                <a:latin typeface="Aptos"/>
              </a:rPr>
              <a:t>Web interface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2926080"/>
            <a:ext cx="3154680" cy="1143000"/>
          </a:xfrm>
          <a:prstGeom prst="roundRect">
            <a:avLst/>
          </a:prstGeom>
          <a:solidFill>
            <a:srgbClr val="0F0A23"/>
          </a:solidFill>
          <a:ln>
            <a:solidFill>
              <a:srgbClr val="2D1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143000" y="2926080"/>
            <a:ext cx="64008" cy="1143000"/>
          </a:xfrm>
          <a:prstGeom prst="roundRect">
            <a:avLst/>
          </a:prstGeom>
          <a:solidFill>
            <a:srgbClr val="4BCDFF"/>
          </a:solidFill>
          <a:ln>
            <a:solidFill>
              <a:srgbClr val="4BC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71600" y="3035808"/>
            <a:ext cx="2743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8F6FF"/>
                </a:solidFill>
                <a:latin typeface="Aptos"/>
              </a:rPr>
              <a:t>JavaScript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3401568"/>
            <a:ext cx="2743200" cy="576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B7AED2"/>
                </a:solidFill>
                <a:latin typeface="Aptos"/>
              </a:rPr>
              <a:t>Browser interaction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800600" y="2926080"/>
            <a:ext cx="3154680" cy="1143000"/>
          </a:xfrm>
          <a:prstGeom prst="roundRect">
            <a:avLst/>
          </a:prstGeom>
          <a:solidFill>
            <a:srgbClr val="0F0A23"/>
          </a:solidFill>
          <a:ln>
            <a:solidFill>
              <a:srgbClr val="2D1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800600" y="2926080"/>
            <a:ext cx="64008" cy="1143000"/>
          </a:xfrm>
          <a:prstGeom prst="roundRect">
            <a:avLst/>
          </a:prstGeom>
          <a:solidFill>
            <a:srgbClr val="974BFF"/>
          </a:solidFill>
          <a:ln>
            <a:solidFill>
              <a:srgbClr val="974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0" y="3035808"/>
            <a:ext cx="2743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8F6FF"/>
                </a:solidFill>
                <a:latin typeface="Aptos"/>
              </a:rPr>
              <a:t>cURL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0" y="3401568"/>
            <a:ext cx="2743200" cy="576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B7AED2"/>
                </a:solidFill>
                <a:latin typeface="Aptos"/>
              </a:rPr>
              <a:t>Network requests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458200" y="2926080"/>
            <a:ext cx="3154680" cy="1143000"/>
          </a:xfrm>
          <a:prstGeom prst="roundRect">
            <a:avLst/>
          </a:prstGeom>
          <a:solidFill>
            <a:srgbClr val="0F0A23"/>
          </a:solidFill>
          <a:ln>
            <a:solidFill>
              <a:srgbClr val="2D1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458200" y="2926080"/>
            <a:ext cx="64008" cy="1143000"/>
          </a:xfrm>
          <a:prstGeom prst="roundRect">
            <a:avLst/>
          </a:prstGeom>
          <a:solidFill>
            <a:srgbClr val="974BFF"/>
          </a:solidFill>
          <a:ln>
            <a:solidFill>
              <a:srgbClr val="974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86800" y="3035808"/>
            <a:ext cx="2743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8F6FF"/>
                </a:solidFill>
                <a:latin typeface="Aptos"/>
              </a:rPr>
              <a:t>Wget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3401568"/>
            <a:ext cx="2743200" cy="576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B7AED2"/>
                </a:solidFill>
                <a:latin typeface="Aptos"/>
              </a:rPr>
              <a:t>Downloads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43000" y="4343400"/>
            <a:ext cx="3154680" cy="1143000"/>
          </a:xfrm>
          <a:prstGeom prst="roundRect">
            <a:avLst/>
          </a:prstGeom>
          <a:solidFill>
            <a:srgbClr val="0F0A23"/>
          </a:solidFill>
          <a:ln>
            <a:solidFill>
              <a:srgbClr val="2D1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143000" y="4343400"/>
            <a:ext cx="64008" cy="1143000"/>
          </a:xfrm>
          <a:prstGeom prst="roundRect">
            <a:avLst/>
          </a:prstGeom>
          <a:solidFill>
            <a:srgbClr val="974BFF"/>
          </a:solidFill>
          <a:ln>
            <a:solidFill>
              <a:srgbClr val="974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371600" y="4453128"/>
            <a:ext cx="2743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8F6FF"/>
                </a:solidFill>
                <a:latin typeface="Aptos"/>
              </a:rPr>
              <a:t>Unzip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71600" y="4818888"/>
            <a:ext cx="2743200" cy="576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B7AED2"/>
                </a:solidFill>
                <a:latin typeface="Aptos"/>
              </a:rPr>
              <a:t>File handling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800600" y="4343400"/>
            <a:ext cx="3154680" cy="1143000"/>
          </a:xfrm>
          <a:prstGeom prst="roundRect">
            <a:avLst/>
          </a:prstGeom>
          <a:solidFill>
            <a:srgbClr val="0F0A23"/>
          </a:solidFill>
          <a:ln>
            <a:solidFill>
              <a:srgbClr val="2D1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4800600" y="4343400"/>
            <a:ext cx="64008" cy="1143000"/>
          </a:xfrm>
          <a:prstGeom prst="roundRect">
            <a:avLst/>
          </a:prstGeom>
          <a:solidFill>
            <a:srgbClr val="974BFF"/>
          </a:solidFill>
          <a:ln>
            <a:solidFill>
              <a:srgbClr val="974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0" y="4453128"/>
            <a:ext cx="2743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8F6FF"/>
                </a:solidFill>
                <a:latin typeface="Aptos"/>
              </a:rPr>
              <a:t>Cloudflare / LocalXpose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0" y="4818888"/>
            <a:ext cx="2743200" cy="576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B7AED2"/>
                </a:solidFill>
                <a:latin typeface="Aptos"/>
              </a:rPr>
              <a:t>Tunneling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458200" y="4343400"/>
            <a:ext cx="3154680" cy="1143000"/>
          </a:xfrm>
          <a:prstGeom prst="roundRect">
            <a:avLst/>
          </a:prstGeom>
          <a:solidFill>
            <a:srgbClr val="0F0A23"/>
          </a:solidFill>
          <a:ln>
            <a:solidFill>
              <a:srgbClr val="2D1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8458200" y="4343400"/>
            <a:ext cx="64008" cy="1143000"/>
          </a:xfrm>
          <a:prstGeom prst="roundRect">
            <a:avLst/>
          </a:prstGeom>
          <a:solidFill>
            <a:srgbClr val="974BFF"/>
          </a:solidFill>
          <a:ln>
            <a:solidFill>
              <a:srgbClr val="974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686800" y="4453128"/>
            <a:ext cx="2743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8F6FF"/>
                </a:solidFill>
                <a:latin typeface="Aptos"/>
              </a:rPr>
              <a:t>Docker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86800" y="4818888"/>
            <a:ext cx="2743200" cy="576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B7AED2"/>
                </a:solidFill>
                <a:latin typeface="Aptos"/>
              </a:rPr>
              <a:t>Containers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3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0" y="256032"/>
            <a:ext cx="41148" cy="41148"/>
          </a:xfrm>
          <a:prstGeom prst="ellipse">
            <a:avLst/>
          </a:prstGeom>
          <a:solidFill>
            <a:srgbClr val="974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351008" y="420624"/>
            <a:ext cx="41148" cy="41148"/>
          </a:xfrm>
          <a:prstGeom prst="ellipse">
            <a:avLst/>
          </a:prstGeom>
          <a:solidFill>
            <a:srgbClr val="974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43616" y="256032"/>
            <a:ext cx="41148" cy="41148"/>
          </a:xfrm>
          <a:prstGeom prst="ellipse">
            <a:avLst/>
          </a:prstGeom>
          <a:solidFill>
            <a:srgbClr val="974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36224" y="420624"/>
            <a:ext cx="41148" cy="41148"/>
          </a:xfrm>
          <a:prstGeom prst="ellipse">
            <a:avLst/>
          </a:prstGeom>
          <a:solidFill>
            <a:srgbClr val="974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228832" y="256032"/>
            <a:ext cx="41148" cy="41148"/>
          </a:xfrm>
          <a:prstGeom prst="ellipse">
            <a:avLst/>
          </a:prstGeom>
          <a:solidFill>
            <a:srgbClr val="974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1480" y="320040"/>
            <a:ext cx="566928" cy="566928"/>
          </a:xfrm>
          <a:prstGeom prst="roundRect">
            <a:avLst/>
          </a:prstGeom>
          <a:solidFill>
            <a:srgbClr val="974BFF"/>
          </a:solidFill>
          <a:ln>
            <a:solidFill>
              <a:srgbClr val="974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320040"/>
            <a:ext cx="566928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8F6FF"/>
                </a:solidFill>
                <a:latin typeface="Aptos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20040"/>
            <a:ext cx="4572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DCCBFF"/>
                </a:solidFill>
                <a:latin typeface="Aptos"/>
              </a:rPr>
              <a:t>CAPABILITIES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612648"/>
            <a:ext cx="98755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8F6FF"/>
                </a:solidFill>
                <a:latin typeface="Bahnschrift SemiBold"/>
              </a:rPr>
              <a:t>Main Features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43000" y="1261872"/>
            <a:ext cx="1828800" cy="41148"/>
          </a:xfrm>
          <a:prstGeom prst="rect">
            <a:avLst/>
          </a:prstGeom>
          <a:solidFill>
            <a:srgbClr val="974BFF"/>
          </a:solidFill>
          <a:ln>
            <a:solidFill>
              <a:srgbClr val="974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143000" y="1508760"/>
            <a:ext cx="4434840" cy="566928"/>
          </a:xfrm>
          <a:prstGeom prst="roundRect">
            <a:avLst/>
          </a:prstGeom>
          <a:solidFill>
            <a:srgbClr val="0F0A23"/>
          </a:solidFill>
          <a:ln>
            <a:solidFill>
              <a:srgbClr val="2B1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9304" y="1581912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974BFF"/>
                </a:solidFill>
                <a:latin typeface="Aptos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1563624"/>
            <a:ext cx="36576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F8F6FF"/>
                </a:solidFill>
                <a:latin typeface="Aptos"/>
              </a:rPr>
              <a:t>Multiple webpage templates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43000" y="2267712"/>
            <a:ext cx="4434840" cy="566928"/>
          </a:xfrm>
          <a:prstGeom prst="roundRect">
            <a:avLst/>
          </a:prstGeom>
          <a:solidFill>
            <a:srgbClr val="0F0A23"/>
          </a:solidFill>
          <a:ln>
            <a:solidFill>
              <a:srgbClr val="2B1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9304" y="2340864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974BFF"/>
                </a:solidFill>
                <a:latin typeface="Aptos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2322576"/>
            <a:ext cx="36576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F8F6FF"/>
                </a:solidFill>
                <a:latin typeface="Aptos"/>
              </a:rPr>
              <a:t>Camera-permission demonstration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3026663"/>
            <a:ext cx="4434840" cy="566928"/>
          </a:xfrm>
          <a:prstGeom prst="roundRect">
            <a:avLst/>
          </a:prstGeom>
          <a:solidFill>
            <a:srgbClr val="0F0A23"/>
          </a:solidFill>
          <a:ln>
            <a:solidFill>
              <a:srgbClr val="2B1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89304" y="3099815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974BFF"/>
                </a:solidFill>
                <a:latin typeface="Aptos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3081527"/>
            <a:ext cx="36576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F8F6FF"/>
                </a:solidFill>
                <a:latin typeface="Aptos"/>
              </a:rPr>
              <a:t>IP information collection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3785615"/>
            <a:ext cx="4434840" cy="566928"/>
          </a:xfrm>
          <a:prstGeom prst="roundRect">
            <a:avLst/>
          </a:prstGeom>
          <a:solidFill>
            <a:srgbClr val="0F0A23"/>
          </a:solidFill>
          <a:ln>
            <a:solidFill>
              <a:srgbClr val="2B1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89304" y="385876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974BFF"/>
                </a:solidFill>
                <a:latin typeface="Aptos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3840479"/>
            <a:ext cx="36576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F8F6FF"/>
                </a:solidFill>
                <a:latin typeface="Aptos"/>
              </a:rPr>
              <a:t>Device and browser information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4544568"/>
            <a:ext cx="4434840" cy="566928"/>
          </a:xfrm>
          <a:prstGeom prst="roundRect">
            <a:avLst/>
          </a:prstGeom>
          <a:solidFill>
            <a:srgbClr val="0F0A23"/>
          </a:solidFill>
          <a:ln>
            <a:solidFill>
              <a:srgbClr val="2B1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89304" y="4617720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974BFF"/>
                </a:solidFill>
                <a:latin typeface="Aptos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45920" y="4599431"/>
            <a:ext cx="36576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F8F6FF"/>
                </a:solidFill>
                <a:latin typeface="Aptos"/>
              </a:rPr>
              <a:t>Configurable server port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26480" y="1508760"/>
            <a:ext cx="4434840" cy="566928"/>
          </a:xfrm>
          <a:prstGeom prst="roundRect">
            <a:avLst/>
          </a:prstGeom>
          <a:solidFill>
            <a:srgbClr val="0F0A23"/>
          </a:solidFill>
          <a:ln>
            <a:solidFill>
              <a:srgbClr val="2B1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72784" y="1581912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974BFF"/>
                </a:solidFill>
                <a:latin typeface="Aptos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1563624"/>
            <a:ext cx="36576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F8F6FF"/>
                </a:solidFill>
                <a:latin typeface="Aptos"/>
              </a:rPr>
              <a:t>Configurable image-storage directory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26480" y="2267712"/>
            <a:ext cx="4434840" cy="566928"/>
          </a:xfrm>
          <a:prstGeom prst="roundRect">
            <a:avLst/>
          </a:prstGeom>
          <a:solidFill>
            <a:srgbClr val="0F0A23"/>
          </a:solidFill>
          <a:ln>
            <a:solidFill>
              <a:srgbClr val="2B1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72784" y="2340864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974BFF"/>
                </a:solidFill>
                <a:latin typeface="Aptos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2322576"/>
            <a:ext cx="36576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F8F6FF"/>
                </a:solidFill>
                <a:latin typeface="Aptos"/>
              </a:rPr>
              <a:t>Tunneling support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26480" y="3026663"/>
            <a:ext cx="4434840" cy="566928"/>
          </a:xfrm>
          <a:prstGeom prst="roundRect">
            <a:avLst/>
          </a:prstGeom>
          <a:solidFill>
            <a:srgbClr val="0F0A23"/>
          </a:solidFill>
          <a:ln>
            <a:solidFill>
              <a:srgbClr val="2B1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72784" y="3099815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974BFF"/>
                </a:solidFill>
                <a:latin typeface="Aptos"/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3081527"/>
            <a:ext cx="36576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F8F6FF"/>
                </a:solidFill>
                <a:latin typeface="Aptos"/>
              </a:rPr>
              <a:t>Error-diagnosis functionality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26480" y="3785615"/>
            <a:ext cx="4434840" cy="566928"/>
          </a:xfrm>
          <a:prstGeom prst="roundRect">
            <a:avLst/>
          </a:prstGeom>
          <a:solidFill>
            <a:srgbClr val="0F0A23"/>
          </a:solidFill>
          <a:ln>
            <a:solidFill>
              <a:srgbClr val="2B1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72784" y="385876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974BFF"/>
                </a:solidFill>
                <a:latin typeface="Aptos"/>
              </a:rP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3840479"/>
            <a:ext cx="36576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F8F6FF"/>
                </a:solidFill>
                <a:latin typeface="Aptos"/>
              </a:rPr>
              <a:t>Command-line options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26480" y="4544568"/>
            <a:ext cx="4434840" cy="566928"/>
          </a:xfrm>
          <a:prstGeom prst="roundRect">
            <a:avLst/>
          </a:prstGeom>
          <a:solidFill>
            <a:srgbClr val="0F0A23"/>
          </a:solidFill>
          <a:ln>
            <a:solidFill>
              <a:srgbClr val="2B1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72784" y="4617720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974BFF"/>
                </a:solidFill>
                <a:latin typeface="Aptos"/>
              </a:rP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29400" y="4599431"/>
            <a:ext cx="36576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F8F6FF"/>
                </a:solidFill>
                <a:latin typeface="Aptos"/>
              </a:rPr>
              <a:t>Automatic dependency checking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3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0" y="256032"/>
            <a:ext cx="41148" cy="41148"/>
          </a:xfrm>
          <a:prstGeom prst="ellipse">
            <a:avLst/>
          </a:prstGeom>
          <a:solidFill>
            <a:srgbClr val="974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351008" y="420624"/>
            <a:ext cx="41148" cy="41148"/>
          </a:xfrm>
          <a:prstGeom prst="ellipse">
            <a:avLst/>
          </a:prstGeom>
          <a:solidFill>
            <a:srgbClr val="974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43616" y="256032"/>
            <a:ext cx="41148" cy="41148"/>
          </a:xfrm>
          <a:prstGeom prst="ellipse">
            <a:avLst/>
          </a:prstGeom>
          <a:solidFill>
            <a:srgbClr val="974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36224" y="420624"/>
            <a:ext cx="41148" cy="41148"/>
          </a:xfrm>
          <a:prstGeom prst="ellipse">
            <a:avLst/>
          </a:prstGeom>
          <a:solidFill>
            <a:srgbClr val="974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228832" y="256032"/>
            <a:ext cx="41148" cy="41148"/>
          </a:xfrm>
          <a:prstGeom prst="ellipse">
            <a:avLst/>
          </a:prstGeom>
          <a:solidFill>
            <a:srgbClr val="974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1480" y="320040"/>
            <a:ext cx="566928" cy="566928"/>
          </a:xfrm>
          <a:prstGeom prst="roundRect">
            <a:avLst/>
          </a:prstGeom>
          <a:solidFill>
            <a:srgbClr val="974BFF"/>
          </a:solidFill>
          <a:ln>
            <a:solidFill>
              <a:srgbClr val="974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320040"/>
            <a:ext cx="566928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8F6FF"/>
                </a:solidFill>
                <a:latin typeface="Aptos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20040"/>
            <a:ext cx="4572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DCCBFF"/>
                </a:solidFill>
                <a:latin typeface="Aptos"/>
              </a:rPr>
              <a:t>WORKFLOW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612648"/>
            <a:ext cx="98755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8F6FF"/>
                </a:solidFill>
                <a:latin typeface="Bahnschrift SemiBold"/>
              </a:rPr>
              <a:t>How the Tool Works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43000" y="1261872"/>
            <a:ext cx="1828800" cy="41148"/>
          </a:xfrm>
          <a:prstGeom prst="rect">
            <a:avLst/>
          </a:prstGeom>
          <a:solidFill>
            <a:srgbClr val="974BFF"/>
          </a:solidFill>
          <a:ln>
            <a:solidFill>
              <a:srgbClr val="974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68680" y="1645920"/>
            <a:ext cx="3246120" cy="1508760"/>
          </a:xfrm>
          <a:prstGeom prst="roundRect">
            <a:avLst/>
          </a:prstGeom>
          <a:solidFill>
            <a:srgbClr val="0F0A23"/>
          </a:solidFill>
          <a:ln>
            <a:solidFill>
              <a:srgbClr val="301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33271" y="1810512"/>
            <a:ext cx="502920" cy="502920"/>
          </a:xfrm>
          <a:prstGeom prst="roundRect">
            <a:avLst/>
          </a:prstGeom>
          <a:solidFill>
            <a:srgbClr val="974BFF"/>
          </a:solidFill>
          <a:ln>
            <a:solidFill>
              <a:srgbClr val="974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1" y="1810512"/>
            <a:ext cx="502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8F6FF"/>
                </a:solidFill>
                <a:latin typeface="Aptos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1792224"/>
            <a:ext cx="21488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8F6FF"/>
                </a:solidFill>
                <a:latin typeface="Aptos"/>
              </a:rPr>
              <a:t>Run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2212848"/>
            <a:ext cx="21031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B7AED2"/>
                </a:solidFill>
                <a:latin typeface="Aptos"/>
              </a:rPr>
              <a:t>Launch the script.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63440" y="1645920"/>
            <a:ext cx="3246120" cy="1508760"/>
          </a:xfrm>
          <a:prstGeom prst="roundRect">
            <a:avLst/>
          </a:prstGeom>
          <a:solidFill>
            <a:srgbClr val="0F0A23"/>
          </a:solidFill>
          <a:ln>
            <a:solidFill>
              <a:srgbClr val="301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828032" y="1810512"/>
            <a:ext cx="502920" cy="502920"/>
          </a:xfrm>
          <a:prstGeom prst="roundRect">
            <a:avLst/>
          </a:prstGeom>
          <a:solidFill>
            <a:srgbClr val="974BFF"/>
          </a:solidFill>
          <a:ln>
            <a:solidFill>
              <a:srgbClr val="974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28032" y="1810512"/>
            <a:ext cx="502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8F6FF"/>
                </a:solidFill>
                <a:latin typeface="Aptos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1792224"/>
            <a:ext cx="21488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8F6FF"/>
                </a:solidFill>
                <a:latin typeface="Aptos"/>
              </a:rPr>
              <a:t>Select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2212848"/>
            <a:ext cx="21031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B7AED2"/>
                </a:solidFill>
                <a:latin typeface="Aptos"/>
              </a:rPr>
              <a:t>Choose a web template.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58200" y="1645920"/>
            <a:ext cx="3246120" cy="1508760"/>
          </a:xfrm>
          <a:prstGeom prst="roundRect">
            <a:avLst/>
          </a:prstGeom>
          <a:solidFill>
            <a:srgbClr val="0F0A23"/>
          </a:solidFill>
          <a:ln>
            <a:solidFill>
              <a:srgbClr val="301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622792" y="1810512"/>
            <a:ext cx="502920" cy="502920"/>
          </a:xfrm>
          <a:prstGeom prst="roundRect">
            <a:avLst/>
          </a:prstGeom>
          <a:solidFill>
            <a:srgbClr val="974BFF"/>
          </a:solidFill>
          <a:ln>
            <a:solidFill>
              <a:srgbClr val="974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22792" y="1810512"/>
            <a:ext cx="502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8F6FF"/>
                </a:solidFill>
                <a:latin typeface="Aptos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81160" y="1792224"/>
            <a:ext cx="21488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8F6FF"/>
                </a:solidFill>
                <a:latin typeface="Aptos"/>
              </a:rPr>
              <a:t>Serve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81160" y="2212848"/>
            <a:ext cx="21031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B7AED2"/>
                </a:solidFill>
                <a:latin typeface="Aptos"/>
              </a:rPr>
              <a:t>Start the local PHP server.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8680" y="3794760"/>
            <a:ext cx="3246120" cy="1508760"/>
          </a:xfrm>
          <a:prstGeom prst="roundRect">
            <a:avLst/>
          </a:prstGeom>
          <a:solidFill>
            <a:srgbClr val="0F0A23"/>
          </a:solidFill>
          <a:ln>
            <a:solidFill>
              <a:srgbClr val="301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033271" y="3959352"/>
            <a:ext cx="502920" cy="502920"/>
          </a:xfrm>
          <a:prstGeom prst="roundRect">
            <a:avLst/>
          </a:prstGeom>
          <a:solidFill>
            <a:srgbClr val="974BFF"/>
          </a:solidFill>
          <a:ln>
            <a:solidFill>
              <a:srgbClr val="974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33271" y="3959352"/>
            <a:ext cx="502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8F6FF"/>
                </a:solidFill>
                <a:latin typeface="Aptos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91640" y="3941064"/>
            <a:ext cx="21488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8F6FF"/>
                </a:solidFill>
                <a:latin typeface="Aptos"/>
              </a:rPr>
              <a:t>Access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91640" y="4361688"/>
            <a:ext cx="21031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B7AED2"/>
                </a:solidFill>
                <a:latin typeface="Aptos"/>
              </a:rPr>
              <a:t>Open the page in a browser.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663440" y="3794760"/>
            <a:ext cx="3246120" cy="1508760"/>
          </a:xfrm>
          <a:prstGeom prst="roundRect">
            <a:avLst/>
          </a:prstGeom>
          <a:solidFill>
            <a:srgbClr val="0F0A23"/>
          </a:solidFill>
          <a:ln>
            <a:solidFill>
              <a:srgbClr val="301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828032" y="3959352"/>
            <a:ext cx="502920" cy="502920"/>
          </a:xfrm>
          <a:prstGeom prst="roundRect">
            <a:avLst/>
          </a:prstGeom>
          <a:solidFill>
            <a:srgbClr val="974BFF"/>
          </a:solidFill>
          <a:ln>
            <a:solidFill>
              <a:srgbClr val="974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28032" y="3959352"/>
            <a:ext cx="502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8F6FF"/>
                </a:solidFill>
                <a:latin typeface="Aptos"/>
              </a:rPr>
              <a:t>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0" y="3941064"/>
            <a:ext cx="21488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8F6FF"/>
                </a:solidFill>
                <a:latin typeface="Aptos"/>
              </a:rPr>
              <a:t>Permission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0" y="4361688"/>
            <a:ext cx="21031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B7AED2"/>
                </a:solidFill>
                <a:latin typeface="Aptos"/>
              </a:rPr>
              <a:t>Review the camera request.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458200" y="3794760"/>
            <a:ext cx="3246120" cy="1508760"/>
          </a:xfrm>
          <a:prstGeom prst="roundRect">
            <a:avLst/>
          </a:prstGeom>
          <a:solidFill>
            <a:srgbClr val="0F0A23"/>
          </a:solidFill>
          <a:ln>
            <a:solidFill>
              <a:srgbClr val="301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622792" y="3959352"/>
            <a:ext cx="502920" cy="502920"/>
          </a:xfrm>
          <a:prstGeom prst="roundRect">
            <a:avLst/>
          </a:prstGeom>
          <a:solidFill>
            <a:srgbClr val="974BFF"/>
          </a:solidFill>
          <a:ln>
            <a:solidFill>
              <a:srgbClr val="974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22792" y="3959352"/>
            <a:ext cx="502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8F6FF"/>
                </a:solidFill>
                <a:latin typeface="Aptos"/>
              </a:rPr>
              <a:t>06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81160" y="3941064"/>
            <a:ext cx="21488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8F6FF"/>
                </a:solidFill>
                <a:latin typeface="Aptos"/>
              </a:rPr>
              <a:t>Awareness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81160" y="4361688"/>
            <a:ext cx="21031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B7AED2"/>
                </a:solidFill>
                <a:latin typeface="Aptos"/>
              </a:rPr>
              <a:t>Discuss privacy and safe browsing.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3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0" y="256032"/>
            <a:ext cx="41148" cy="41148"/>
          </a:xfrm>
          <a:prstGeom prst="ellipse">
            <a:avLst/>
          </a:prstGeom>
          <a:solidFill>
            <a:srgbClr val="974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351008" y="420624"/>
            <a:ext cx="41148" cy="41148"/>
          </a:xfrm>
          <a:prstGeom prst="ellipse">
            <a:avLst/>
          </a:prstGeom>
          <a:solidFill>
            <a:srgbClr val="974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43616" y="256032"/>
            <a:ext cx="41148" cy="41148"/>
          </a:xfrm>
          <a:prstGeom prst="ellipse">
            <a:avLst/>
          </a:prstGeom>
          <a:solidFill>
            <a:srgbClr val="974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36224" y="420624"/>
            <a:ext cx="41148" cy="41148"/>
          </a:xfrm>
          <a:prstGeom prst="ellipse">
            <a:avLst/>
          </a:prstGeom>
          <a:solidFill>
            <a:srgbClr val="974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228832" y="256032"/>
            <a:ext cx="41148" cy="41148"/>
          </a:xfrm>
          <a:prstGeom prst="ellipse">
            <a:avLst/>
          </a:prstGeom>
          <a:solidFill>
            <a:srgbClr val="974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1480" y="320040"/>
            <a:ext cx="566928" cy="566928"/>
          </a:xfrm>
          <a:prstGeom prst="roundRect">
            <a:avLst/>
          </a:prstGeom>
          <a:solidFill>
            <a:srgbClr val="974BFF"/>
          </a:solidFill>
          <a:ln>
            <a:solidFill>
              <a:srgbClr val="974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320040"/>
            <a:ext cx="566928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8F6FF"/>
                </a:solidFill>
                <a:latin typeface="Aptos"/>
              </a:rPr>
              <a:t>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20040"/>
            <a:ext cx="4572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DCCBFF"/>
                </a:solidFill>
                <a:latin typeface="Aptos"/>
              </a:rPr>
              <a:t>AWARENESS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612648"/>
            <a:ext cx="98755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8F6FF"/>
                </a:solidFill>
                <a:latin typeface="Bahnschrift SemiBold"/>
              </a:rPr>
              <a:t>Camera Phishing Risks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43000" y="1261872"/>
            <a:ext cx="1828800" cy="41148"/>
          </a:xfrm>
          <a:prstGeom prst="rect">
            <a:avLst/>
          </a:prstGeom>
          <a:solidFill>
            <a:srgbClr val="974BFF"/>
          </a:solidFill>
          <a:ln>
            <a:solidFill>
              <a:srgbClr val="974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awareness_asset_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1417320"/>
            <a:ext cx="3657600" cy="452628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1143000" y="1508760"/>
            <a:ext cx="6172200" cy="804672"/>
          </a:xfrm>
          <a:prstGeom prst="roundRect">
            <a:avLst/>
          </a:prstGeom>
          <a:solidFill>
            <a:srgbClr val="0F0A23"/>
          </a:solidFill>
          <a:ln>
            <a:solidFill>
              <a:srgbClr val="301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25880" y="1655063"/>
            <a:ext cx="411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974BFF"/>
                </a:solidFill>
                <a:latin typeface="Aptos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1581912"/>
            <a:ext cx="2651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8F6FF"/>
                </a:solidFill>
                <a:latin typeface="Aptos"/>
              </a:rPr>
              <a:t>Familiar-looking pages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1874519"/>
            <a:ext cx="44805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70" b="0">
                <a:solidFill>
                  <a:srgbClr val="B7AED2"/>
                </a:solidFill>
                <a:latin typeface="Aptos"/>
              </a:rPr>
              <a:t>Attackers may imitate trusted websites.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43000" y="2532888"/>
            <a:ext cx="6172200" cy="804672"/>
          </a:xfrm>
          <a:prstGeom prst="roundRect">
            <a:avLst/>
          </a:prstGeom>
          <a:solidFill>
            <a:srgbClr val="0F0A23"/>
          </a:solidFill>
          <a:ln>
            <a:solidFill>
              <a:srgbClr val="301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25880" y="2679192"/>
            <a:ext cx="411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974BFF"/>
                </a:solidFill>
                <a:latin typeface="Aptos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19" y="2606040"/>
            <a:ext cx="2651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8F6FF"/>
                </a:solidFill>
                <a:latin typeface="Aptos"/>
              </a:rPr>
              <a:t>Urgent requests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74519" y="2898648"/>
            <a:ext cx="44805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70" b="0">
                <a:solidFill>
                  <a:srgbClr val="B7AED2"/>
                </a:solidFill>
                <a:latin typeface="Aptos"/>
              </a:rPr>
              <a:t>Suspicious links can pressure quick decisions.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3557016"/>
            <a:ext cx="6172200" cy="804672"/>
          </a:xfrm>
          <a:prstGeom prst="roundRect">
            <a:avLst/>
          </a:prstGeom>
          <a:solidFill>
            <a:srgbClr val="0F0A23"/>
          </a:solidFill>
          <a:ln>
            <a:solidFill>
              <a:srgbClr val="301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25880" y="3703320"/>
            <a:ext cx="411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974BFF"/>
                </a:solidFill>
                <a:latin typeface="Aptos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74519" y="3630168"/>
            <a:ext cx="2651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8F6FF"/>
                </a:solidFill>
                <a:latin typeface="Aptos"/>
              </a:rPr>
              <a:t>Permission prompts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74519" y="3922776"/>
            <a:ext cx="44805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70" b="0">
                <a:solidFill>
                  <a:srgbClr val="B7AED2"/>
                </a:solidFill>
                <a:latin typeface="Aptos"/>
              </a:rPr>
              <a:t>A permission request does not prove trust.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43000" y="4581144"/>
            <a:ext cx="6172200" cy="804672"/>
          </a:xfrm>
          <a:prstGeom prst="roundRect">
            <a:avLst/>
          </a:prstGeom>
          <a:solidFill>
            <a:srgbClr val="0F0A23"/>
          </a:solidFill>
          <a:ln>
            <a:solidFill>
              <a:srgbClr val="301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25880" y="4727448"/>
            <a:ext cx="411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974BFF"/>
                </a:solidFill>
                <a:latin typeface="Aptos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74519" y="4654296"/>
            <a:ext cx="2651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8F6FF"/>
                </a:solidFill>
                <a:latin typeface="Aptos"/>
              </a:rPr>
              <a:t>Privacy impact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74519" y="4946904"/>
            <a:ext cx="44805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70" b="0">
                <a:solidFill>
                  <a:srgbClr val="B7AED2"/>
                </a:solidFill>
                <a:latin typeface="Aptos"/>
              </a:rPr>
              <a:t>Unnecessary camera access can expose sensitive information.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3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0" y="256032"/>
            <a:ext cx="41148" cy="41148"/>
          </a:xfrm>
          <a:prstGeom prst="ellipse">
            <a:avLst/>
          </a:prstGeom>
          <a:solidFill>
            <a:srgbClr val="974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351008" y="420624"/>
            <a:ext cx="41148" cy="41148"/>
          </a:xfrm>
          <a:prstGeom prst="ellipse">
            <a:avLst/>
          </a:prstGeom>
          <a:solidFill>
            <a:srgbClr val="974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43616" y="256032"/>
            <a:ext cx="41148" cy="41148"/>
          </a:xfrm>
          <a:prstGeom prst="ellipse">
            <a:avLst/>
          </a:prstGeom>
          <a:solidFill>
            <a:srgbClr val="974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36224" y="420624"/>
            <a:ext cx="41148" cy="41148"/>
          </a:xfrm>
          <a:prstGeom prst="ellipse">
            <a:avLst/>
          </a:prstGeom>
          <a:solidFill>
            <a:srgbClr val="974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228832" y="256032"/>
            <a:ext cx="41148" cy="41148"/>
          </a:xfrm>
          <a:prstGeom prst="ellipse">
            <a:avLst/>
          </a:prstGeom>
          <a:solidFill>
            <a:srgbClr val="974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1480" y="320040"/>
            <a:ext cx="566928" cy="566928"/>
          </a:xfrm>
          <a:prstGeom prst="roundRect">
            <a:avLst/>
          </a:prstGeom>
          <a:solidFill>
            <a:srgbClr val="974BFF"/>
          </a:solidFill>
          <a:ln>
            <a:solidFill>
              <a:srgbClr val="974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320040"/>
            <a:ext cx="566928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8F6FF"/>
                </a:solidFill>
                <a:latin typeface="Aptos"/>
              </a:rPr>
              <a:t>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20040"/>
            <a:ext cx="4572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DCCBFF"/>
                </a:solidFill>
                <a:latin typeface="Aptos"/>
              </a:rPr>
              <a:t>DEFENSE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612648"/>
            <a:ext cx="98755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8F6FF"/>
                </a:solidFill>
                <a:latin typeface="Bahnschrift SemiBold"/>
              </a:rPr>
              <a:t>Prevention &amp; Safe Browsing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43000" y="1261872"/>
            <a:ext cx="1828800" cy="41148"/>
          </a:xfrm>
          <a:prstGeom prst="rect">
            <a:avLst/>
          </a:prstGeom>
          <a:solidFill>
            <a:srgbClr val="974BFF"/>
          </a:solidFill>
          <a:ln>
            <a:solidFill>
              <a:srgbClr val="974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shield_asset_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1417320"/>
            <a:ext cx="3154680" cy="448056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1051560" y="1481328"/>
            <a:ext cx="2880360" cy="1051560"/>
          </a:xfrm>
          <a:prstGeom prst="roundRect">
            <a:avLst/>
          </a:prstGeom>
          <a:solidFill>
            <a:srgbClr val="0F0A23"/>
          </a:solidFill>
          <a:ln>
            <a:solidFill>
              <a:srgbClr val="301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16151" y="1627632"/>
            <a:ext cx="29260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5DE18B"/>
                </a:solidFill>
                <a:latin typeface="Aptos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81912" y="1572768"/>
            <a:ext cx="21031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80" b="1">
                <a:solidFill>
                  <a:srgbClr val="F8F6FF"/>
                </a:solidFill>
                <a:latin typeface="Aptos"/>
              </a:rPr>
              <a:t>Verify links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81912" y="1920240"/>
            <a:ext cx="212140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B7AED2"/>
                </a:solidFill>
                <a:latin typeface="Aptos"/>
              </a:rPr>
              <a:t>Check the destination before opening suspicious messages.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79" y="1481328"/>
            <a:ext cx="2880360" cy="1051560"/>
          </a:xfrm>
          <a:prstGeom prst="roundRect">
            <a:avLst/>
          </a:prstGeom>
          <a:solidFill>
            <a:srgbClr val="0F0A23"/>
          </a:solidFill>
          <a:ln>
            <a:solidFill>
              <a:srgbClr val="301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62271" y="1627632"/>
            <a:ext cx="29260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5DE18B"/>
                </a:solidFill>
                <a:latin typeface="Aptos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28031" y="1572768"/>
            <a:ext cx="21031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80" b="1">
                <a:solidFill>
                  <a:srgbClr val="F8F6FF"/>
                </a:solidFill>
                <a:latin typeface="Aptos"/>
              </a:rPr>
              <a:t>Check the domain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28031" y="1920240"/>
            <a:ext cx="212140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B7AED2"/>
                </a:solidFill>
                <a:latin typeface="Aptos"/>
              </a:rPr>
              <a:t>Look for unusual spellings or unexpected domains.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51560" y="2834640"/>
            <a:ext cx="2880360" cy="1051560"/>
          </a:xfrm>
          <a:prstGeom prst="roundRect">
            <a:avLst/>
          </a:prstGeom>
          <a:solidFill>
            <a:srgbClr val="0F0A23"/>
          </a:solidFill>
          <a:ln>
            <a:solidFill>
              <a:srgbClr val="301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16151" y="2980944"/>
            <a:ext cx="29260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5DE18B"/>
                </a:solidFill>
                <a:latin typeface="Aptos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81912" y="2926080"/>
            <a:ext cx="21031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80" b="1">
                <a:solidFill>
                  <a:srgbClr val="F8F6FF"/>
                </a:solidFill>
                <a:latin typeface="Aptos"/>
              </a:rPr>
              <a:t>Deny unnecessary permissions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81912" y="3273552"/>
            <a:ext cx="212140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B7AED2"/>
                </a:solidFill>
                <a:latin typeface="Aptos"/>
              </a:rPr>
              <a:t>Grant camera access only when genuinely needed.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97679" y="2834640"/>
            <a:ext cx="2880360" cy="1051560"/>
          </a:xfrm>
          <a:prstGeom prst="roundRect">
            <a:avLst/>
          </a:prstGeom>
          <a:solidFill>
            <a:srgbClr val="0F0A23"/>
          </a:solidFill>
          <a:ln>
            <a:solidFill>
              <a:srgbClr val="301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62271" y="2980944"/>
            <a:ext cx="29260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5DE18B"/>
                </a:solidFill>
                <a:latin typeface="Aptos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28031" y="2926080"/>
            <a:ext cx="21031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80" b="1">
                <a:solidFill>
                  <a:srgbClr val="F8F6FF"/>
                </a:solidFill>
                <a:latin typeface="Aptos"/>
              </a:rPr>
              <a:t>Review browser permissions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28031" y="3273552"/>
            <a:ext cx="212140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B7AED2"/>
                </a:solidFill>
                <a:latin typeface="Aptos"/>
              </a:rPr>
              <a:t>Remove access from sites you no longer trust.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51560" y="4187952"/>
            <a:ext cx="2880360" cy="1051560"/>
          </a:xfrm>
          <a:prstGeom prst="roundRect">
            <a:avLst/>
          </a:prstGeom>
          <a:solidFill>
            <a:srgbClr val="0F0A23"/>
          </a:solidFill>
          <a:ln>
            <a:solidFill>
              <a:srgbClr val="301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216151" y="4334256"/>
            <a:ext cx="29260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5DE18B"/>
                </a:solidFill>
                <a:latin typeface="Aptos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81912" y="4279392"/>
            <a:ext cx="21031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80" b="1">
                <a:solidFill>
                  <a:srgbClr val="F8F6FF"/>
                </a:solidFill>
                <a:latin typeface="Aptos"/>
              </a:rPr>
              <a:t>Keep software updated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81912" y="4626864"/>
            <a:ext cx="212140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B7AED2"/>
                </a:solidFill>
                <a:latin typeface="Aptos"/>
              </a:rPr>
              <a:t>Use current browsers and security updates.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97679" y="4187952"/>
            <a:ext cx="2880360" cy="1051560"/>
          </a:xfrm>
          <a:prstGeom prst="roundRect">
            <a:avLst/>
          </a:prstGeom>
          <a:solidFill>
            <a:srgbClr val="0F0A23"/>
          </a:solidFill>
          <a:ln>
            <a:solidFill>
              <a:srgbClr val="301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62271" y="4334256"/>
            <a:ext cx="29260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5DE18B"/>
                </a:solidFill>
                <a:latin typeface="Aptos"/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28031" y="4279392"/>
            <a:ext cx="21031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80" b="1">
                <a:solidFill>
                  <a:srgbClr val="F8F6FF"/>
                </a:solidFill>
                <a:latin typeface="Aptos"/>
              </a:rPr>
              <a:t>Report suspicious pages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28031" y="4626864"/>
            <a:ext cx="212140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B7AED2"/>
                </a:solidFill>
                <a:latin typeface="Aptos"/>
              </a:rPr>
              <a:t>Tell a trusted administrator or platform.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3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0" y="256032"/>
            <a:ext cx="41148" cy="41148"/>
          </a:xfrm>
          <a:prstGeom prst="ellipse">
            <a:avLst/>
          </a:prstGeom>
          <a:solidFill>
            <a:srgbClr val="974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351008" y="420624"/>
            <a:ext cx="41148" cy="41148"/>
          </a:xfrm>
          <a:prstGeom prst="ellipse">
            <a:avLst/>
          </a:prstGeom>
          <a:solidFill>
            <a:srgbClr val="974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43616" y="256032"/>
            <a:ext cx="41148" cy="41148"/>
          </a:xfrm>
          <a:prstGeom prst="ellipse">
            <a:avLst/>
          </a:prstGeom>
          <a:solidFill>
            <a:srgbClr val="974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36224" y="420624"/>
            <a:ext cx="41148" cy="41148"/>
          </a:xfrm>
          <a:prstGeom prst="ellipse">
            <a:avLst/>
          </a:prstGeom>
          <a:solidFill>
            <a:srgbClr val="974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228832" y="256032"/>
            <a:ext cx="41148" cy="41148"/>
          </a:xfrm>
          <a:prstGeom prst="ellipse">
            <a:avLst/>
          </a:prstGeom>
          <a:solidFill>
            <a:srgbClr val="974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1480" y="320040"/>
            <a:ext cx="566928" cy="566928"/>
          </a:xfrm>
          <a:prstGeom prst="roundRect">
            <a:avLst/>
          </a:prstGeom>
          <a:solidFill>
            <a:srgbClr val="974BFF"/>
          </a:solidFill>
          <a:ln>
            <a:solidFill>
              <a:srgbClr val="974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320040"/>
            <a:ext cx="566928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8F6FF"/>
                </a:solidFill>
                <a:latin typeface="Aptos"/>
              </a:rPr>
              <a:t>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20040"/>
            <a:ext cx="4572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DCCBFF"/>
                </a:solidFill>
                <a:latin typeface="Aptos"/>
              </a:rPr>
              <a:t>FINAL TAKEAWAY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612648"/>
            <a:ext cx="98755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8F6FF"/>
                </a:solidFill>
                <a:latin typeface="Bahnschrift SemiBold"/>
              </a:rPr>
              <a:t>Conclusion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43000" y="1261872"/>
            <a:ext cx="1828800" cy="41148"/>
          </a:xfrm>
          <a:prstGeom prst="rect">
            <a:avLst/>
          </a:prstGeom>
          <a:solidFill>
            <a:srgbClr val="974BFF"/>
          </a:solidFill>
          <a:ln>
            <a:solidFill>
              <a:srgbClr val="974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51560" y="1600200"/>
            <a:ext cx="10058400" cy="2971800"/>
          </a:xfrm>
          <a:prstGeom prst="roundRect">
            <a:avLst/>
          </a:prstGeom>
          <a:solidFill>
            <a:srgbClr val="0F0A23"/>
          </a:solidFill>
          <a:ln>
            <a:solidFill>
              <a:srgbClr val="352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1965960"/>
            <a:ext cx="91440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F8F6FF"/>
                </a:solidFill>
                <a:latin typeface="Bahnschrift SemiBold"/>
              </a:rPr>
              <a:t>Awareness + Permission Control = Stronger Privacy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2761488"/>
            <a:ext cx="85039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50" b="0">
                <a:solidFill>
                  <a:srgbClr val="B7AED2"/>
                </a:solidFill>
                <a:latin typeface="Aptos"/>
              </a:rPr>
              <a:t>CamHacker demonstrates how a convincing webpage can influence users to trust a camera-permission request. The strongest defense is informed decision-making: verify the source, question unexpected permissions, and keep browser controls under your control.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417320" y="4892040"/>
            <a:ext cx="2880360" cy="868680"/>
          </a:xfrm>
          <a:prstGeom prst="roundRect">
            <a:avLst/>
          </a:prstGeom>
          <a:solidFill>
            <a:srgbClr val="180E34"/>
          </a:solidFill>
          <a:ln>
            <a:solidFill>
              <a:srgbClr val="974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5001768"/>
            <a:ext cx="2514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974BFF"/>
                </a:solidFill>
                <a:latin typeface="Aptos"/>
              </a:rPr>
              <a:t>STAY AWARE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5303520"/>
            <a:ext cx="2514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0">
                <a:solidFill>
                  <a:srgbClr val="F8F6FF"/>
                </a:solidFill>
                <a:latin typeface="Aptos"/>
              </a:rPr>
              <a:t>Recognize phishing signals.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63440" y="4892040"/>
            <a:ext cx="2880360" cy="868680"/>
          </a:xfrm>
          <a:prstGeom prst="roundRect">
            <a:avLst/>
          </a:prstGeom>
          <a:solidFill>
            <a:srgbClr val="180E34"/>
          </a:solidFill>
          <a:ln>
            <a:solidFill>
              <a:srgbClr val="4BC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46320" y="5001768"/>
            <a:ext cx="2514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4BCDFF"/>
                </a:solidFill>
                <a:latin typeface="Aptos"/>
              </a:rPr>
              <a:t>STAY SAFE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5303520"/>
            <a:ext cx="2514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0">
                <a:solidFill>
                  <a:srgbClr val="F8F6FF"/>
                </a:solidFill>
                <a:latin typeface="Aptos"/>
              </a:rPr>
              <a:t>Grant only necessary permissions.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09560" y="4892040"/>
            <a:ext cx="2880360" cy="868680"/>
          </a:xfrm>
          <a:prstGeom prst="roundRect">
            <a:avLst/>
          </a:prstGeom>
          <a:solidFill>
            <a:srgbClr val="180E34"/>
          </a:solidFill>
          <a:ln>
            <a:solidFill>
              <a:srgbClr val="5DE1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92440" y="5001768"/>
            <a:ext cx="2514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5DE18B"/>
                </a:solidFill>
                <a:latin typeface="Aptos"/>
              </a:rPr>
              <a:t>PROTECT PRIVACY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40" y="5303520"/>
            <a:ext cx="2514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0">
                <a:solidFill>
                  <a:srgbClr val="F8F6FF"/>
                </a:solidFill>
                <a:latin typeface="Aptos"/>
              </a:rPr>
              <a:t>Review access regularly.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5989320"/>
            <a:ext cx="2788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DCCBFF"/>
                </a:solidFill>
                <a:latin typeface="Bahnschrift Semi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